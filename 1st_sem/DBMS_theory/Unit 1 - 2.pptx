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86" r:id="rId3"/>
    <p:sldId id="287" r:id="rId4"/>
    <p:sldId id="289" r:id="rId5"/>
    <p:sldId id="288" r:id="rId6"/>
    <p:sldId id="284" r:id="rId7"/>
    <p:sldId id="257" r:id="rId8"/>
    <p:sldId id="258" r:id="rId9"/>
    <p:sldId id="259" r:id="rId10"/>
    <p:sldId id="260" r:id="rId11"/>
    <p:sldId id="261" r:id="rId12"/>
    <p:sldId id="272" r:id="rId13"/>
    <p:sldId id="273" r:id="rId14"/>
    <p:sldId id="282" r:id="rId15"/>
    <p:sldId id="262" r:id="rId16"/>
    <p:sldId id="293" r:id="rId17"/>
    <p:sldId id="294" r:id="rId18"/>
    <p:sldId id="295" r:id="rId19"/>
    <p:sldId id="296" r:id="rId20"/>
    <p:sldId id="298" r:id="rId21"/>
    <p:sldId id="299" r:id="rId22"/>
    <p:sldId id="297" r:id="rId23"/>
    <p:sldId id="290" r:id="rId24"/>
    <p:sldId id="291" r:id="rId25"/>
    <p:sldId id="292" r:id="rId26"/>
    <p:sldId id="27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159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F89EA-67B6-493D-B7DB-EF5354AA77ED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24118-EA7C-4566-9F39-92249B6904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464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24118-EA7C-4566-9F39-92249B6904B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503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Entity –  </a:t>
            </a:r>
            <a:r>
              <a:rPr lang="en-IN" dirty="0"/>
              <a:t>any distinct, real-world object, concept, or event about which data needs to be stored.</a:t>
            </a:r>
          </a:p>
          <a:p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Eg : Student / course / employee / product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2 students have same </a:t>
            </a:r>
            <a:r>
              <a:rPr lang="en-US" dirty="0" err="1"/>
              <a:t>RollNo</a:t>
            </a:r>
            <a:r>
              <a:rPr lang="en-US" dirty="0"/>
              <a:t>. 101 . Then, who is the real 101?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Marks 150? Out of 100?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Age -5?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Name blank for 103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So, without rules, database becomes a dustbin. Anyone</a:t>
            </a:r>
            <a:r>
              <a:rPr lang="en-IN" dirty="0"/>
              <a:t> can put anything.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/>
              <a:t>Constraints = Rules for your data.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24118-EA7C-4566-9F39-92249B6904B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194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"Imagine you're filling out an online college admission form."</a:t>
            </a:r>
          </a:p>
          <a:p>
            <a:r>
              <a:rPr lang="en-IN" dirty="0"/>
              <a:t>What if you leave the </a:t>
            </a:r>
            <a:r>
              <a:rPr lang="en-IN" b="1" dirty="0"/>
              <a:t>Name</a:t>
            </a:r>
            <a:r>
              <a:rPr lang="en-IN" dirty="0"/>
              <a:t> field empty? </a:t>
            </a:r>
          </a:p>
          <a:p>
            <a:r>
              <a:rPr lang="en-IN" dirty="0"/>
              <a:t>What if you enter </a:t>
            </a:r>
            <a:r>
              <a:rPr lang="en-IN" b="1" dirty="0"/>
              <a:t>Age = -5</a:t>
            </a:r>
            <a:r>
              <a:rPr lang="en-IN" dirty="0"/>
              <a:t>? </a:t>
            </a:r>
          </a:p>
          <a:p>
            <a:r>
              <a:rPr lang="en-IN" dirty="0"/>
              <a:t>What if you type a </a:t>
            </a:r>
            <a:r>
              <a:rPr lang="en-IN" b="1" dirty="0"/>
              <a:t>Student ID that doesn't exist</a:t>
            </a:r>
            <a:r>
              <a:rPr lang="en-IN" dirty="0"/>
              <a:t>? </a:t>
            </a:r>
          </a:p>
          <a:p>
            <a:r>
              <a:rPr lang="en-IN" dirty="0"/>
              <a:t>Should the database accept this data?</a:t>
            </a:r>
          </a:p>
          <a:p>
            <a:r>
              <a:rPr lang="en-IN" b="1" dirty="0"/>
              <a:t>No.</a:t>
            </a:r>
            <a:r>
              <a:rPr lang="en-IN" dirty="0"/>
              <a:t> That's exactly why we use </a:t>
            </a:r>
            <a:r>
              <a:rPr lang="en-IN" b="1" dirty="0"/>
              <a:t>database constraints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These rules make sure that the data entered is </a:t>
            </a:r>
            <a:r>
              <a:rPr lang="en-IN" b="1" dirty="0"/>
              <a:t>correct, valid, and meaningful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"It simply means:</a:t>
            </a:r>
          </a:p>
          <a:p>
            <a:r>
              <a:rPr lang="en-IN" dirty="0"/>
              <a:t>Before data is saved, the database checks whether it follows all the rules.</a:t>
            </a:r>
          </a:p>
          <a:p>
            <a:r>
              <a:rPr lang="en-IN" dirty="0"/>
              <a:t>If it follows the rules, the data is saved.</a:t>
            </a:r>
          </a:p>
          <a:p>
            <a:r>
              <a:rPr lang="en-IN" dirty="0"/>
              <a:t>If it doesn't, the database rejects it."</a:t>
            </a:r>
          </a:p>
          <a:p>
            <a:endParaRPr lang="en-IN" dirty="0"/>
          </a:p>
          <a:p>
            <a:endParaRPr lang="en-IN" dirty="0"/>
          </a:p>
          <a:p>
            <a:pPr marL="228600" indent="-228600">
              <a:buAutoNum type="arabicPeriod"/>
            </a:pPr>
            <a:r>
              <a:rPr lang="en-IN" dirty="0"/>
              <a:t>This means the database stores only </a:t>
            </a:r>
            <a:r>
              <a:rPr lang="en-IN" b="1" dirty="0"/>
              <a:t>correct information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	-&gt; A student's marks cannot be </a:t>
            </a:r>
            <a:r>
              <a:rPr lang="en-IN" b="1" dirty="0"/>
              <a:t>150 out of 100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2. Prevent Invalid or Incorrect Data Entry Automatically</a:t>
            </a:r>
          </a:p>
          <a:p>
            <a:pPr marL="0" indent="0">
              <a:buNone/>
            </a:pPr>
            <a:r>
              <a:rPr lang="en-IN" dirty="0"/>
              <a:t>	-&gt; Suppose the </a:t>
            </a:r>
            <a:r>
              <a:rPr lang="en-IN" b="1" dirty="0"/>
              <a:t>Student Name</a:t>
            </a:r>
            <a:r>
              <a:rPr lang="en-IN" dirty="0"/>
              <a:t> is compulsory.</a:t>
            </a:r>
          </a:p>
          <a:p>
            <a:pPr marL="228600" indent="-228600">
              <a:buAutoNum type="arabicPeriod" startAt="3"/>
            </a:pPr>
            <a:r>
              <a:rPr lang="en-IN" dirty="0"/>
              <a:t>Maintain Data Integrity and Consistency</a:t>
            </a:r>
          </a:p>
          <a:p>
            <a:pPr marL="457200" lvl="1" indent="0">
              <a:buNone/>
            </a:pPr>
            <a:r>
              <a:rPr lang="en-IN" dirty="0"/>
              <a:t>	-&gt; Integrity means </a:t>
            </a:r>
            <a:r>
              <a:rPr lang="en-IN" b="1" dirty="0"/>
              <a:t>the data remains correct and related properly.</a:t>
            </a:r>
          </a:p>
          <a:p>
            <a:pPr marL="457200" lvl="1" indent="0">
              <a:buNone/>
            </a:pPr>
            <a:r>
              <a:rPr lang="en-IN" b="1" dirty="0"/>
              <a:t>	-&gt; If </a:t>
            </a:r>
            <a:r>
              <a:rPr lang="en-IN" b="1" dirty="0" err="1"/>
              <a:t>stud_id</a:t>
            </a:r>
            <a:r>
              <a:rPr lang="en-IN" b="1" dirty="0"/>
              <a:t> = 101 then insert in that place not in 106 place</a:t>
            </a:r>
          </a:p>
          <a:p>
            <a:pPr marL="457200" lvl="1" indent="0">
              <a:buNone/>
            </a:pPr>
            <a:r>
              <a:rPr lang="en-IN" b="1" dirty="0"/>
              <a:t>4. </a:t>
            </a:r>
            <a:r>
              <a:rPr lang="en-IN" dirty="0"/>
              <a:t>Enforce Business Rules</a:t>
            </a:r>
            <a:endParaRPr lang="en-IN" b="1" dirty="0"/>
          </a:p>
          <a:p>
            <a:r>
              <a:rPr lang="en-IN" b="1" dirty="0"/>
              <a:t>	-&gt; </a:t>
            </a:r>
            <a:r>
              <a:rPr lang="en-IN" dirty="0"/>
              <a:t>For example:</a:t>
            </a:r>
          </a:p>
          <a:p>
            <a:r>
              <a:rPr lang="en-IN" dirty="0"/>
              <a:t>A bank may say:</a:t>
            </a:r>
          </a:p>
          <a:p>
            <a:r>
              <a:rPr lang="en-IN" dirty="0"/>
              <a:t>	Balance should never become negative. </a:t>
            </a:r>
          </a:p>
          <a:p>
            <a:r>
              <a:rPr lang="en-IN" dirty="0"/>
              <a:t>A college may say:</a:t>
            </a:r>
          </a:p>
          <a:p>
            <a:r>
              <a:rPr lang="en-IN" dirty="0"/>
              <a:t>	Every student must have a unique Roll Number. </a:t>
            </a:r>
          </a:p>
          <a:p>
            <a:r>
              <a:rPr lang="en-IN" dirty="0"/>
              <a:t>These are business rules.</a:t>
            </a:r>
          </a:p>
          <a:p>
            <a:r>
              <a:rPr lang="en-IN" dirty="0"/>
              <a:t>Instead of checking them only in Java or another application, the database itself also enforces these rules.</a:t>
            </a:r>
          </a:p>
          <a:p>
            <a:r>
              <a:rPr lang="en-IN" dirty="0"/>
              <a:t>So even if another application accesses the database, the rules are still followed.</a:t>
            </a:r>
          </a:p>
          <a:p>
            <a:pPr marL="457200" lvl="1" indent="0">
              <a:buNone/>
            </a:pPr>
            <a:endParaRPr lang="en-IN" b="1" dirty="0"/>
          </a:p>
          <a:p>
            <a:pPr marL="457200" lvl="1" indent="0">
              <a:buNone/>
            </a:pPr>
            <a:endParaRPr lang="en-IN" b="1" dirty="0"/>
          </a:p>
          <a:p>
            <a:pPr marL="457200" lvl="1" indent="0">
              <a:buNone/>
            </a:pPr>
            <a:endParaRPr lang="en-IN" b="1" dirty="0"/>
          </a:p>
          <a:p>
            <a:pPr marL="457200" lvl="1" indent="0">
              <a:buNone/>
            </a:pPr>
            <a:endParaRPr lang="en-IN" b="1" dirty="0"/>
          </a:p>
          <a:p>
            <a:r>
              <a:rPr lang="en-IN" b="1" dirty="0"/>
              <a:t>Integrity</a:t>
            </a:r>
          </a:p>
          <a:p>
            <a:r>
              <a:rPr lang="en-IN" dirty="0"/>
              <a:t>Relationships between tables remain correct.</a:t>
            </a:r>
          </a:p>
          <a:p>
            <a:pPr marL="457200" lvl="1" indent="0">
              <a:buNone/>
            </a:pPr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24118-EA7C-4566-9F39-92249B6904B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021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Constraints = Rules we set on a table</a:t>
            </a:r>
          </a:p>
          <a:p>
            <a:endParaRPr lang="en-US" dirty="0"/>
          </a:p>
          <a:p>
            <a:r>
              <a:rPr lang="en-US" dirty="0"/>
              <a:t>If any data breaks the rule, DBMS will say “No” automatically.</a:t>
            </a:r>
          </a:p>
          <a:p>
            <a:endParaRPr lang="en-US" dirty="0"/>
          </a:p>
          <a:p>
            <a:r>
              <a:rPr lang="en-US" dirty="0"/>
              <a:t>Eg : ATM won’t let you withdraw -1000 </a:t>
            </a:r>
            <a:r>
              <a:rPr lang="en-US" dirty="0" err="1"/>
              <a:t>rs</a:t>
            </a:r>
            <a:r>
              <a:rPr lang="en-US" dirty="0"/>
              <a:t> . That’s ‘no –</a:t>
            </a:r>
            <a:r>
              <a:rPr lang="en-US" dirty="0" err="1"/>
              <a:t>ve</a:t>
            </a:r>
            <a:r>
              <a:rPr lang="en-US" dirty="0"/>
              <a:t>’ rule is a constraint.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24118-EA7C-4566-9F39-92249B6904B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033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"NOT NULL means this value is compulsory."</a:t>
            </a:r>
          </a:p>
          <a:p>
            <a:r>
              <a:rPr lang="en-IN" dirty="0"/>
              <a:t>Example</a:t>
            </a:r>
          </a:p>
          <a:p>
            <a:r>
              <a:rPr lang="en-IN" dirty="0"/>
              <a:t>Admission Form</a:t>
            </a:r>
          </a:p>
          <a:p>
            <a:r>
              <a:rPr lang="en-IN" dirty="0"/>
              <a:t>Student Name</a:t>
            </a:r>
          </a:p>
          <a:p>
            <a:r>
              <a:rPr lang="en-IN" dirty="0"/>
              <a:t>Can you leave it blank?</a:t>
            </a:r>
          </a:p>
          <a:p>
            <a:r>
              <a:rPr lang="en-IN" dirty="0"/>
              <a:t>No.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2. "Can two students have same USN?"</a:t>
            </a:r>
          </a:p>
          <a:p>
            <a:r>
              <a:rPr lang="en-IN" dirty="0"/>
              <a:t>No.</a:t>
            </a:r>
          </a:p>
          <a:p>
            <a:r>
              <a:rPr lang="en-IN" dirty="0"/>
              <a:t>"So USN should be UNIQUE."</a:t>
            </a:r>
          </a:p>
          <a:p>
            <a:r>
              <a:rPr lang="en-IN" dirty="0"/>
              <a:t>Another example</a:t>
            </a:r>
          </a:p>
          <a:p>
            <a:r>
              <a:rPr lang="en-IN" dirty="0"/>
              <a:t>Aadhar Number.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3. "CHECK verifies whether a condition is satisfied."</a:t>
            </a:r>
          </a:p>
          <a:p>
            <a:r>
              <a:rPr lang="en-IN" dirty="0"/>
              <a:t>Example</a:t>
            </a:r>
          </a:p>
          <a:p>
            <a:r>
              <a:rPr lang="en-IN" dirty="0"/>
              <a:t>Age &gt;=18</a:t>
            </a:r>
          </a:p>
          <a:p>
            <a:r>
              <a:rPr lang="en-IN" dirty="0"/>
              <a:t>Marks between 0 and 100</a:t>
            </a:r>
          </a:p>
          <a:p>
            <a:r>
              <a:rPr lang="en-IN" dirty="0"/>
              <a:t>Price &gt;0</a:t>
            </a:r>
          </a:p>
          <a:p>
            <a:endParaRPr lang="en-IN" dirty="0"/>
          </a:p>
          <a:p>
            <a:r>
              <a:rPr lang="en-IN" dirty="0"/>
              <a:t>4. Student Status</a:t>
            </a:r>
          </a:p>
          <a:p>
            <a:r>
              <a:rPr lang="en-IN" dirty="0"/>
              <a:t>If not entered</a:t>
            </a:r>
          </a:p>
          <a:p>
            <a:r>
              <a:rPr lang="en-IN" dirty="0"/>
              <a:t>Automatically</a:t>
            </a:r>
          </a:p>
          <a:p>
            <a:r>
              <a:rPr lang="en-IN" dirty="0"/>
              <a:t>Active</a:t>
            </a:r>
          </a:p>
          <a:p>
            <a:r>
              <a:rPr lang="en-IN" dirty="0"/>
              <a:t>Like WhatsApp</a:t>
            </a:r>
          </a:p>
          <a:p>
            <a:r>
              <a:rPr lang="en-IN" dirty="0"/>
              <a:t>Last Seen</a:t>
            </a:r>
          </a:p>
          <a:p>
            <a:r>
              <a:rPr lang="en-IN" dirty="0"/>
              <a:t>If not changed</a:t>
            </a:r>
          </a:p>
          <a:p>
            <a:r>
              <a:rPr lang="en-IN" dirty="0"/>
              <a:t>Default setting.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24118-EA7C-4566-9F39-92249B6904B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7799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N U P F C D</a:t>
            </a:r>
            <a:r>
              <a:rPr lang="en-IN" dirty="0"/>
              <a:t> → </a:t>
            </a:r>
            <a:r>
              <a:rPr lang="en-IN" b="1" dirty="0"/>
              <a:t>"No User Prefers Fake Cheap Data."</a:t>
            </a:r>
            <a:endParaRPr lang="en-IN" dirty="0"/>
          </a:p>
          <a:p>
            <a:r>
              <a:rPr lang="en-IN" b="1" dirty="0"/>
              <a:t>N</a:t>
            </a:r>
            <a:r>
              <a:rPr lang="en-IN" dirty="0"/>
              <a:t> → NOT NULL </a:t>
            </a:r>
          </a:p>
          <a:p>
            <a:r>
              <a:rPr lang="en-IN" b="1" dirty="0"/>
              <a:t>U</a:t>
            </a:r>
            <a:r>
              <a:rPr lang="en-IN" dirty="0"/>
              <a:t> → UNIQUE </a:t>
            </a:r>
          </a:p>
          <a:p>
            <a:r>
              <a:rPr lang="en-IN" b="1" dirty="0"/>
              <a:t>P</a:t>
            </a:r>
            <a:r>
              <a:rPr lang="en-IN" dirty="0"/>
              <a:t> → PRIMARY KEY </a:t>
            </a:r>
          </a:p>
          <a:p>
            <a:r>
              <a:rPr lang="en-IN" b="1" dirty="0"/>
              <a:t>F</a:t>
            </a:r>
            <a:r>
              <a:rPr lang="en-IN" dirty="0"/>
              <a:t> → FOREIGN KEY </a:t>
            </a:r>
          </a:p>
          <a:p>
            <a:r>
              <a:rPr lang="en-IN" b="1" dirty="0"/>
              <a:t>C</a:t>
            </a:r>
            <a:r>
              <a:rPr lang="en-IN" dirty="0"/>
              <a:t> → CHECK </a:t>
            </a:r>
          </a:p>
          <a:p>
            <a:r>
              <a:rPr lang="en-IN" b="1" dirty="0"/>
              <a:t>D</a:t>
            </a:r>
            <a:r>
              <a:rPr lang="en-IN" dirty="0"/>
              <a:t> → DEFAULT</a:t>
            </a:r>
          </a:p>
          <a:p>
            <a:endParaRPr lang="en-IN" dirty="0"/>
          </a:p>
          <a:p>
            <a:r>
              <a:rPr lang="en-IN" b="1" dirty="0"/>
              <a:t>NOT NULL</a:t>
            </a:r>
            <a:r>
              <a:rPr lang="en-IN" dirty="0"/>
              <a:t> → "Don't leave it empty." </a:t>
            </a:r>
          </a:p>
          <a:p>
            <a:r>
              <a:rPr lang="en-IN" b="1" dirty="0"/>
              <a:t>UNIQUE</a:t>
            </a:r>
            <a:r>
              <a:rPr lang="en-IN" dirty="0"/>
              <a:t> → "Don't repeat." </a:t>
            </a:r>
          </a:p>
          <a:p>
            <a:r>
              <a:rPr lang="en-IN" b="1" dirty="0"/>
              <a:t>PRIMARY KEY</a:t>
            </a:r>
            <a:r>
              <a:rPr lang="en-IN" dirty="0"/>
              <a:t> → "Unique identity." </a:t>
            </a:r>
          </a:p>
          <a:p>
            <a:r>
              <a:rPr lang="en-IN" b="1" dirty="0"/>
              <a:t>FOREIGN KEY</a:t>
            </a:r>
            <a:r>
              <a:rPr lang="en-IN" dirty="0"/>
              <a:t> → "Connects two tables." </a:t>
            </a:r>
          </a:p>
          <a:p>
            <a:r>
              <a:rPr lang="en-IN" b="1" dirty="0"/>
              <a:t>CHECK</a:t>
            </a:r>
            <a:r>
              <a:rPr lang="en-IN" dirty="0"/>
              <a:t> → "Follow the condition." </a:t>
            </a:r>
          </a:p>
          <a:p>
            <a:r>
              <a:rPr lang="en-IN" b="1" dirty="0"/>
              <a:t>DEFAULT</a:t>
            </a:r>
            <a:r>
              <a:rPr lang="en-IN" dirty="0"/>
              <a:t> → "Use this value if nothing is given.“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PK -&gt; NOT NULL + UNIQUE together</a:t>
            </a:r>
          </a:p>
          <a:p>
            <a:r>
              <a:rPr lang="en-IN" dirty="0"/>
              <a:t>FK -&gt; Connecting 2 tables together to avoid wrong data.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ensures relationships between tables remain consistent and accurate. : - Referential integrity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24118-EA7C-4566-9F39-92249B6904B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5815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Referential integrity is a database rule that ensures relationships between tables remain consistent and valid.</a:t>
            </a:r>
          </a:p>
          <a:p>
            <a:endParaRPr lang="en-IN" dirty="0"/>
          </a:p>
          <a:p>
            <a:r>
              <a:rPr lang="en-IN" dirty="0"/>
              <a:t> It dictates that a foreign key in one table must always correspond to an existing primary key in another table, or be set to NULL.</a:t>
            </a:r>
          </a:p>
          <a:p>
            <a:endParaRPr lang="en-IN" dirty="0"/>
          </a:p>
          <a:p>
            <a:r>
              <a:rPr lang="en-US" dirty="0"/>
              <a:t>1: M  -&gt; </a:t>
            </a:r>
            <a:r>
              <a:rPr lang="en-US" dirty="0" err="1"/>
              <a:t>Fk</a:t>
            </a:r>
            <a:r>
              <a:rPr lang="en-US" dirty="0"/>
              <a:t> in M side</a:t>
            </a:r>
          </a:p>
          <a:p>
            <a:r>
              <a:rPr lang="en-US" dirty="0"/>
              <a:t>1:1 -&gt; </a:t>
            </a:r>
            <a:r>
              <a:rPr lang="en-US" dirty="0" err="1"/>
              <a:t>Fk</a:t>
            </a:r>
            <a:r>
              <a:rPr lang="en-US" dirty="0"/>
              <a:t> in either table</a:t>
            </a:r>
            <a:r>
              <a:rPr lang="en-IN" dirty="0"/>
              <a:t> (Choose the one that owns the other table)</a:t>
            </a:r>
          </a:p>
          <a:p>
            <a:r>
              <a:rPr lang="en-IN" dirty="0"/>
              <a:t>M:M -&gt; Cant put in either (use bridge/junction table ”Composite”)</a:t>
            </a:r>
          </a:p>
          <a:p>
            <a:endParaRPr lang="en-IN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24118-EA7C-4566-9F39-92249B6904B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17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Null - &gt;  not sure if its allowed or not</a:t>
            </a:r>
          </a:p>
          <a:p>
            <a:r>
              <a:rPr lang="en-US" dirty="0"/>
              <a:t>With FK -&gt; NULL -&gt; optional (given in the rule ) : not yet assigned. Rather than typing </a:t>
            </a:r>
            <a:r>
              <a:rPr lang="en-US" dirty="0" err="1"/>
              <a:t>xyz</a:t>
            </a:r>
            <a:r>
              <a:rPr lang="en-US" dirty="0"/>
              <a:t> or something that </a:t>
            </a:r>
            <a:r>
              <a:rPr lang="en-US" dirty="0" err="1"/>
              <a:t>doesnt</a:t>
            </a:r>
            <a:r>
              <a:rPr lang="en-US" dirty="0"/>
              <a:t> exist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24118-EA7C-4566-9F39-92249B6904B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105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type :</a:t>
            </a:r>
          </a:p>
          <a:p>
            <a:r>
              <a:rPr lang="en-US" dirty="0"/>
              <a:t>	Department</a:t>
            </a:r>
          </a:p>
          <a:p>
            <a:endParaRPr lang="en-US" dirty="0"/>
          </a:p>
          <a:p>
            <a:r>
              <a:rPr lang="en-US" dirty="0" err="1"/>
              <a:t>DeptID</a:t>
            </a:r>
            <a:r>
              <a:rPr lang="en-US" dirty="0"/>
              <a:t> VARCHAR(5)</a:t>
            </a:r>
          </a:p>
          <a:p>
            <a:r>
              <a:rPr lang="en-IN" dirty="0"/>
              <a:t>	Student</a:t>
            </a:r>
          </a:p>
          <a:p>
            <a:endParaRPr lang="en-IN" dirty="0"/>
          </a:p>
          <a:p>
            <a:r>
              <a:rPr lang="en-IN" dirty="0" err="1"/>
              <a:t>DeptID</a:t>
            </a:r>
            <a:r>
              <a:rPr lang="en-IN" dirty="0"/>
              <a:t> INT </a:t>
            </a:r>
          </a:p>
          <a:p>
            <a:endParaRPr lang="en-IN" dirty="0"/>
          </a:p>
          <a:p>
            <a:r>
              <a:rPr lang="en-IN" dirty="0"/>
              <a:t>One is text.</a:t>
            </a:r>
          </a:p>
          <a:p>
            <a:r>
              <a:rPr lang="en-IN" dirty="0"/>
              <a:t>One is number.</a:t>
            </a:r>
          </a:p>
          <a:p>
            <a:r>
              <a:rPr lang="en-IN" dirty="0"/>
              <a:t>❌ Cannot create FK.</a:t>
            </a:r>
          </a:p>
          <a:p>
            <a:endParaRPr lang="en-IN" dirty="0"/>
          </a:p>
          <a:p>
            <a:r>
              <a:rPr lang="en-IN" dirty="0"/>
              <a:t>Referential </a:t>
            </a:r>
            <a:r>
              <a:rPr lang="en-IN" dirty="0" err="1"/>
              <a:t>eg</a:t>
            </a:r>
            <a:r>
              <a:rPr lang="en-IN" dirty="0"/>
              <a:t>: if data not present but you try to connect (</a:t>
            </a:r>
            <a:r>
              <a:rPr lang="en-IN" dirty="0" err="1"/>
              <a:t>eg</a:t>
            </a:r>
            <a:r>
              <a:rPr lang="en-IN" dirty="0"/>
              <a:t>: D99)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Student</a:t>
            </a:r>
          </a:p>
          <a:p>
            <a:r>
              <a:rPr lang="en-IN" dirty="0" err="1"/>
              <a:t>ScholarshipID</a:t>
            </a:r>
            <a:endParaRPr lang="en-IN" dirty="0"/>
          </a:p>
          <a:p>
            <a:r>
              <a:rPr lang="en-IN" dirty="0"/>
              <a:t>Some students have scholarships.</a:t>
            </a:r>
          </a:p>
          <a:p>
            <a:r>
              <a:rPr lang="en-IN" dirty="0"/>
              <a:t>Some don't.</a:t>
            </a:r>
          </a:p>
          <a:p>
            <a:r>
              <a:rPr lang="en-IN" dirty="0"/>
              <a:t>NULL is allowed.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CASCADE - Parent goes → Child also goes.</a:t>
            </a:r>
          </a:p>
          <a:p>
            <a:r>
              <a:rPr lang="en-IN" dirty="0"/>
              <a:t>RESTRICT - Child exists → Parent cannot be deleted.</a:t>
            </a:r>
          </a:p>
          <a:p>
            <a:r>
              <a:rPr lang="en-IN" dirty="0"/>
              <a:t>SET NULL - Parent deleted → Child remains → FK becomes NULL. (If only its allowed)</a:t>
            </a:r>
          </a:p>
          <a:p>
            <a:r>
              <a:rPr lang="en-IN" b="1" dirty="0"/>
              <a:t>NO ACTION - behaves almost like RESTRICT.</a:t>
            </a:r>
            <a:endParaRPr lang="en-IN" dirty="0"/>
          </a:p>
          <a:p>
            <a:r>
              <a:rPr lang="en-IN" dirty="0"/>
              <a:t>If deleting the parent breaks referential integrity,</a:t>
            </a:r>
          </a:p>
          <a:p>
            <a:r>
              <a:rPr lang="en-IN" dirty="0"/>
              <a:t>the database rejects the operation.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rtl="0" eaLnBrk="1" fontAlgn="ctr" latinLnBrk="0" hangingPunct="1"/>
            <a:r>
              <a:rPr lang="e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FK placement depends on relationship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ctr" latinLnBrk="0" hangingPunct="1"/>
            <a:r>
              <a:rPr lang="e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1:N, place the FK on the many side. In M:N, use a junction table.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ctr" latinLnBrk="0" hangingPunct="1"/>
            <a:r>
              <a:rPr lang="en-IN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Student.DeptID</a:t>
            </a:r>
            <a:r>
              <a:rPr lang="e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N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Enrollment</a:t>
            </a:r>
            <a:r>
              <a:rPr lang="e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IN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StudentID</a:t>
            </a:r>
            <a:r>
              <a:rPr lang="e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IN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CourseID</a:t>
            </a:r>
            <a:r>
              <a:rPr lang="e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ctr" latinLnBrk="0" hangingPunct="1"/>
            <a:r>
              <a:rPr lang="e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Referential actions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ctr" latinLnBrk="0" hangingPunct="1"/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Define what happens when parent rows are updated or deleted.</a:t>
            </a:r>
          </a:p>
          <a:p>
            <a:pPr rtl="0" eaLnBrk="1" fontAlgn="ctr" latinLnBrk="0" hangingPunct="1"/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CASCADE, RESTRICT, SET NULL, NO ACTION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24118-EA7C-4566-9F39-92249B6904B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6150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activity :</a:t>
            </a:r>
          </a:p>
          <a:p>
            <a:r>
              <a:rPr lang="en-US" dirty="0"/>
              <a:t> </a:t>
            </a:r>
          </a:p>
          <a:p>
            <a:pPr marL="228600" indent="-228600">
              <a:buAutoNum type="arabicPeriod"/>
            </a:pPr>
            <a:r>
              <a:rPr lang="en-US" dirty="0"/>
              <a:t>Phone number cannot be empty – NOT NULL</a:t>
            </a:r>
          </a:p>
          <a:p>
            <a:pPr marL="228600" indent="-228600">
              <a:buAutoNum type="arabicPeriod"/>
            </a:pPr>
            <a:r>
              <a:rPr lang="en-US" dirty="0"/>
              <a:t>Reg No. must be unique  - PK</a:t>
            </a:r>
          </a:p>
          <a:p>
            <a:pPr marL="228600" indent="-228600">
              <a:buAutoNum type="arabicPeriod"/>
            </a:pPr>
            <a:r>
              <a:rPr lang="en-US" dirty="0"/>
              <a:t>Marks should be between given range (0-100)   - CHECK</a:t>
            </a:r>
          </a:p>
          <a:p>
            <a:pPr marL="228600" indent="-228600">
              <a:buAutoNum type="arabicPeriod"/>
            </a:pPr>
            <a:r>
              <a:rPr lang="en-US" dirty="0" err="1"/>
              <a:t>CourseId</a:t>
            </a:r>
            <a:r>
              <a:rPr lang="en-US" dirty="0"/>
              <a:t> must exist in course table – FK</a:t>
            </a:r>
          </a:p>
          <a:p>
            <a:pPr marL="228600" indent="-228600">
              <a:buAutoNum type="arabicPeriod"/>
            </a:pPr>
            <a:r>
              <a:rPr lang="en-US" dirty="0"/>
              <a:t>No 2 students must have same </a:t>
            </a:r>
            <a:r>
              <a:rPr lang="en-US" dirty="0" err="1"/>
              <a:t>Aadaar</a:t>
            </a:r>
            <a:r>
              <a:rPr lang="en-US" dirty="0"/>
              <a:t>  - UNIQUE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24118-EA7C-4566-9F39-92249B6904B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5597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E909F-6719-3333-315E-FBC688A90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E43B91-AA12-34C6-B29A-4025BAE5E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2067FD-9EA2-E161-A59E-58FAB76D6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Looking at the table:</a:t>
            </a:r>
          </a:p>
          <a:p>
            <a:r>
              <a:rPr lang="en-IN" b="1" dirty="0" err="1"/>
              <a:t>StudentID</a:t>
            </a:r>
            <a:r>
              <a:rPr lang="en-IN" dirty="0"/>
              <a:t> is a Super Key because it is unique. </a:t>
            </a:r>
          </a:p>
          <a:p>
            <a:r>
              <a:rPr lang="en-IN" b="1" dirty="0"/>
              <a:t>Email</a:t>
            </a:r>
            <a:r>
              <a:rPr lang="en-IN" dirty="0"/>
              <a:t> is also a Super Key because it is unique. </a:t>
            </a:r>
          </a:p>
          <a:p>
            <a:r>
              <a:rPr lang="en-IN" b="1" dirty="0" err="1"/>
              <a:t>StudentID</a:t>
            </a:r>
            <a:r>
              <a:rPr lang="en-IN" b="1" dirty="0"/>
              <a:t> + Name</a:t>
            </a:r>
            <a:r>
              <a:rPr lang="en-IN" dirty="0"/>
              <a:t> and </a:t>
            </a:r>
            <a:r>
              <a:rPr lang="en-IN" b="1" dirty="0" err="1"/>
              <a:t>StudentID</a:t>
            </a:r>
            <a:r>
              <a:rPr lang="en-IN" b="1" dirty="0"/>
              <a:t> + Email</a:t>
            </a:r>
            <a:r>
              <a:rPr lang="en-IN" dirty="0"/>
              <a:t> are also Super Keys because they still uniquely identify each student, although they include unnecessary attributes. </a:t>
            </a:r>
          </a:p>
          <a:p>
            <a:r>
              <a:rPr lang="en-IN" b="1" dirty="0"/>
              <a:t>Purpose of a Super Key:</a:t>
            </a:r>
            <a:endParaRPr lang="en-IN" dirty="0"/>
          </a:p>
          <a:p>
            <a:r>
              <a:rPr lang="en-IN" dirty="0"/>
              <a:t>To uniquely identify every record in a table. </a:t>
            </a:r>
          </a:p>
          <a:p>
            <a:r>
              <a:rPr lang="en-IN" dirty="0"/>
              <a:t>It forms the basis for finding Candidate Keys. </a:t>
            </a:r>
          </a:p>
          <a:p>
            <a:r>
              <a:rPr lang="en-IN" b="1" dirty="0"/>
              <a:t>Remember:</a:t>
            </a:r>
            <a:r>
              <a:rPr lang="en-IN" dirty="0"/>
              <a:t> A Super Key </a:t>
            </a:r>
            <a:r>
              <a:rPr lang="en-IN" b="1" dirty="0"/>
              <a:t>can contain extra attributes</a:t>
            </a:r>
            <a:r>
              <a:rPr lang="en-IN" dirty="0"/>
              <a:t>, whereas a Candidate Key </a:t>
            </a:r>
            <a:r>
              <a:rPr lang="en-IN" b="1" dirty="0"/>
              <a:t>cannot</a:t>
            </a:r>
            <a:r>
              <a:rPr lang="en-IN" dirty="0"/>
              <a:t>. Every Candidate Key is a Super Key, but not every Super Key is a Candidate Key."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F15A5-A164-7A9F-1C31-C1FC15E91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24118-EA7C-4566-9F39-92249B6904B1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5664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3C7D3-01A7-9DF3-A6BD-7A239069D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EFBBF-FF08-FA75-FDDC-DAA263FD5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C3519E-FD73-2DA8-9CF5-B9AF3C4AF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 </a:t>
            </a:r>
            <a:r>
              <a:rPr lang="en-IN" b="1" dirty="0"/>
              <a:t>Candidate Key</a:t>
            </a:r>
            <a:r>
              <a:rPr lang="en-IN" dirty="0"/>
              <a:t> is simply the </a:t>
            </a:r>
            <a:r>
              <a:rPr lang="en-IN" b="1" dirty="0"/>
              <a:t>smallest possible Super Key</a:t>
            </a:r>
            <a:r>
              <a:rPr lang="en-IN" dirty="0"/>
              <a:t>. It contains only the attributes required to uniquely identify a record and does </a:t>
            </a:r>
            <a:r>
              <a:rPr lang="en-IN" b="1" dirty="0"/>
              <a:t>not</a:t>
            </a:r>
            <a:r>
              <a:rPr lang="en-IN" dirty="0"/>
              <a:t> have any unnecessary attributes.</a:t>
            </a:r>
          </a:p>
          <a:p>
            <a:endParaRPr lang="en-IN" dirty="0"/>
          </a:p>
          <a:p>
            <a:r>
              <a:rPr lang="en-IN" dirty="0"/>
              <a:t>Notice that </a:t>
            </a:r>
            <a:r>
              <a:rPr lang="en-IN" b="1" dirty="0" err="1"/>
              <a:t>EmpID</a:t>
            </a:r>
            <a:r>
              <a:rPr lang="en-IN" b="1" dirty="0"/>
              <a:t> + Name</a:t>
            </a:r>
            <a:r>
              <a:rPr lang="en-IN" dirty="0"/>
              <a:t> is </a:t>
            </a:r>
            <a:r>
              <a:rPr lang="en-IN" b="1" dirty="0"/>
              <a:t>not</a:t>
            </a:r>
            <a:r>
              <a:rPr lang="en-IN" dirty="0"/>
              <a:t> a Candidate Key because </a:t>
            </a:r>
            <a:r>
              <a:rPr lang="en-IN" b="1" dirty="0"/>
              <a:t>Name</a:t>
            </a:r>
            <a:r>
              <a:rPr lang="en-IN" dirty="0"/>
              <a:t> is unnecessary. Since </a:t>
            </a:r>
            <a:r>
              <a:rPr lang="en-IN" dirty="0" err="1"/>
              <a:t>EmpID</a:t>
            </a:r>
            <a:r>
              <a:rPr lang="en-IN" dirty="0"/>
              <a:t> alone is enough, adding Name makes it a Super Key, not a Candidate Key.</a:t>
            </a:r>
          </a:p>
          <a:p>
            <a:endParaRPr lang="en-IN" dirty="0"/>
          </a:p>
          <a:p>
            <a:r>
              <a:rPr lang="en-IN" b="1" dirty="0"/>
              <a:t>Remember:</a:t>
            </a:r>
            <a:r>
              <a:rPr lang="en-IN" dirty="0"/>
              <a:t> A Candidate Key is a </a:t>
            </a:r>
            <a:r>
              <a:rPr lang="en-IN" b="1" dirty="0"/>
              <a:t>minimal Super Key</a:t>
            </a:r>
            <a:r>
              <a:rPr lang="en-IN" dirty="0"/>
              <a:t>. Every Candidate Key is a Super Key, but it must not contain extra attributes. One of the Candidate Keys is later chosen as the </a:t>
            </a:r>
            <a:r>
              <a:rPr lang="en-IN" b="1" dirty="0"/>
              <a:t>Primary Key</a:t>
            </a:r>
            <a:r>
              <a:rPr lang="en-IN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6871B-7B33-0AD3-6024-3FEBDAA4FE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24118-EA7C-4566-9F39-92249B6904B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0111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CC4BB-BB2C-13AA-7A81-EE66E39C7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ED100-B889-ACB6-D4DB-7EFD338E6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C5436B-0642-35B2-501B-44DE879FD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An </a:t>
            </a:r>
            <a:r>
              <a:rPr lang="en-IN" b="1" dirty="0"/>
              <a:t>entity</a:t>
            </a:r>
            <a:r>
              <a:rPr lang="en-IN" dirty="0"/>
              <a:t> means a real-world object represented in a table (such as a student, employee, or product).</a:t>
            </a:r>
          </a:p>
          <a:p>
            <a:r>
              <a:rPr lang="en-IN" b="1" dirty="0"/>
              <a:t>Integrity</a:t>
            </a:r>
            <a:r>
              <a:rPr lang="en-IN" dirty="0"/>
              <a:t> means correctness and consistency.</a:t>
            </a:r>
          </a:p>
          <a:p>
            <a:r>
              <a:rPr lang="en-IN" dirty="0"/>
              <a:t>So, </a:t>
            </a:r>
            <a:r>
              <a:rPr lang="en-IN" b="1" dirty="0"/>
              <a:t>Entity Integrity</a:t>
            </a:r>
            <a:r>
              <a:rPr lang="en-IN" dirty="0"/>
              <a:t> ensures that every entity (record/row) in the table has a unique identity.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C9336-05C9-B0A1-8523-E0019A9F6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24118-EA7C-4566-9F39-92249B6904B1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5423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021FB-14EC-AD4D-10F5-E39B37A95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8CF55-F2D4-0C3F-1293-D62EA9E56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9F8FB1-3AD3-9F0F-D0A7-16BA8A95C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We know that a table can have </a:t>
            </a:r>
            <a:r>
              <a:rPr lang="en-IN" b="1" dirty="0"/>
              <a:t>multiple Candidate Keys</a:t>
            </a:r>
            <a:r>
              <a:rPr lang="en-IN" dirty="0"/>
              <a:t>, but </a:t>
            </a:r>
            <a:r>
              <a:rPr lang="en-IN" b="1" dirty="0"/>
              <a:t>only one of them is selected as the Primary Key</a:t>
            </a:r>
            <a:r>
              <a:rPr lang="en-IN" dirty="0"/>
              <a:t>. The remaining Candidate Keys are called </a:t>
            </a:r>
            <a:r>
              <a:rPr lang="en-IN" b="1" dirty="0"/>
              <a:t>Alternate Keys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b="1" dirty="0"/>
              <a:t>Remember:</a:t>
            </a:r>
            <a:endParaRPr lang="en-IN" dirty="0"/>
          </a:p>
          <a:p>
            <a:r>
              <a:rPr lang="en-IN" dirty="0"/>
              <a:t>A table can have </a:t>
            </a:r>
            <a:r>
              <a:rPr lang="en-IN" b="1" dirty="0"/>
              <a:t>many Candidate Keys</a:t>
            </a:r>
            <a:r>
              <a:rPr lang="en-IN" dirty="0"/>
              <a:t>. </a:t>
            </a:r>
          </a:p>
          <a:p>
            <a:r>
              <a:rPr lang="en-IN" b="1" dirty="0"/>
              <a:t>One Candidate Key</a:t>
            </a:r>
            <a:r>
              <a:rPr lang="en-IN" dirty="0"/>
              <a:t> becomes the </a:t>
            </a:r>
            <a:r>
              <a:rPr lang="en-IN" b="1" dirty="0"/>
              <a:t>Primary Key</a:t>
            </a:r>
            <a:r>
              <a:rPr lang="en-IN" dirty="0"/>
              <a:t>. </a:t>
            </a:r>
          </a:p>
          <a:p>
            <a:r>
              <a:rPr lang="en-IN" dirty="0"/>
              <a:t>The </a:t>
            </a:r>
            <a:r>
              <a:rPr lang="en-IN" b="1" dirty="0"/>
              <a:t>remaining Candidate Keys</a:t>
            </a:r>
            <a:r>
              <a:rPr lang="en-IN" dirty="0"/>
              <a:t> are called </a:t>
            </a:r>
            <a:r>
              <a:rPr lang="en-IN" b="1" dirty="0"/>
              <a:t>Alternate Keys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23CCA-06D7-074F-4A76-4A17B8414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24118-EA7C-4566-9F39-92249B6904B1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2592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26940-E107-8958-8962-2ED055985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142BF-0767-915B-EA4D-288722E6E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4E4E9-6899-A6FF-7E40-A4AE52B4C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 M  -&gt; </a:t>
            </a:r>
            <a:r>
              <a:rPr lang="en-US" dirty="0" err="1"/>
              <a:t>Fk</a:t>
            </a:r>
            <a:r>
              <a:rPr lang="en-US" dirty="0"/>
              <a:t> in M side</a:t>
            </a:r>
          </a:p>
          <a:p>
            <a:r>
              <a:rPr lang="en-US" dirty="0"/>
              <a:t>1:1 -&gt; </a:t>
            </a:r>
            <a:r>
              <a:rPr lang="en-US" dirty="0" err="1"/>
              <a:t>Fk</a:t>
            </a:r>
            <a:r>
              <a:rPr lang="en-US" dirty="0"/>
              <a:t> in either table</a:t>
            </a:r>
            <a:r>
              <a:rPr lang="en-IN" dirty="0"/>
              <a:t> (Choose the one that owns the other table)</a:t>
            </a:r>
          </a:p>
          <a:p>
            <a:r>
              <a:rPr lang="en-IN" dirty="0"/>
              <a:t>M:M -&gt; Cant put in either (use bridge/junction table ”Composite”)</a:t>
            </a:r>
          </a:p>
          <a:p>
            <a:endParaRPr lang="en-I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C2FE8-9D01-D47C-1CB5-7F7C2B424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24118-EA7C-4566-9F39-92249B6904B1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267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33123-E7A6-1BE6-BC09-F67AC890C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E0E947-BEE4-B41B-0AF6-34A301ED3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18B050-EA31-DD12-5142-5A0D5407A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 </a:t>
            </a:r>
            <a:r>
              <a:rPr lang="en-IN" b="1" dirty="0"/>
              <a:t>Unique Key</a:t>
            </a:r>
            <a:r>
              <a:rPr lang="en-IN" dirty="0"/>
              <a:t> is a </a:t>
            </a:r>
            <a:r>
              <a:rPr lang="en-IN" b="1" dirty="0"/>
              <a:t>constraint</a:t>
            </a:r>
            <a:r>
              <a:rPr lang="en-IN" dirty="0"/>
              <a:t> in SQL that ensures </a:t>
            </a:r>
            <a:r>
              <a:rPr lang="en-IN" b="1" dirty="0"/>
              <a:t>no two rows have the same value</a:t>
            </a:r>
            <a:r>
              <a:rPr lang="en-IN" dirty="0"/>
              <a:t> in a particular column. It prevents duplicate values.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1A04A-E60F-2FA3-B505-EACC324C6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24118-EA7C-4566-9F39-92249B6904B1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106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0913D-7953-EF0A-266D-5371D804B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314CF-B54D-AE7E-187F-5F24B9C5E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33D6C-2222-6192-2B97-2B82C4663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Start with a question</a:t>
            </a:r>
          </a:p>
          <a:p>
            <a:r>
              <a:rPr lang="en-IN" dirty="0"/>
              <a:t>"Suppose our college has an </a:t>
            </a:r>
            <a:r>
              <a:rPr lang="en-IN" b="1" dirty="0" err="1"/>
              <a:t>Enrollment</a:t>
            </a:r>
            <a:r>
              <a:rPr lang="en-IN" dirty="0"/>
              <a:t> table."</a:t>
            </a:r>
          </a:p>
          <a:p>
            <a:r>
              <a:rPr lang="en-IN" dirty="0" err="1"/>
              <a:t>StudentID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CourseID</a:t>
            </a:r>
            <a:endParaRPr lang="en-IN" dirty="0"/>
          </a:p>
          <a:p>
            <a:r>
              <a:rPr lang="en-IN" dirty="0"/>
              <a:t>101	CS101</a:t>
            </a:r>
          </a:p>
          <a:p>
            <a:r>
              <a:rPr lang="en-IN" dirty="0"/>
              <a:t>101	CS102</a:t>
            </a:r>
          </a:p>
          <a:p>
            <a:r>
              <a:rPr lang="en-IN" dirty="0"/>
              <a:t>102	CS101</a:t>
            </a:r>
          </a:p>
          <a:p>
            <a:r>
              <a:rPr lang="en-IN" dirty="0"/>
              <a:t>Now ask your students:</a:t>
            </a:r>
          </a:p>
          <a:p>
            <a:r>
              <a:rPr lang="en-IN" b="1" dirty="0"/>
              <a:t>Can </a:t>
            </a:r>
            <a:r>
              <a:rPr lang="en-IN" b="1" dirty="0" err="1"/>
              <a:t>StudentID</a:t>
            </a:r>
            <a:r>
              <a:rPr lang="en-IN" b="1" dirty="0"/>
              <a:t> alone be the Primary Key?</a:t>
            </a:r>
            <a:endParaRPr lang="en-IN" dirty="0"/>
          </a:p>
          <a:p>
            <a:r>
              <a:rPr lang="en-IN" dirty="0"/>
              <a:t>Let's check.</a:t>
            </a:r>
          </a:p>
          <a:p>
            <a:r>
              <a:rPr lang="en-IN" dirty="0" err="1"/>
              <a:t>StudentID</a:t>
            </a:r>
            <a:r>
              <a:rPr lang="en-IN" dirty="0"/>
              <a:t> = 101 appears </a:t>
            </a:r>
            <a:r>
              <a:rPr lang="en-IN" b="1" dirty="0"/>
              <a:t>twice</a:t>
            </a:r>
            <a:r>
              <a:rPr lang="en-IN" dirty="0"/>
              <a:t>.</a:t>
            </a:r>
          </a:p>
          <a:p>
            <a:r>
              <a:rPr lang="en-IN" dirty="0"/>
              <a:t>❌ So </a:t>
            </a:r>
            <a:r>
              <a:rPr lang="en-IN" dirty="0" err="1"/>
              <a:t>StudentID</a:t>
            </a:r>
            <a:r>
              <a:rPr lang="en-IN" dirty="0"/>
              <a:t> is </a:t>
            </a:r>
            <a:r>
              <a:rPr lang="en-IN" b="1" dirty="0"/>
              <a:t>not unique</a:t>
            </a:r>
            <a:r>
              <a:rPr lang="en-IN" dirty="0"/>
              <a:t>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Now ask:</a:t>
            </a:r>
          </a:p>
          <a:p>
            <a:r>
              <a:rPr lang="en-IN" b="1" dirty="0"/>
              <a:t>Can </a:t>
            </a:r>
            <a:r>
              <a:rPr lang="en-IN" b="1" dirty="0" err="1"/>
              <a:t>CourseID</a:t>
            </a:r>
            <a:r>
              <a:rPr lang="en-IN" b="1" dirty="0"/>
              <a:t> alone be the Primary Key?</a:t>
            </a:r>
            <a:endParaRPr lang="en-IN" dirty="0"/>
          </a:p>
          <a:p>
            <a:r>
              <a:rPr lang="en-IN" dirty="0" err="1"/>
              <a:t>CourseID</a:t>
            </a:r>
            <a:r>
              <a:rPr lang="en-IN" dirty="0"/>
              <a:t> = CS101 appears </a:t>
            </a:r>
            <a:r>
              <a:rPr lang="en-IN" b="1" dirty="0"/>
              <a:t>twice</a:t>
            </a:r>
            <a:r>
              <a:rPr lang="en-IN" dirty="0"/>
              <a:t>.</a:t>
            </a:r>
          </a:p>
          <a:p>
            <a:r>
              <a:rPr lang="en-IN" dirty="0"/>
              <a:t>❌ Again, not unique.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Now ask:</a:t>
            </a:r>
          </a:p>
          <a:p>
            <a:r>
              <a:rPr lang="en-IN" b="1" dirty="0"/>
              <a:t>What if we combine them?</a:t>
            </a:r>
            <a:endParaRPr lang="en-IN" dirty="0"/>
          </a:p>
          <a:p>
            <a:r>
              <a:rPr lang="en-IN" dirty="0" err="1"/>
              <a:t>StudentID</a:t>
            </a:r>
            <a:endParaRPr lang="en-IN" dirty="0"/>
          </a:p>
          <a:p>
            <a:r>
              <a:rPr lang="en-IN" dirty="0" err="1"/>
              <a:t>CourseID</a:t>
            </a:r>
            <a:endParaRPr lang="en-IN" dirty="0"/>
          </a:p>
          <a:p>
            <a:r>
              <a:rPr lang="en-IN" dirty="0"/>
              <a:t>101CS101</a:t>
            </a:r>
          </a:p>
          <a:p>
            <a:r>
              <a:rPr lang="en-IN" dirty="0"/>
              <a:t>101CS102</a:t>
            </a:r>
          </a:p>
          <a:p>
            <a:r>
              <a:rPr lang="en-IN" dirty="0"/>
              <a:t>102CS101</a:t>
            </a:r>
          </a:p>
          <a:p>
            <a:r>
              <a:rPr lang="en-IN" dirty="0"/>
              <a:t>Look at each combination.</a:t>
            </a:r>
          </a:p>
          <a:p>
            <a:r>
              <a:rPr lang="en-IN" dirty="0"/>
              <a:t>(101, CS101) ✅ </a:t>
            </a:r>
          </a:p>
          <a:p>
            <a:r>
              <a:rPr lang="en-IN" dirty="0"/>
              <a:t>(101, CS102) ✅ </a:t>
            </a:r>
          </a:p>
          <a:p>
            <a:r>
              <a:rPr lang="en-IN" dirty="0"/>
              <a:t>(102, CS101) ✅ </a:t>
            </a:r>
          </a:p>
          <a:p>
            <a:r>
              <a:rPr lang="en-IN" dirty="0"/>
              <a:t>Do any combinations repeat?</a:t>
            </a:r>
          </a:p>
          <a:p>
            <a:r>
              <a:rPr lang="en-IN" b="1" dirty="0"/>
              <a:t>No.</a:t>
            </a:r>
            <a:endParaRPr lang="en-IN" dirty="0"/>
          </a:p>
          <a:p>
            <a:r>
              <a:rPr lang="en-IN" dirty="0"/>
              <a:t>Now every row is unique.</a:t>
            </a:r>
          </a:p>
          <a:p>
            <a:r>
              <a:rPr lang="en-IN" dirty="0"/>
              <a:t>So the </a:t>
            </a:r>
            <a:r>
              <a:rPr lang="en-IN" b="1" dirty="0"/>
              <a:t>combination</a:t>
            </a:r>
            <a:r>
              <a:rPr lang="en-IN" dirty="0"/>
              <a:t> of </a:t>
            </a:r>
            <a:r>
              <a:rPr lang="en-IN" dirty="0" err="1"/>
              <a:t>StudentID</a:t>
            </a:r>
            <a:r>
              <a:rPr lang="en-IN" dirty="0"/>
              <a:t> and </a:t>
            </a:r>
            <a:r>
              <a:rPr lang="en-IN" dirty="0" err="1"/>
              <a:t>CourseID</a:t>
            </a:r>
            <a:r>
              <a:rPr lang="en-IN" dirty="0"/>
              <a:t> becomes the </a:t>
            </a:r>
            <a:r>
              <a:rPr lang="en-IN" b="1" dirty="0"/>
              <a:t>Composite Key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Real-Life Example</a:t>
            </a:r>
          </a:p>
          <a:p>
            <a:r>
              <a:rPr lang="en-IN" dirty="0"/>
              <a:t>Imagine your classroom.</a:t>
            </a:r>
          </a:p>
          <a:p>
            <a:r>
              <a:rPr lang="en-IN" dirty="0"/>
              <a:t>Suppose there are two students named </a:t>
            </a:r>
            <a:r>
              <a:rPr lang="en-IN" b="1" dirty="0"/>
              <a:t>Rahul</a:t>
            </a:r>
            <a:r>
              <a:rPr lang="en-IN" dirty="0"/>
              <a:t>.</a:t>
            </a:r>
          </a:p>
          <a:p>
            <a:r>
              <a:rPr lang="en-IN" dirty="0"/>
              <a:t>Just saying </a:t>
            </a:r>
            <a:r>
              <a:rPr lang="en-IN" b="1" dirty="0"/>
              <a:t>Rahul</a:t>
            </a:r>
            <a:r>
              <a:rPr lang="en-IN" dirty="0"/>
              <a:t> is not enough.</a:t>
            </a:r>
          </a:p>
          <a:p>
            <a:r>
              <a:rPr lang="en-IN" dirty="0"/>
              <a:t>But if I say</a:t>
            </a:r>
          </a:p>
          <a:p>
            <a:r>
              <a:rPr lang="en-IN" dirty="0"/>
              <a:t>Rahul from </a:t>
            </a:r>
            <a:r>
              <a:rPr lang="en-IN" b="1" dirty="0"/>
              <a:t>BCA-A</a:t>
            </a:r>
            <a:endParaRPr lang="en-IN" dirty="0"/>
          </a:p>
          <a:p>
            <a:r>
              <a:rPr lang="en-IN" dirty="0"/>
              <a:t>or</a:t>
            </a:r>
          </a:p>
          <a:p>
            <a:r>
              <a:rPr lang="en-IN" dirty="0"/>
              <a:t>Rahul from </a:t>
            </a:r>
            <a:r>
              <a:rPr lang="en-IN" b="1" dirty="0"/>
              <a:t>BCA-B</a:t>
            </a:r>
            <a:endParaRPr lang="en-IN" dirty="0"/>
          </a:p>
          <a:p>
            <a:r>
              <a:rPr lang="en-IN" dirty="0"/>
              <a:t>Now I know exactly which Rahul you mean.</a:t>
            </a:r>
          </a:p>
          <a:p>
            <a:r>
              <a:rPr lang="en-IN" dirty="0"/>
              <a:t>Neither </a:t>
            </a:r>
            <a:r>
              <a:rPr lang="en-IN" b="1" dirty="0"/>
              <a:t>Name</a:t>
            </a:r>
            <a:r>
              <a:rPr lang="en-IN" dirty="0"/>
              <a:t> nor </a:t>
            </a:r>
            <a:r>
              <a:rPr lang="en-IN" b="1" dirty="0"/>
              <a:t>Section</a:t>
            </a:r>
            <a:r>
              <a:rPr lang="en-IN" dirty="0"/>
              <a:t> alone is enough.</a:t>
            </a:r>
          </a:p>
          <a:p>
            <a:r>
              <a:rPr lang="en-IN" dirty="0"/>
              <a:t>But </a:t>
            </a:r>
            <a:r>
              <a:rPr lang="en-IN" b="1" dirty="0"/>
              <a:t>Name + Section</a:t>
            </a:r>
            <a:r>
              <a:rPr lang="en-IN" dirty="0"/>
              <a:t> together uniquely identify the student.</a:t>
            </a:r>
          </a:p>
          <a:p>
            <a:r>
              <a:rPr lang="en-IN" dirty="0"/>
              <a:t>That is a </a:t>
            </a:r>
            <a:r>
              <a:rPr lang="en-IN" b="1" dirty="0"/>
              <a:t>Composite Key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Class	</a:t>
            </a:r>
            <a:r>
              <a:rPr lang="en-IN" dirty="0" err="1"/>
              <a:t>seatno</a:t>
            </a:r>
            <a:r>
              <a:rPr lang="en-IN" dirty="0"/>
              <a:t>.              Name</a:t>
            </a:r>
          </a:p>
          <a:p>
            <a:r>
              <a:rPr lang="en-IN" dirty="0"/>
              <a:t>A	1	Riya</a:t>
            </a:r>
          </a:p>
          <a:p>
            <a:r>
              <a:rPr lang="en-IN" dirty="0"/>
              <a:t>B	1	Arjun</a:t>
            </a:r>
          </a:p>
          <a:p>
            <a:r>
              <a:rPr lang="en-IN" dirty="0"/>
              <a:t>A	2	Sneha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Now,    {class : A, </a:t>
            </a:r>
            <a:r>
              <a:rPr lang="en-IN" dirty="0" err="1"/>
              <a:t>Seatno</a:t>
            </a:r>
            <a:r>
              <a:rPr lang="en-IN" dirty="0"/>
              <a:t>. : 1} -&gt; Riya</a:t>
            </a:r>
          </a:p>
          <a:p>
            <a:r>
              <a:rPr lang="en-IN" dirty="0"/>
              <a:t>…….. No duplicates           here, </a:t>
            </a:r>
            <a:r>
              <a:rPr lang="en-IN" dirty="0" err="1"/>
              <a:t>class+seatno</a:t>
            </a:r>
            <a:r>
              <a:rPr lang="en-IN" dirty="0"/>
              <a:t>. = composite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208CF-008E-46B7-F9B9-3AF95FDB2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24118-EA7C-4566-9F39-92249B6904B1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6701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218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3901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97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4716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rahul@gmail.com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anita@gmail.com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2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9144000" cy="1946031"/>
          </a:xfrm>
          <a:prstGeom prst="rect">
            <a:avLst/>
          </a:prstGeom>
          <a:solidFill>
            <a:srgbClr val="4169E1"/>
          </a:solidFill>
          <a:ln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62467" y="228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rPr dirty="0"/>
              <a:t>Database Design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73867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0">
                <a:solidFill>
                  <a:srgbClr val="FFFFFF"/>
                </a:solidFill>
              </a:defRPr>
            </a:pPr>
            <a:r>
              <a:rPr dirty="0"/>
              <a:t>Constraints, Relationships, Cardinality &amp; Participation</a:t>
            </a:r>
            <a:br>
              <a:rPr dirty="0"/>
            </a:br>
            <a:r>
              <a:rPr dirty="0"/>
              <a:t>Advanced Database Concepts for BCA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4008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457200" y="994410"/>
            <a:ext cx="8229600" cy="68580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WHY Do We Need Tables?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10207" y="2207172"/>
            <a:ext cx="4270353" cy="3962400"/>
          </a:xfrm>
          <a:prstGeom prst="rect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45065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 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12420" y="2236313"/>
            <a:ext cx="3474720" cy="407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&amp; Chaos: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61312" y="2689730"/>
            <a:ext cx="4264968" cy="570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scattered in files with no organization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61312" y="3309320"/>
            <a:ext cx="3939540" cy="570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 to find specific information quickly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599" y="4018834"/>
            <a:ext cx="4069080" cy="570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Difficult to update records (duplicate data everywhere)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10206" y="4583338"/>
            <a:ext cx="4041753" cy="570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control over what data is valid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0207" y="5292852"/>
            <a:ext cx="3939540" cy="570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Different files have conflicting information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2207172"/>
            <a:ext cx="4168140" cy="3962400"/>
          </a:xfrm>
          <a:prstGeom prst="rect">
            <a:avLst/>
          </a:prstGeom>
          <a:noFill/>
          <a:ln w="254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817219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 ✅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46320" y="2201523"/>
            <a:ext cx="3474720" cy="407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Solution: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09160" y="2731770"/>
            <a:ext cx="3977640" cy="570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Organized structure - data in neat rows &amp; columns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09160" y="3364493"/>
            <a:ext cx="4168140" cy="570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Easy to search and sort information instantly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09160" y="4022940"/>
            <a:ext cx="3794760" cy="570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once, reflect everywhere automatically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09160" y="4722114"/>
            <a:ext cx="3977640" cy="570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enforce rules - only valid data allowed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09160" y="5292852"/>
            <a:ext cx="3977640" cy="570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source of truth - no conflicts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9441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What is a Table?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63090"/>
            <a:ext cx="7863840" cy="6400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5453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is a structured collection of related data organized in rows and columns. Each table represents a real-world entity.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268605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Student Table</a:t>
            </a:r>
            <a:endParaRPr lang="en-US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834583"/>
              </p:ext>
            </p:extLst>
          </p:nvPr>
        </p:nvGraphicFramePr>
        <p:xfrm>
          <a:off x="640080" y="3051810"/>
          <a:ext cx="7315200" cy="164592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Rajesh Kumar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rajesh@college.edu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Sharma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priya@college.edu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Amit Patel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amit@college.edu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946825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Terminology: • Rows (Records): Each row represents one student </a:t>
            </a:r>
          </a:p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      • Columns (Fields): StudentID, Name, Email, GPA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9441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Records &amp; Fields Explained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63090"/>
            <a:ext cx="3931920" cy="3474720"/>
          </a:xfrm>
          <a:prstGeom prst="rect">
            <a:avLst/>
          </a:prstGeom>
          <a:solidFill>
            <a:schemeClr val="bg1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4597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(Row)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254889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instance of an entity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291465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Example: One student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328041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(101, Rajesh, rajesh@col.edu)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364617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Contains all field values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401193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Stored as one row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0" y="1863090"/>
            <a:ext cx="3931920" cy="3474720"/>
          </a:xfrm>
          <a:prstGeom prst="rect">
            <a:avLst/>
          </a:prstGeom>
          <a:solidFill>
            <a:schemeClr val="bg1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04597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(Column)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00600" y="254889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type of attribute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00600" y="291465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Example: StudentID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00600" y="328041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Stores one piece of info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00600" y="364617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values same type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00600" y="401193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Defines table structure</a:t>
            </a:r>
            <a:endParaRPr 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400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94410"/>
            <a:ext cx="8229600" cy="557784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WHY Do We Need Records &amp; Fields?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68168" y="2345909"/>
            <a:ext cx="4312394" cy="3657600"/>
          </a:xfrm>
          <a:prstGeom prst="rect">
            <a:avLst/>
          </a:prstGeom>
          <a:solidFill>
            <a:schemeClr val="bg1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9415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 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1173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&amp; Chaos: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68168" y="2879400"/>
            <a:ext cx="4129512" cy="4842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distinguish between different pieces of data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68168" y="3503361"/>
            <a:ext cx="4312394" cy="578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Mixing rows and columns creates confusion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8168" y="4180963"/>
            <a:ext cx="4023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update just one person's data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8168" y="4752463"/>
            <a:ext cx="4129512" cy="225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ask specific questions (queries)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8168" y="5297976"/>
            <a:ext cx="404911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 size becomes unmanageable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63439" y="2333114"/>
            <a:ext cx="4312393" cy="3657600"/>
          </a:xfrm>
          <a:prstGeom prst="rect">
            <a:avLst/>
          </a:prstGeom>
          <a:solidFill>
            <a:schemeClr val="bg1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96094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 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241173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Solution: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63437" y="2958655"/>
            <a:ext cx="4312393" cy="3979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 separation: each record = one entity instance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63439" y="3639386"/>
            <a:ext cx="41652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field = specific attribute (organized clearly)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57133" y="4129323"/>
            <a:ext cx="41652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only what you need - efficiency!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57133" y="4614453"/>
            <a:ext cx="5113808" cy="468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ask: "Find all students with GPA &gt; 3.8"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57133" y="5049976"/>
            <a:ext cx="4083792" cy="7306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 grows but remains organized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B25F97-0F03-4825-076C-6E12BCF8A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285838"/>
              </p:ext>
            </p:extLst>
          </p:nvPr>
        </p:nvGraphicFramePr>
        <p:xfrm>
          <a:off x="860613" y="1598706"/>
          <a:ext cx="7028328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082">
                  <a:extLst>
                    <a:ext uri="{9D8B030D-6E8A-4147-A177-3AD203B41FA5}">
                      <a16:colId xmlns:a16="http://schemas.microsoft.com/office/drawing/2014/main" val="3348022647"/>
                    </a:ext>
                  </a:extLst>
                </a:gridCol>
                <a:gridCol w="1757082">
                  <a:extLst>
                    <a:ext uri="{9D8B030D-6E8A-4147-A177-3AD203B41FA5}">
                      <a16:colId xmlns:a16="http://schemas.microsoft.com/office/drawing/2014/main" val="3660827372"/>
                    </a:ext>
                  </a:extLst>
                </a:gridCol>
                <a:gridCol w="1757082">
                  <a:extLst>
                    <a:ext uri="{9D8B030D-6E8A-4147-A177-3AD203B41FA5}">
                      <a16:colId xmlns:a16="http://schemas.microsoft.com/office/drawing/2014/main" val="401831899"/>
                    </a:ext>
                  </a:extLst>
                </a:gridCol>
                <a:gridCol w="1757082">
                  <a:extLst>
                    <a:ext uri="{9D8B030D-6E8A-4147-A177-3AD203B41FA5}">
                      <a16:colId xmlns:a16="http://schemas.microsoft.com/office/drawing/2014/main" val="34533587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Roll No.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Name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Marks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Age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241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101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Vighnesh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95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20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345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101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Shwetha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150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-5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618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103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80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19</a:t>
                      </a:r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77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4021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3264"/>
          </a:solidFill>
          <a:ln>
            <a:solidFill>
              <a:srgbClr val="0A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Database Constraints?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83414"/>
            <a:ext cx="8412480" cy="1605998"/>
          </a:xfrm>
          <a:prstGeom prst="roundRect">
            <a:avLst/>
          </a:prstGeom>
          <a:solidFill>
            <a:srgbClr val="E6F0FA"/>
          </a:solidFill>
          <a:ln w="254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548640" y="1146333"/>
            <a:ext cx="80467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A3264"/>
                </a:solidFill>
              </a:defRPr>
            </a:pPr>
            <a:r>
              <a:rPr sz="2000" dirty="0"/>
              <a:t>Definition :</a:t>
            </a:r>
            <a:endParaRPr lang="en-US" sz="2000" dirty="0"/>
          </a:p>
          <a:p>
            <a:pPr>
              <a:defRPr sz="1000" b="0">
                <a:solidFill>
                  <a:srgbClr val="0A3264"/>
                </a:solidFill>
              </a:defRPr>
            </a:pPr>
            <a:r>
              <a:rPr lang="en-GB" sz="2000" dirty="0"/>
              <a:t>	</a:t>
            </a:r>
            <a:r>
              <a:rPr sz="2000" dirty="0"/>
              <a:t> "Constraints are</a:t>
            </a:r>
            <a:r>
              <a:rPr sz="2000" b="1" dirty="0"/>
              <a:t> rules </a:t>
            </a:r>
            <a:r>
              <a:rPr sz="2000" dirty="0"/>
              <a:t>that must be satisfied by data in the database. They check the </a:t>
            </a:r>
            <a:r>
              <a:rPr lang="en-US" sz="2000" dirty="0"/>
              <a:t>correctness</a:t>
            </a:r>
            <a:r>
              <a:rPr sz="2000" dirty="0"/>
              <a:t> of database tuples</a:t>
            </a:r>
            <a:r>
              <a:rPr lang="en-US" sz="2000" dirty="0"/>
              <a:t> (single row in a table)</a:t>
            </a:r>
            <a:r>
              <a:rPr sz="2000" dirty="0"/>
              <a:t> after any modification."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57028F-4B65-696A-5AE9-FEF167FCF469}"/>
              </a:ext>
            </a:extLst>
          </p:cNvPr>
          <p:cNvSpPr txBox="1"/>
          <p:nvPr/>
        </p:nvSpPr>
        <p:spPr>
          <a:xfrm>
            <a:off x="1286246" y="3028890"/>
            <a:ext cx="46221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002060"/>
                </a:solidFill>
              </a:rPr>
              <a:t>Constraints maintain three things 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E2AE02-69F2-AD61-A8B0-2EDFF92206A3}"/>
              </a:ext>
            </a:extLst>
          </p:cNvPr>
          <p:cNvSpPr txBox="1"/>
          <p:nvPr/>
        </p:nvSpPr>
        <p:spPr>
          <a:xfrm>
            <a:off x="2055603" y="3388011"/>
            <a:ext cx="518153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IN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Correct Data (Accuracy)</a:t>
            </a:r>
          </a:p>
          <a:p>
            <a:pPr rtl="0"/>
            <a:r>
              <a:rPr lang="en-IN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</a:t>
            </a:r>
          </a:p>
          <a:p>
            <a:pPr rtl="0"/>
            <a:r>
              <a:rPr lang="en-IN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Complete Data (Integrity)</a:t>
            </a:r>
          </a:p>
          <a:p>
            <a:pPr rtl="0"/>
            <a:r>
              <a:rPr lang="en-IN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</a:t>
            </a:r>
          </a:p>
          <a:p>
            <a:pPr rtl="0"/>
            <a:r>
              <a:rPr lang="en-IN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Consistent Data (</a:t>
            </a:r>
            <a:r>
              <a:rPr lang="en-IN" sz="2000" dirty="0"/>
              <a:t>uniform</a:t>
            </a:r>
            <a:r>
              <a:rPr lang="en-IN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reliable data)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3264"/>
          </a:solidFill>
          <a:ln>
            <a:solidFill>
              <a:srgbClr val="0A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Without </a:t>
            </a:r>
            <a:r>
              <a:t>Constraints: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4114800" cy="2011680"/>
          </a:xfrm>
          <a:prstGeom prst="roundRect">
            <a:avLst/>
          </a:prstGeom>
          <a:solidFill>
            <a:srgbClr val="FFFAFA"/>
          </a:solidFill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" name="TextBox 4"/>
          <p:cNvSpPr txBox="1"/>
          <p:nvPr/>
        </p:nvSpPr>
        <p:spPr>
          <a:xfrm>
            <a:off x="1326994" y="1188720"/>
            <a:ext cx="3016405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143C"/>
                </a:solidFill>
              </a:defRPr>
            </a:pPr>
            <a:r>
              <a:rPr sz="1900" dirty="0"/>
              <a:t>❌ Duplicate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376" y="1621386"/>
            <a:ext cx="365202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82828"/>
                </a:solidFill>
              </a:defRPr>
            </a:pPr>
            <a:r>
              <a:rPr sz="1900" dirty="0"/>
              <a:t>Multiple students with</a:t>
            </a:r>
            <a:br>
              <a:rPr sz="1900" dirty="0"/>
            </a:br>
            <a:r>
              <a:rPr sz="1900" dirty="0"/>
              <a:t>ID 'S001' in same 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097280"/>
            <a:ext cx="4114800" cy="2011680"/>
          </a:xfrm>
          <a:prstGeom prst="roundRect">
            <a:avLst/>
          </a:prstGeom>
          <a:solidFill>
            <a:srgbClr val="FFFAFA"/>
          </a:solidFill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5642516" y="1188720"/>
            <a:ext cx="2907123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143C"/>
                </a:solidFill>
              </a:defRPr>
            </a:pPr>
            <a:r>
              <a:rPr sz="1900" dirty="0"/>
              <a:t>❌ Invalid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8478" y="1689196"/>
            <a:ext cx="372116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82828"/>
                </a:solidFill>
              </a:defRPr>
            </a:pPr>
            <a:r>
              <a:rPr sz="1900" dirty="0"/>
              <a:t>Age = 250, Salary = -5000</a:t>
            </a:r>
            <a:br>
              <a:rPr sz="1900" dirty="0"/>
            </a:br>
            <a:endParaRPr sz="1900" dirty="0"/>
          </a:p>
        </p:txBody>
      </p:sp>
      <p:sp>
        <p:nvSpPr>
          <p:cNvPr id="10" name="Rounded Rectangle 9"/>
          <p:cNvSpPr/>
          <p:nvPr/>
        </p:nvSpPr>
        <p:spPr>
          <a:xfrm>
            <a:off x="365760" y="3474720"/>
            <a:ext cx="4114800" cy="2011680"/>
          </a:xfrm>
          <a:prstGeom prst="roundRect">
            <a:avLst/>
          </a:prstGeom>
          <a:solidFill>
            <a:srgbClr val="FFFAFA"/>
          </a:solidFill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TextBox 10"/>
          <p:cNvSpPr txBox="1"/>
          <p:nvPr/>
        </p:nvSpPr>
        <p:spPr>
          <a:xfrm>
            <a:off x="1126272" y="3566160"/>
            <a:ext cx="3217127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143C"/>
                </a:solidFill>
              </a:defRPr>
            </a:pPr>
            <a:r>
              <a:rPr sz="1900" dirty="0"/>
              <a:t>❌ Referential Anomalies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44660"/>
            <a:ext cx="384048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82828"/>
                </a:solidFill>
              </a:defRPr>
            </a:pPr>
            <a:r>
              <a:rPr sz="1900" dirty="0"/>
              <a:t>Student with </a:t>
            </a:r>
            <a:r>
              <a:rPr sz="1900" dirty="0" err="1"/>
              <a:t>DeptID</a:t>
            </a:r>
            <a:r>
              <a:rPr sz="1900" dirty="0"/>
              <a:t> = 'D99'</a:t>
            </a:r>
            <a:br>
              <a:rPr sz="1900" dirty="0"/>
            </a:br>
            <a:r>
              <a:rPr sz="1900" dirty="0"/>
              <a:t>(department doesn't exist)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474720"/>
            <a:ext cx="4114800" cy="2011680"/>
          </a:xfrm>
          <a:prstGeom prst="roundRect">
            <a:avLst/>
          </a:prstGeom>
          <a:solidFill>
            <a:srgbClr val="FFFAFA"/>
          </a:solidFill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5486400" y="3566160"/>
            <a:ext cx="30632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143C"/>
                </a:solidFill>
              </a:defRPr>
            </a:pPr>
            <a:r>
              <a:rPr sz="1900" dirty="0"/>
              <a:t>❌ Data Inconsistency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965372"/>
            <a:ext cx="384048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282828"/>
                </a:solidFill>
              </a:defRPr>
            </a:pPr>
            <a:r>
              <a:rPr sz="1900" dirty="0"/>
              <a:t>Same student with</a:t>
            </a:r>
            <a:r>
              <a:rPr lang="en-US" sz="1900" dirty="0"/>
              <a:t> </a:t>
            </a:r>
            <a:r>
              <a:rPr sz="1900" dirty="0"/>
              <a:t>different names in records</a:t>
            </a:r>
            <a:r>
              <a:rPr lang="en-US" sz="1900" dirty="0"/>
              <a:t>.</a:t>
            </a:r>
          </a:p>
          <a:p>
            <a:pPr>
              <a:defRPr sz="900" b="0">
                <a:solidFill>
                  <a:srgbClr val="282828"/>
                </a:solidFill>
              </a:defRPr>
            </a:pPr>
            <a:r>
              <a:rPr lang="en-GB" sz="1900" dirty="0"/>
              <a:t>	Amit K / Amit Kumar / AK</a:t>
            </a:r>
            <a:endParaRPr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Database Constraints?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22960"/>
          </a:xfrm>
          <a:prstGeom prst="round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are </a:t>
            </a:r>
            <a:r>
              <a:rPr lang="en-US" sz="2000" b="1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r>
              <a:rPr lang="en-US" sz="20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enforced by the database to maintain data integrity, consistency, and accuracy. They prevent invalid data entry.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5137573"/>
            <a:ext cx="8229600" cy="822960"/>
          </a:xfrm>
          <a:prstGeom prst="rect">
            <a:avLst/>
          </a:prstGeom>
          <a:solidFill>
            <a:srgbClr val="21295C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5229013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STUDENT table must ensure StudentID is unique and not NULL, and age values must be between 17-40 to maintain realistic data.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A836F9-6531-48B3-0418-38EE0B989542}"/>
              </a:ext>
            </a:extLst>
          </p:cNvPr>
          <p:cNvSpPr txBox="1"/>
          <p:nvPr/>
        </p:nvSpPr>
        <p:spPr>
          <a:xfrm>
            <a:off x="457200" y="2261983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3264"/>
                </a:solidFill>
              </a:defRPr>
            </a:pPr>
            <a:r>
              <a:rPr sz="2000" dirty="0"/>
              <a:t>Why Constraints Are Critical: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1566CD-80A9-9C59-0D3E-9585C176B9FE}"/>
              </a:ext>
            </a:extLst>
          </p:cNvPr>
          <p:cNvSpPr txBox="1"/>
          <p:nvPr/>
        </p:nvSpPr>
        <p:spPr>
          <a:xfrm>
            <a:off x="822960" y="3463091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1100" b="0">
                <a:solidFill>
                  <a:srgbClr val="282828"/>
                </a:solidFill>
              </a:defRPr>
            </a:pPr>
            <a:r>
              <a:rPr sz="2000" dirty="0"/>
              <a:t>Maintain data integrity and consistency across all tables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CF292A-2DE6-975E-D5C9-F80E9C08807D}"/>
              </a:ext>
            </a:extLst>
          </p:cNvPr>
          <p:cNvSpPr txBox="1"/>
          <p:nvPr/>
        </p:nvSpPr>
        <p:spPr>
          <a:xfrm>
            <a:off x="822960" y="3070125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1100" b="0">
                <a:solidFill>
                  <a:srgbClr val="282828"/>
                </a:solidFill>
              </a:defRPr>
            </a:pPr>
            <a:r>
              <a:rPr sz="2000" dirty="0"/>
              <a:t>Prevent invalid or incorrect data entry automatically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C3D931-031A-9F87-4589-0FC9AD65E559}"/>
              </a:ext>
            </a:extLst>
          </p:cNvPr>
          <p:cNvSpPr txBox="1"/>
          <p:nvPr/>
        </p:nvSpPr>
        <p:spPr>
          <a:xfrm>
            <a:off x="832995" y="3881705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1100" b="0">
                <a:solidFill>
                  <a:srgbClr val="282828"/>
                </a:solidFill>
              </a:defRPr>
            </a:pPr>
            <a:r>
              <a:rPr lang="en-US" sz="2000" dirty="0"/>
              <a:t>Follows</a:t>
            </a:r>
            <a:r>
              <a:rPr sz="2000" dirty="0"/>
              <a:t> business rules at the database level (not just application code)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6A2DAD-E659-4483-A97E-A4AA6F99A361}"/>
              </a:ext>
            </a:extLst>
          </p:cNvPr>
          <p:cNvSpPr txBox="1"/>
          <p:nvPr/>
        </p:nvSpPr>
        <p:spPr>
          <a:xfrm>
            <a:off x="822960" y="2677159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1100" b="0">
                <a:solidFill>
                  <a:srgbClr val="282828"/>
                </a:solidFill>
              </a:defRPr>
            </a:pPr>
            <a:r>
              <a:rPr lang="en-US" sz="2000" dirty="0"/>
              <a:t>D</a:t>
            </a:r>
            <a:r>
              <a:rPr sz="2000" dirty="0"/>
              <a:t>ata accuracy</a:t>
            </a:r>
            <a:r>
              <a:rPr lang="en-US" sz="2000" dirty="0"/>
              <a:t> (only correct info)</a:t>
            </a:r>
            <a:endParaRPr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6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Constraints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37056"/>
            <a:ext cx="8229600" cy="1014983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184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965960" y="1618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must always have a value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89120" y="1482853"/>
            <a:ext cx="2103120" cy="609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Stud_Registration_no</a:t>
            </a: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NOT NULL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629400" y="1748032"/>
            <a:ext cx="1874520" cy="281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save student without Reg no.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270662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65960" y="27980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must be different (no duplicates)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89120" y="27807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UNIQUE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29400" y="29352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have two students with same email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8912" y="3701290"/>
            <a:ext cx="8229600" cy="804672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" y="384454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65960" y="38445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must satisfy a condition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89120" y="38445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CHECK (Age &gt;= 18)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29400" y="3995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insert age = 15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1584" y="4877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965960" y="48778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value if not provided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389120" y="48778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DEFAULT 'Active'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29400" y="5029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- provides default if empty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897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" y="777240"/>
            <a:ext cx="2514600" cy="2197608"/>
          </a:xfrm>
          <a:prstGeom prst="roundRect">
            <a:avLst/>
          </a:prstGeom>
          <a:solidFill>
            <a:srgbClr val="E8F4F8"/>
          </a:solidFill>
          <a:ln w="25400">
            <a:solidFill>
              <a:srgbClr val="065A82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42900" y="8793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1460" y="1184147"/>
            <a:ext cx="2514600" cy="1638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Unique identifier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be NULL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per table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Example: StudentID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788920" y="777240"/>
            <a:ext cx="2843784" cy="2197608"/>
          </a:xfrm>
          <a:prstGeom prst="round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23844" y="8793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</a:t>
            </a:r>
            <a:endParaRPr lang="en-US" sz="1600" b="1" dirty="0"/>
          </a:p>
        </p:txBody>
      </p:sp>
      <p:sp>
        <p:nvSpPr>
          <p:cNvPr id="8" name="Text 6"/>
          <p:cNvSpPr/>
          <p:nvPr/>
        </p:nvSpPr>
        <p:spPr>
          <a:xfrm>
            <a:off x="2880360" y="1268950"/>
            <a:ext cx="2546604" cy="1434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values unique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be NULL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Multiple per table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Example: Email, Phone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769864" y="777240"/>
            <a:ext cx="3236976" cy="2197608"/>
          </a:xfrm>
          <a:prstGeom prst="roundRect">
            <a:avLst/>
          </a:prstGeom>
          <a:solidFill>
            <a:srgbClr val="E8F4F8"/>
          </a:solidFill>
          <a:ln w="25400">
            <a:solidFill>
              <a:srgbClr val="21295C"/>
            </a:solidFill>
            <a:prstDash val="solid"/>
          </a:ln>
          <a:effectLst>
            <a:outerShdw blurRad="76200" dist="254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99632" y="8793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88736" y="1266444"/>
            <a:ext cx="2798064" cy="1449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References PK elsewhere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Links tables together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Enforces referential integrity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Example: DepartmentID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2964" y="2948938"/>
            <a:ext cx="6399278" cy="545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DEPARTMENT and STUDENT Table with Keys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915736"/>
              </p:ext>
            </p:extLst>
          </p:nvPr>
        </p:nvGraphicFramePr>
        <p:xfrm>
          <a:off x="3518916" y="3429000"/>
          <a:ext cx="3593591" cy="1479558"/>
        </p:xfrm>
        <a:graphic>
          <a:graphicData uri="http://schemas.openxmlformats.org/drawingml/2006/table">
            <a:tbl>
              <a:tblPr/>
              <a:tblGrid>
                <a:gridCol w="960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7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StudentID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(PK)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Email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(UK)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4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S001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Amit Kumar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amit@edu.com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4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S002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Priya Sharma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priya@edu.com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4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S003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Rajesh Patel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rajesh@edu.com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81D9611-C00C-8252-EB72-73AA5EA58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178756"/>
              </p:ext>
            </p:extLst>
          </p:nvPr>
        </p:nvGraphicFramePr>
        <p:xfrm>
          <a:off x="666226" y="3452499"/>
          <a:ext cx="2099834" cy="1432560"/>
        </p:xfrm>
        <a:graphic>
          <a:graphicData uri="http://schemas.openxmlformats.org/drawingml/2006/table">
            <a:tbl>
              <a:tblPr/>
              <a:tblGrid>
                <a:gridCol w="1049917">
                  <a:extLst>
                    <a:ext uri="{9D8B030D-6E8A-4147-A177-3AD203B41FA5}">
                      <a16:colId xmlns:a16="http://schemas.microsoft.com/office/drawing/2014/main" val="2929865719"/>
                    </a:ext>
                  </a:extLst>
                </a:gridCol>
                <a:gridCol w="1049917">
                  <a:extLst>
                    <a:ext uri="{9D8B030D-6E8A-4147-A177-3AD203B41FA5}">
                      <a16:colId xmlns:a16="http://schemas.microsoft.com/office/drawing/2014/main" val="3110996506"/>
                    </a:ext>
                  </a:extLst>
                </a:gridCol>
              </a:tblGrid>
              <a:tr h="4766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</a:rPr>
                        <a:t>DeptID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(PK)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 err="1">
                          <a:solidFill>
                            <a:schemeClr val="bg1"/>
                          </a:solidFill>
                        </a:rPr>
                        <a:t>DeptName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752330"/>
                  </a:ext>
                </a:extLst>
              </a:tr>
              <a:tr h="303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D01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CSE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8376290"/>
                  </a:ext>
                </a:extLst>
              </a:tr>
              <a:tr h="303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D02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ECE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27590"/>
                  </a:ext>
                </a:extLst>
              </a:tr>
              <a:tr h="303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D03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ME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306877"/>
                  </a:ext>
                </a:extLst>
              </a:tr>
            </a:tbl>
          </a:graphicData>
        </a:graphic>
      </p:graphicFrame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0EE2EEE9-0FB3-3930-1EDE-B41F15DBC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819646"/>
              </p:ext>
            </p:extLst>
          </p:nvPr>
        </p:nvGraphicFramePr>
        <p:xfrm>
          <a:off x="1221891" y="5117043"/>
          <a:ext cx="4994185" cy="1479558"/>
        </p:xfrm>
        <a:graphic>
          <a:graphicData uri="http://schemas.openxmlformats.org/drawingml/2006/table">
            <a:tbl>
              <a:tblPr/>
              <a:tblGrid>
                <a:gridCol w="1011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32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1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5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StudentID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(PK)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Email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(UK)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</a:rPr>
                        <a:t>DeptID</a:t>
                      </a:r>
                      <a:endParaRPr lang="en-US" sz="1400" dirty="0"/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(FK)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4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S001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Amit Kumar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amit@edu.com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D01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4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S002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Priya Sharma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priya@edu.com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D02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4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S003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Rajesh Patel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rajesh@edu.com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D01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3264"/>
          </a:solidFill>
          <a:ln>
            <a:solidFill>
              <a:srgbClr val="0A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Foreign Keys?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79"/>
            <a:ext cx="8412480" cy="1550700"/>
          </a:xfrm>
          <a:prstGeom prst="roundRect">
            <a:avLst/>
          </a:prstGeom>
          <a:solidFill>
            <a:srgbClr val="F5EBFA"/>
          </a:solidFill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A3264"/>
                </a:solidFill>
              </a:defRPr>
            </a:pPr>
            <a:r>
              <a:rPr sz="2000" dirty="0"/>
              <a:t>Definition </a:t>
            </a:r>
            <a:r>
              <a:rPr lang="en-US" sz="2000" dirty="0"/>
              <a:t>: </a:t>
            </a:r>
          </a:p>
          <a:p>
            <a:pPr>
              <a:defRPr sz="1000" b="0">
                <a:solidFill>
                  <a:srgbClr val="0A3264"/>
                </a:solidFill>
              </a:defRPr>
            </a:pPr>
            <a:r>
              <a:rPr lang="en-US" sz="2000" dirty="0"/>
              <a:t>	</a:t>
            </a:r>
            <a:r>
              <a:rPr sz="2000" dirty="0"/>
              <a:t>"A Foreign Key is a set of fields in one relation that references the primary key of another relation. It creates a link between tables and enforces referential integrity."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45150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A3264"/>
                </a:solidFill>
              </a:defRPr>
            </a:pPr>
            <a:r>
              <a:rPr sz="2000" dirty="0"/>
              <a:t>Purposes of Foreign Keys: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12850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rPr sz="2000" dirty="0"/>
              <a:t>🔗 Establish relationships between tables in a relational database</a:t>
            </a:r>
            <a:r>
              <a:rPr lang="en-US" sz="2000" dirty="0"/>
              <a:t> </a:t>
            </a:r>
            <a:endParaRPr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548640" y="4381936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1000" b="0">
                <a:solidFill>
                  <a:srgbClr val="282828"/>
                </a:solidFill>
              </a:defRPr>
            </a:pPr>
            <a:r>
              <a:rPr sz="2000" dirty="0"/>
              <a:t>Enforce referential integrity - ensure data consistency across related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50967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1000" b="0">
                <a:solidFill>
                  <a:srgbClr val="282828"/>
                </a:solidFill>
              </a:defRPr>
            </a:pPr>
            <a:r>
              <a:rPr sz="2000" dirty="0"/>
              <a:t>Prevent orphaned records (child records without parent)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19998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1000" b="0">
                <a:solidFill>
                  <a:srgbClr val="282828"/>
                </a:solidFill>
              </a:defRPr>
            </a:pPr>
            <a:r>
              <a:rPr lang="en-US" sz="2000" dirty="0"/>
              <a:t>To maintain data integrity /referential integrity</a:t>
            </a:r>
            <a:endParaRPr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CF216A-BB19-72E2-AC9E-7CA5E272B980}"/>
              </a:ext>
            </a:extLst>
          </p:cNvPr>
          <p:cNvSpPr txBox="1"/>
          <p:nvPr/>
        </p:nvSpPr>
        <p:spPr>
          <a:xfrm>
            <a:off x="548640" y="5789029"/>
            <a:ext cx="777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1000" b="0">
                <a:solidFill>
                  <a:srgbClr val="282828"/>
                </a:solidFill>
              </a:defRPr>
            </a:pPr>
            <a:r>
              <a:rPr lang="en-US" sz="2000" dirty="0"/>
              <a:t>Avoid data redundancy and inconsistency</a:t>
            </a:r>
            <a:endParaRPr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3264"/>
          </a:solidFill>
          <a:ln>
            <a:solidFill>
              <a:srgbClr val="0A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Without Foreign Keys: Data Inconsistency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443" y="1130358"/>
            <a:ext cx="39203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143C"/>
                </a:solidFill>
              </a:defRPr>
            </a:pPr>
            <a:r>
              <a:rPr sz="2800" dirty="0"/>
              <a:t>STUDENT Table (No FK):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831858"/>
            <a:ext cx="4206240" cy="4639112"/>
          </a:xfrm>
          <a:prstGeom prst="roundRect">
            <a:avLst/>
          </a:prstGeom>
          <a:solidFill>
            <a:srgbClr val="FFFAFA"/>
          </a:solidFill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1" y="2188418"/>
            <a:ext cx="331784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282828"/>
                </a:solidFill>
              </a:defRPr>
            </a:pPr>
            <a:r>
              <a:rPr sz="2000" dirty="0" err="1"/>
              <a:t>StudentID</a:t>
            </a:r>
            <a:r>
              <a:rPr sz="2000" dirty="0"/>
              <a:t>  | </a:t>
            </a:r>
            <a:r>
              <a:rPr sz="2000" dirty="0" err="1"/>
              <a:t>DeptID</a:t>
            </a:r>
            <a:br>
              <a:rPr sz="2000" dirty="0"/>
            </a:br>
            <a:r>
              <a:rPr sz="2000" dirty="0"/>
              <a:t>S001        </a:t>
            </a:r>
            <a:r>
              <a:rPr lang="en-US" sz="2000" dirty="0"/>
              <a:t>   </a:t>
            </a:r>
            <a:r>
              <a:rPr sz="2000" dirty="0"/>
              <a:t>| D01    ✓</a:t>
            </a:r>
            <a:br>
              <a:rPr sz="2000" dirty="0"/>
            </a:br>
            <a:r>
              <a:rPr sz="2000" dirty="0"/>
              <a:t>S002        </a:t>
            </a:r>
            <a:r>
              <a:rPr lang="en-US" sz="2000" dirty="0"/>
              <a:t>   </a:t>
            </a:r>
            <a:r>
              <a:rPr sz="2000" dirty="0"/>
              <a:t>| D99    ✗</a:t>
            </a:r>
            <a:br>
              <a:rPr sz="2000" dirty="0"/>
            </a:br>
            <a:r>
              <a:rPr sz="2000" dirty="0"/>
              <a:t>S003        </a:t>
            </a:r>
            <a:r>
              <a:rPr lang="en-US" sz="2000" dirty="0"/>
              <a:t>   </a:t>
            </a:r>
            <a:r>
              <a:rPr sz="2000" dirty="0"/>
              <a:t>| NULL   ✗</a:t>
            </a:r>
            <a:br>
              <a:rPr sz="2000" dirty="0"/>
            </a:br>
            <a:br>
              <a:rPr sz="2000" dirty="0"/>
            </a:br>
            <a:br>
              <a:rPr sz="2000" dirty="0"/>
            </a:br>
            <a:r>
              <a:rPr sz="2000" dirty="0"/>
              <a:t>Problems:</a:t>
            </a:r>
            <a:endParaRPr lang="en-US" sz="2000" dirty="0"/>
          </a:p>
          <a:p>
            <a:pPr>
              <a:defRPr sz="800" b="0">
                <a:solidFill>
                  <a:srgbClr val="282828"/>
                </a:solidFill>
              </a:defRPr>
            </a:pPr>
            <a:br>
              <a:rPr sz="2000" dirty="0"/>
            </a:br>
            <a:r>
              <a:rPr sz="2000" dirty="0"/>
              <a:t>❌ D99 doesn't exist</a:t>
            </a:r>
            <a:br>
              <a:rPr sz="2000" dirty="0"/>
            </a:br>
            <a:r>
              <a:rPr sz="2000" dirty="0"/>
              <a:t>❌ No department assigned</a:t>
            </a:r>
            <a:br>
              <a:rPr sz="2000" dirty="0"/>
            </a:br>
            <a:r>
              <a:rPr sz="2000" dirty="0"/>
              <a:t>❌ Database allows 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097280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8B22"/>
                </a:solidFill>
              </a:defRPr>
            </a:pPr>
            <a:r>
              <a:rPr sz="2800" dirty="0"/>
              <a:t>With FK Constraint: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31858"/>
            <a:ext cx="4206240" cy="4639112"/>
          </a:xfrm>
          <a:prstGeom prst="roundRect">
            <a:avLst/>
          </a:prstGeom>
          <a:solidFill>
            <a:srgbClr val="F5FFF5"/>
          </a:solidFill>
          <a:ln w="254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2188418"/>
            <a:ext cx="38404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282828"/>
                </a:solidFill>
              </a:defRPr>
            </a:pPr>
            <a:r>
              <a:rPr sz="2200" dirty="0" err="1"/>
              <a:t>StudentID</a:t>
            </a:r>
            <a:r>
              <a:rPr sz="2200" dirty="0"/>
              <a:t>  | </a:t>
            </a:r>
            <a:r>
              <a:rPr sz="2200" dirty="0" err="1"/>
              <a:t>DeptID</a:t>
            </a:r>
            <a:br>
              <a:rPr sz="2200" dirty="0"/>
            </a:br>
            <a:r>
              <a:rPr sz="2200" dirty="0"/>
              <a:t>S001        </a:t>
            </a:r>
            <a:r>
              <a:rPr lang="en-US" sz="2200" dirty="0"/>
              <a:t>   </a:t>
            </a:r>
            <a:r>
              <a:rPr sz="2200" dirty="0"/>
              <a:t>| D01    ✓</a:t>
            </a:r>
            <a:br>
              <a:rPr sz="2200" dirty="0"/>
            </a:br>
            <a:r>
              <a:rPr sz="2200" dirty="0"/>
              <a:t>S002        </a:t>
            </a:r>
            <a:r>
              <a:rPr lang="en-US" sz="2200" dirty="0"/>
              <a:t>   </a:t>
            </a:r>
            <a:r>
              <a:rPr sz="2200" dirty="0"/>
              <a:t>| D99    ✗ REJECTED!</a:t>
            </a:r>
            <a:br>
              <a:rPr sz="2200" dirty="0"/>
            </a:br>
            <a:r>
              <a:rPr sz="2200" dirty="0"/>
              <a:t>S003        </a:t>
            </a:r>
            <a:r>
              <a:rPr lang="en-US" sz="2200" dirty="0"/>
              <a:t>   </a:t>
            </a:r>
            <a:r>
              <a:rPr sz="2200" dirty="0"/>
              <a:t>| NULL   ✓ (optional)</a:t>
            </a:r>
            <a:br>
              <a:rPr sz="2200" dirty="0"/>
            </a:br>
            <a:br>
              <a:rPr sz="2200" dirty="0"/>
            </a:br>
            <a:br>
              <a:rPr sz="2200" dirty="0"/>
            </a:br>
            <a:r>
              <a:rPr sz="2200" dirty="0"/>
              <a:t>Benefits:</a:t>
            </a:r>
            <a:endParaRPr lang="en-US" sz="2200" dirty="0"/>
          </a:p>
          <a:p>
            <a:pPr>
              <a:defRPr sz="800" b="0">
                <a:solidFill>
                  <a:srgbClr val="282828"/>
                </a:solidFill>
              </a:defRPr>
            </a:pPr>
            <a:br>
              <a:rPr sz="2200" dirty="0"/>
            </a:br>
            <a:r>
              <a:rPr sz="2200" dirty="0"/>
              <a:t>✓ Only valid </a:t>
            </a:r>
            <a:r>
              <a:rPr sz="2200" dirty="0" err="1"/>
              <a:t>DeptIDs</a:t>
            </a:r>
            <a:br>
              <a:rPr sz="2200" dirty="0"/>
            </a:br>
            <a:r>
              <a:rPr sz="2200" dirty="0"/>
              <a:t>✓ Database enforces it</a:t>
            </a:r>
            <a:br>
              <a:rPr sz="2200" dirty="0"/>
            </a:br>
            <a:r>
              <a:rPr sz="2200" dirty="0"/>
              <a:t>✓ No bad data enters</a:t>
            </a:r>
            <a:br>
              <a:rPr sz="2200" dirty="0"/>
            </a:br>
            <a:r>
              <a:rPr sz="2200" dirty="0"/>
              <a:t>✓ Automatic validation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E1F6DF-9476-9BF2-E728-1E6D30134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529660"/>
              </p:ext>
            </p:extLst>
          </p:nvPr>
        </p:nvGraphicFramePr>
        <p:xfrm>
          <a:off x="170688" y="960118"/>
          <a:ext cx="8575380" cy="5413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8460">
                  <a:extLst>
                    <a:ext uri="{9D8B030D-6E8A-4147-A177-3AD203B41FA5}">
                      <a16:colId xmlns:a16="http://schemas.microsoft.com/office/drawing/2014/main" val="160604891"/>
                    </a:ext>
                  </a:extLst>
                </a:gridCol>
                <a:gridCol w="2858460">
                  <a:extLst>
                    <a:ext uri="{9D8B030D-6E8A-4147-A177-3AD203B41FA5}">
                      <a16:colId xmlns:a16="http://schemas.microsoft.com/office/drawing/2014/main" val="1931758494"/>
                    </a:ext>
                  </a:extLst>
                </a:gridCol>
                <a:gridCol w="2858460">
                  <a:extLst>
                    <a:ext uri="{9D8B030D-6E8A-4147-A177-3AD203B41FA5}">
                      <a16:colId xmlns:a16="http://schemas.microsoft.com/office/drawing/2014/main" val="293339372"/>
                    </a:ext>
                  </a:extLst>
                </a:gridCol>
              </a:tblGrid>
              <a:tr h="4262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Rule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Explanation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0229978"/>
                  </a:ext>
                </a:extLst>
              </a:tr>
              <a:tr h="1023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1. Referenced column must be PK or UNIQUE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FK must point to a unique column in the parent table.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>
                          <a:latin typeface="Courier New" panose="02070309020205020404" pitchFamily="49" charset="0"/>
                        </a:rPr>
                        <a:t>Student.DeptID</a:t>
                      </a:r>
                      <a:r>
                        <a:rPr lang="en-IN" sz="1800" dirty="0"/>
                        <a:t> → </a:t>
                      </a:r>
                      <a:r>
                        <a:rPr lang="en-IN" sz="1800" dirty="0" err="1">
                          <a:latin typeface="Courier New" panose="02070309020205020404" pitchFamily="49" charset="0"/>
                        </a:rPr>
                        <a:t>Department.DeptID</a:t>
                      </a:r>
                      <a:r>
                        <a:rPr lang="en-IN" sz="1800" dirty="0">
                          <a:latin typeface="Courier New" panose="02070309020205020404" pitchFamily="49" charset="0"/>
                        </a:rPr>
                        <a:t> (PK)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0323982"/>
                  </a:ext>
                </a:extLst>
              </a:tr>
              <a:tr h="1321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2. Data types must match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Parent and child columns should have the same data type and compatible size.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Both </a:t>
                      </a:r>
                      <a:r>
                        <a:rPr lang="en-IN" sz="1800" dirty="0">
                          <a:latin typeface="Courier New" panose="02070309020205020404" pitchFamily="49" charset="0"/>
                        </a:rPr>
                        <a:t>VARCHAR(5)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0220147"/>
                  </a:ext>
                </a:extLst>
              </a:tr>
              <a:tr h="1321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3. Parent value must exist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You cannot insert a Foreign Key value that doesn't exist in the parent table.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>
                          <a:latin typeface="Courier New" panose="02070309020205020404" pitchFamily="49" charset="0"/>
                        </a:rPr>
                        <a:t>DeptID</a:t>
                      </a:r>
                      <a:r>
                        <a:rPr lang="en-IN" sz="1800" dirty="0">
                          <a:latin typeface="Courier New" panose="02070309020205020404" pitchFamily="49" charset="0"/>
                        </a:rPr>
                        <a:t> = D99</a:t>
                      </a:r>
                      <a:r>
                        <a:rPr lang="en-IN" sz="1800" dirty="0"/>
                        <a:t> ❌</a:t>
                      </a:r>
                    </a:p>
                    <a:p>
                      <a:pPr>
                        <a:buNone/>
                      </a:pPr>
                      <a:r>
                        <a:rPr lang="en-IN" sz="1800" dirty="0"/>
                        <a:t>        if D99 doesn’t exist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8712795"/>
                  </a:ext>
                </a:extLst>
              </a:tr>
              <a:tr h="1321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4. NULL handling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FK may be </a:t>
                      </a:r>
                      <a:r>
                        <a:rPr lang="en-IN" sz="1800" dirty="0">
                          <a:latin typeface="Courier New" panose="02070309020205020404" pitchFamily="49" charset="0"/>
                        </a:rPr>
                        <a:t>NULL</a:t>
                      </a:r>
                      <a:r>
                        <a:rPr lang="en-IN" sz="1800" dirty="0"/>
                        <a:t> if the relationship is optional; otherwise use </a:t>
                      </a:r>
                      <a:r>
                        <a:rPr lang="en-IN" sz="1800" dirty="0">
                          <a:latin typeface="Courier New" panose="02070309020205020404" pitchFamily="49" charset="0"/>
                        </a:rPr>
                        <a:t>NOT NULL</a:t>
                      </a:r>
                      <a:r>
                        <a:rPr lang="en-IN" sz="18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/>
                        <a:t>ScholarshipID</a:t>
                      </a:r>
                      <a:r>
                        <a:rPr lang="en-IN" sz="1800" dirty="0"/>
                        <a:t> can be </a:t>
                      </a:r>
                      <a:r>
                        <a:rPr lang="en-IN" sz="1800" dirty="0">
                          <a:latin typeface="Courier New" panose="02070309020205020404" pitchFamily="49" charset="0"/>
                        </a:rPr>
                        <a:t>NULL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437647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3D07CE6-F88E-586F-CDD3-FE6A7D2833CD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3264"/>
          </a:solidFill>
          <a:ln>
            <a:solidFill>
              <a:srgbClr val="0A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38298B-2438-69C9-EBDB-99D80A5357AA}"/>
              </a:ext>
            </a:extLst>
          </p:cNvPr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Conditions for Creating Foreign Keys</a:t>
            </a:r>
          </a:p>
        </p:txBody>
      </p:sp>
    </p:spTree>
    <p:extLst>
      <p:ext uri="{BB962C8B-B14F-4D97-AF65-F5344CB8AC3E}">
        <p14:creationId xmlns:p14="http://schemas.microsoft.com/office/powerpoint/2010/main" val="2787669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&amp; Foreign Keys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640080"/>
          </a:xfrm>
          <a:prstGeom prst="roundRect">
            <a:avLst/>
          </a:prstGeom>
          <a:solidFill>
            <a:srgbClr val="E8F4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ensures that Foreign Key values must match Primary Key values in the referenced table, or be NULL.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21746" y="235036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 (DEPARTMENT)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425631"/>
              </p:ext>
            </p:extLst>
          </p:nvPr>
        </p:nvGraphicFramePr>
        <p:xfrm>
          <a:off x="457200" y="2729753"/>
          <a:ext cx="3434080" cy="1740027"/>
        </p:xfrm>
        <a:graphic>
          <a:graphicData uri="http://schemas.openxmlformats.org/drawingml/2006/table">
            <a:tbl>
              <a:tblPr/>
              <a:tblGrid>
                <a:gridCol w="1437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6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DeptID (PK)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DeptName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D01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Computer Science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D02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Business Admin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D03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Engineering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23478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Table (STUDENT)</a:t>
            </a:r>
            <a:endParaRPr lang="en-US" sz="20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015354"/>
              </p:ext>
            </p:extLst>
          </p:nvPr>
        </p:nvGraphicFramePr>
        <p:xfrm>
          <a:off x="4439920" y="2702409"/>
          <a:ext cx="4246881" cy="1865372"/>
        </p:xfrm>
        <a:graphic>
          <a:graphicData uri="http://schemas.openxmlformats.org/drawingml/2006/table">
            <a:tbl>
              <a:tblPr/>
              <a:tblGrid>
                <a:gridCol w="1442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2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22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3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StudentID (PK)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DeptID (FK)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S001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Amit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D01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S002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Priya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D02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S003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Rajesh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D01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891280" y="3154680"/>
            <a:ext cx="54864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9184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57200" y="498957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FK Values: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40080" y="530961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S001 with DeptID = D01 ✓  |  S002 with DeptID = D02 ✓  |  NULL values ✓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57200" y="567537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FK Values: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40080" y="594969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DeptID = D05 (doesn't exist) ✗  |  DeptID = 'ABC' (no match) ✗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DC052-218D-0A41-A29F-AF29DE3ED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DB24FB-0CE5-303D-2DBF-33C37E574D22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3264"/>
          </a:solidFill>
          <a:ln>
            <a:solidFill>
              <a:srgbClr val="0A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B56B07-D772-E84A-FEBB-A9EFDD0C6702}"/>
              </a:ext>
            </a:extLst>
          </p:cNvPr>
          <p:cNvSpPr txBox="1"/>
          <p:nvPr/>
        </p:nvSpPr>
        <p:spPr>
          <a:xfrm>
            <a:off x="365760" y="13716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Keys</a:t>
            </a:r>
            <a:r>
              <a:rPr lang="en-US" dirty="0"/>
              <a:t> &amp; Types</a:t>
            </a:r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477D239-90DA-EA73-FE3B-56000B4A7E2E}"/>
              </a:ext>
            </a:extLst>
          </p:cNvPr>
          <p:cNvSpPr/>
          <p:nvPr/>
        </p:nvSpPr>
        <p:spPr>
          <a:xfrm>
            <a:off x="274320" y="1437066"/>
            <a:ext cx="8412480" cy="1550700"/>
          </a:xfrm>
          <a:prstGeom prst="roundRect">
            <a:avLst/>
          </a:prstGeom>
          <a:solidFill>
            <a:srgbClr val="F5EBFA"/>
          </a:solidFill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801E5D-0F24-F323-123D-3C294764B2B6}"/>
              </a:ext>
            </a:extLst>
          </p:cNvPr>
          <p:cNvSpPr txBox="1"/>
          <p:nvPr/>
        </p:nvSpPr>
        <p:spPr>
          <a:xfrm>
            <a:off x="457200" y="1528507"/>
            <a:ext cx="80467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A3264"/>
                </a:solidFill>
              </a:defRPr>
            </a:pPr>
            <a:r>
              <a:rPr sz="2000" dirty="0"/>
              <a:t>Definition </a:t>
            </a:r>
            <a:r>
              <a:rPr lang="en-US" sz="2000" dirty="0"/>
              <a:t>: </a:t>
            </a:r>
          </a:p>
          <a:p>
            <a:pPr>
              <a:defRPr sz="1000" b="0">
                <a:solidFill>
                  <a:srgbClr val="0A3264"/>
                </a:solidFill>
              </a:defRPr>
            </a:pPr>
            <a:r>
              <a:rPr lang="en-US" sz="2000" dirty="0"/>
              <a:t>	</a:t>
            </a:r>
            <a:r>
              <a:rPr lang="en-IN" sz="2000" dirty="0"/>
              <a:t>A </a:t>
            </a:r>
            <a:r>
              <a:rPr lang="en-IN" sz="2000" b="1" dirty="0"/>
              <a:t>Super Key</a:t>
            </a:r>
            <a:r>
              <a:rPr lang="en-IN" sz="2000" dirty="0"/>
              <a:t> is a set of one or more attributes that can uniquely identify each record (tuple) in a table (relation). It may contain extra attributes that are not required for unique identification.</a:t>
            </a:r>
            <a:endParaRPr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9258D3-FBD3-EC02-191E-63E1085DA2BB}"/>
              </a:ext>
            </a:extLst>
          </p:cNvPr>
          <p:cNvSpPr txBox="1"/>
          <p:nvPr/>
        </p:nvSpPr>
        <p:spPr>
          <a:xfrm>
            <a:off x="365760" y="893103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sz="3200" dirty="0">
                <a:solidFill>
                  <a:schemeClr val="tx2"/>
                </a:solidFill>
              </a:rPr>
              <a:t>1. Super Key</a:t>
            </a:r>
            <a:endParaRPr sz="3200" dirty="0">
              <a:solidFill>
                <a:schemeClr val="tx2"/>
              </a:solidFill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614409E-E527-9298-84A0-9E8880894C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516348"/>
              </p:ext>
            </p:extLst>
          </p:nvPr>
        </p:nvGraphicFramePr>
        <p:xfrm>
          <a:off x="1471449" y="3397925"/>
          <a:ext cx="6201102" cy="1097280"/>
        </p:xfrm>
        <a:graphic>
          <a:graphicData uri="http://schemas.openxmlformats.org/drawingml/2006/table">
            <a:tbl>
              <a:tblPr/>
              <a:tblGrid>
                <a:gridCol w="2067034">
                  <a:extLst>
                    <a:ext uri="{9D8B030D-6E8A-4147-A177-3AD203B41FA5}">
                      <a16:colId xmlns:a16="http://schemas.microsoft.com/office/drawing/2014/main" val="4175229331"/>
                    </a:ext>
                  </a:extLst>
                </a:gridCol>
                <a:gridCol w="2067034">
                  <a:extLst>
                    <a:ext uri="{9D8B030D-6E8A-4147-A177-3AD203B41FA5}">
                      <a16:colId xmlns:a16="http://schemas.microsoft.com/office/drawing/2014/main" val="1860252710"/>
                    </a:ext>
                  </a:extLst>
                </a:gridCol>
                <a:gridCol w="2067034">
                  <a:extLst>
                    <a:ext uri="{9D8B030D-6E8A-4147-A177-3AD203B41FA5}">
                      <a16:colId xmlns:a16="http://schemas.microsoft.com/office/drawing/2014/main" val="2699897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>
                          <a:solidFill>
                            <a:srgbClr val="002060"/>
                          </a:solidFill>
                        </a:rPr>
                        <a:t>StudentID</a:t>
                      </a:r>
                      <a:endParaRPr lang="en-IN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</a:rPr>
                        <a:t>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711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2060"/>
                          </a:solidFill>
                        </a:rPr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2060"/>
                          </a:solidFill>
                        </a:rPr>
                        <a:t>rahul@gmail.com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2060"/>
                          </a:solidFill>
                        </a:rPr>
                        <a:t>Rahul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751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002060"/>
                          </a:solidFill>
                        </a:rPr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2060"/>
                          </a:solidFill>
                        </a:rPr>
                        <a:t>anita@gmail.com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002060"/>
                          </a:solidFill>
                        </a:rPr>
                        <a:t>Anita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59195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1BAD92D-DCBF-012D-D076-92B71CC610B7}"/>
              </a:ext>
            </a:extLst>
          </p:cNvPr>
          <p:cNvSpPr txBox="1"/>
          <p:nvPr/>
        </p:nvSpPr>
        <p:spPr>
          <a:xfrm>
            <a:off x="0" y="4308722"/>
            <a:ext cx="84124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Purpose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To uniquely identify every record in a table.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Forms the basis for identifying candidate keys.</a:t>
            </a:r>
          </a:p>
          <a:p>
            <a:pPr lvl="1"/>
            <a:r>
              <a:rPr lang="en-IN" dirty="0"/>
              <a:t> </a:t>
            </a:r>
          </a:p>
          <a:p>
            <a:pPr>
              <a:buNone/>
            </a:pPr>
            <a:r>
              <a:rPr lang="en-IN" b="1" dirty="0"/>
              <a:t>Possible Super Keys: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dirty="0" err="1"/>
              <a:t>StudentID</a:t>
            </a:r>
            <a:r>
              <a:rPr lang="en-IN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Email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</a:t>
            </a:r>
            <a:r>
              <a:rPr lang="en-IN" dirty="0" err="1"/>
              <a:t>StudentID</a:t>
            </a:r>
            <a:r>
              <a:rPr lang="en-IN" dirty="0"/>
              <a:t> + Name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</a:t>
            </a:r>
            <a:r>
              <a:rPr lang="en-IN" dirty="0" err="1"/>
              <a:t>StudentID</a:t>
            </a:r>
            <a:r>
              <a:rPr lang="en-IN" dirty="0"/>
              <a:t> + Email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B9F2CB-BABB-7C08-0EFB-C027FEDE7092}"/>
              </a:ext>
            </a:extLst>
          </p:cNvPr>
          <p:cNvSpPr txBox="1"/>
          <p:nvPr/>
        </p:nvSpPr>
        <p:spPr>
          <a:xfrm>
            <a:off x="0" y="3028593"/>
            <a:ext cx="2984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Example : STUDENT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479609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DF6F98-B315-698A-8D67-4272CAF41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610688-1538-6C29-B795-9D0324578D26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3264"/>
          </a:solidFill>
          <a:ln>
            <a:solidFill>
              <a:srgbClr val="0A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EB2771-24F6-64BA-8CA9-CAA52376688F}"/>
              </a:ext>
            </a:extLst>
          </p:cNvPr>
          <p:cNvSpPr txBox="1"/>
          <p:nvPr/>
        </p:nvSpPr>
        <p:spPr>
          <a:xfrm>
            <a:off x="365760" y="13716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Keys</a:t>
            </a:r>
            <a:r>
              <a:rPr lang="en-US" dirty="0"/>
              <a:t> &amp; Types</a:t>
            </a:r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006570D-77A9-0B35-25F7-054D94E29C11}"/>
              </a:ext>
            </a:extLst>
          </p:cNvPr>
          <p:cNvSpPr/>
          <p:nvPr/>
        </p:nvSpPr>
        <p:spPr>
          <a:xfrm>
            <a:off x="274320" y="1437066"/>
            <a:ext cx="8412480" cy="1447004"/>
          </a:xfrm>
          <a:prstGeom prst="roundRect">
            <a:avLst/>
          </a:prstGeom>
          <a:solidFill>
            <a:srgbClr val="F5EBFA"/>
          </a:solidFill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73DD3B-D145-6ACC-E0DE-B53EB98E91E9}"/>
              </a:ext>
            </a:extLst>
          </p:cNvPr>
          <p:cNvSpPr txBox="1"/>
          <p:nvPr/>
        </p:nvSpPr>
        <p:spPr>
          <a:xfrm>
            <a:off x="457200" y="1528507"/>
            <a:ext cx="80467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A3264"/>
                </a:solidFill>
              </a:defRPr>
            </a:pPr>
            <a:r>
              <a:rPr sz="2000" dirty="0"/>
              <a:t>Definition </a:t>
            </a:r>
            <a:r>
              <a:rPr lang="en-US" sz="2000" dirty="0"/>
              <a:t>: </a:t>
            </a:r>
          </a:p>
          <a:p>
            <a:pPr>
              <a:defRPr sz="1000" b="0">
                <a:solidFill>
                  <a:srgbClr val="0A3264"/>
                </a:solidFill>
              </a:defRPr>
            </a:pPr>
            <a:r>
              <a:rPr lang="en-US" sz="2000" dirty="0"/>
              <a:t>	</a:t>
            </a:r>
            <a:r>
              <a:rPr lang="en-IN" sz="2000" dirty="0"/>
              <a:t>A </a:t>
            </a:r>
            <a:r>
              <a:rPr lang="en-IN" sz="2000" b="1" dirty="0"/>
              <a:t>Candidate Key</a:t>
            </a:r>
            <a:r>
              <a:rPr lang="en-IN" sz="2000" dirty="0"/>
              <a:t> is a minimal super key that uniquely identifies each record in a table. It contains only the attributes necessary for unique identification.</a:t>
            </a:r>
            <a:endParaRPr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01D5F9-9903-20DD-75EB-4DD727585B1E}"/>
              </a:ext>
            </a:extLst>
          </p:cNvPr>
          <p:cNvSpPr txBox="1"/>
          <p:nvPr/>
        </p:nvSpPr>
        <p:spPr>
          <a:xfrm>
            <a:off x="365760" y="893103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sz="3200" dirty="0">
                <a:solidFill>
                  <a:schemeClr val="tx2"/>
                </a:solidFill>
              </a:rPr>
              <a:t>2. Candidate Key</a:t>
            </a:r>
            <a:endParaRPr sz="3200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3FF478-0D12-3BB9-8B29-F620DEF8916D}"/>
              </a:ext>
            </a:extLst>
          </p:cNvPr>
          <p:cNvSpPr txBox="1"/>
          <p:nvPr/>
        </p:nvSpPr>
        <p:spPr>
          <a:xfrm>
            <a:off x="103632" y="2966368"/>
            <a:ext cx="66172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Purpose	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To provide all possible choices for the primary key.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Ensures unique identification without unnecessary attributes.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DE7B96E-69E2-72E5-D595-82AA70AF72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32635"/>
              </p:ext>
            </p:extLst>
          </p:nvPr>
        </p:nvGraphicFramePr>
        <p:xfrm>
          <a:off x="1170432" y="4486647"/>
          <a:ext cx="5340096" cy="1097280"/>
        </p:xfrm>
        <a:graphic>
          <a:graphicData uri="http://schemas.openxmlformats.org/drawingml/2006/table">
            <a:tbl>
              <a:tblPr/>
              <a:tblGrid>
                <a:gridCol w="1780032">
                  <a:extLst>
                    <a:ext uri="{9D8B030D-6E8A-4147-A177-3AD203B41FA5}">
                      <a16:colId xmlns:a16="http://schemas.microsoft.com/office/drawing/2014/main" val="55737952"/>
                    </a:ext>
                  </a:extLst>
                </a:gridCol>
                <a:gridCol w="1780032">
                  <a:extLst>
                    <a:ext uri="{9D8B030D-6E8A-4147-A177-3AD203B41FA5}">
                      <a16:colId xmlns:a16="http://schemas.microsoft.com/office/drawing/2014/main" val="2374074005"/>
                    </a:ext>
                  </a:extLst>
                </a:gridCol>
                <a:gridCol w="1780032">
                  <a:extLst>
                    <a:ext uri="{9D8B030D-6E8A-4147-A177-3AD203B41FA5}">
                      <a16:colId xmlns:a16="http://schemas.microsoft.com/office/drawing/2014/main" val="8720695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EmpID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AadhaarNo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8606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123456789012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Rahul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821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987654321098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Anita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88267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6EE0B5B-B6E7-1C50-E12D-D9F54DC6137B}"/>
              </a:ext>
            </a:extLst>
          </p:cNvPr>
          <p:cNvSpPr txBox="1"/>
          <p:nvPr/>
        </p:nvSpPr>
        <p:spPr>
          <a:xfrm>
            <a:off x="103632" y="5691276"/>
            <a:ext cx="46268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Candidate Keys</a:t>
            </a:r>
            <a:r>
              <a:rPr lang="en-I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EmpID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AadhaarNo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793567-6F49-1BCA-FD66-71884F620000}"/>
              </a:ext>
            </a:extLst>
          </p:cNvPr>
          <p:cNvSpPr txBox="1"/>
          <p:nvPr/>
        </p:nvSpPr>
        <p:spPr>
          <a:xfrm>
            <a:off x="77724" y="3804540"/>
            <a:ext cx="1251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Example</a:t>
            </a:r>
          </a:p>
          <a:p>
            <a:pPr>
              <a:buNone/>
            </a:pPr>
            <a:r>
              <a:rPr lang="en-IN" sz="1800" b="1" dirty="0"/>
              <a:t>EMPLOYEE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114716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4D5B7E-07E2-AE15-8EC3-4011F569A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73393F-AB73-2EC9-3002-52F301ADA520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3264"/>
          </a:solidFill>
          <a:ln>
            <a:solidFill>
              <a:srgbClr val="0A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9800EE-93F0-F677-BAEC-246181E5D45F}"/>
              </a:ext>
            </a:extLst>
          </p:cNvPr>
          <p:cNvSpPr txBox="1"/>
          <p:nvPr/>
        </p:nvSpPr>
        <p:spPr>
          <a:xfrm>
            <a:off x="365760" y="13716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Keys</a:t>
            </a:r>
            <a:r>
              <a:rPr lang="en-US" dirty="0"/>
              <a:t> &amp; Types</a:t>
            </a:r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C660962-3015-CA22-4E91-39028F6D7A19}"/>
              </a:ext>
            </a:extLst>
          </p:cNvPr>
          <p:cNvSpPr/>
          <p:nvPr/>
        </p:nvSpPr>
        <p:spPr>
          <a:xfrm>
            <a:off x="274320" y="1437066"/>
            <a:ext cx="8412480" cy="1127069"/>
          </a:xfrm>
          <a:prstGeom prst="roundRect">
            <a:avLst/>
          </a:prstGeom>
          <a:solidFill>
            <a:srgbClr val="F5EBFA"/>
          </a:solidFill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79AFB5-C2E6-3C74-8E0F-EDDECEF736C5}"/>
              </a:ext>
            </a:extLst>
          </p:cNvPr>
          <p:cNvSpPr txBox="1"/>
          <p:nvPr/>
        </p:nvSpPr>
        <p:spPr>
          <a:xfrm>
            <a:off x="457200" y="1528507"/>
            <a:ext cx="80467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A3264"/>
                </a:solidFill>
              </a:defRPr>
            </a:pPr>
            <a:r>
              <a:rPr sz="2000" dirty="0"/>
              <a:t>Definition </a:t>
            </a:r>
            <a:r>
              <a:rPr lang="en-US" sz="2000" dirty="0"/>
              <a:t>: </a:t>
            </a:r>
          </a:p>
          <a:p>
            <a:pPr>
              <a:defRPr sz="1000" b="0">
                <a:solidFill>
                  <a:srgbClr val="0A3264"/>
                </a:solidFill>
              </a:defRPr>
            </a:pPr>
            <a:r>
              <a:rPr lang="en-US" sz="2000" dirty="0"/>
              <a:t>	</a:t>
            </a:r>
            <a:r>
              <a:rPr lang="en-IN" sz="2000" dirty="0"/>
              <a:t>A </a:t>
            </a:r>
            <a:r>
              <a:rPr lang="en-IN" sz="2000" b="1" dirty="0"/>
              <a:t>Primary Key</a:t>
            </a:r>
            <a:r>
              <a:rPr lang="en-IN" sz="2000" dirty="0"/>
              <a:t> is the candidate key selected to uniquely identify each record in a table. Its values must be unique and cannot be NULL.</a:t>
            </a:r>
            <a:endParaRPr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96E2FC-F9BB-E9F0-0D7B-92CC38E7614B}"/>
              </a:ext>
            </a:extLst>
          </p:cNvPr>
          <p:cNvSpPr txBox="1"/>
          <p:nvPr/>
        </p:nvSpPr>
        <p:spPr>
          <a:xfrm>
            <a:off x="365760" y="893103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sz="3200" dirty="0">
                <a:solidFill>
                  <a:schemeClr val="tx2"/>
                </a:solidFill>
              </a:rPr>
              <a:t>3. Primary Key(PK)</a:t>
            </a:r>
            <a:endParaRPr sz="3200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AE544F-37D8-5F7E-495C-F0101A1F0E56}"/>
              </a:ext>
            </a:extLst>
          </p:cNvPr>
          <p:cNvSpPr txBox="1"/>
          <p:nvPr/>
        </p:nvSpPr>
        <p:spPr>
          <a:xfrm>
            <a:off x="274320" y="2666115"/>
            <a:ext cx="66172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	To uniquely identify every row.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	To maintain entity integrity.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	To establish relationships with other tables.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B69AC2-3CC6-5D10-0AFF-4B1033582B48}"/>
              </a:ext>
            </a:extLst>
          </p:cNvPr>
          <p:cNvSpPr txBox="1"/>
          <p:nvPr/>
        </p:nvSpPr>
        <p:spPr>
          <a:xfrm>
            <a:off x="77724" y="3804540"/>
            <a:ext cx="1251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Example</a:t>
            </a:r>
          </a:p>
          <a:p>
            <a:pPr>
              <a:buNone/>
            </a:pPr>
            <a:r>
              <a:rPr lang="en-IN" b="1" dirty="0"/>
              <a:t>STUDENT</a:t>
            </a:r>
            <a:endParaRPr lang="en-IN" sz="1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EE72B4-9BF9-4FBE-CFA6-779B42584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597424"/>
              </p:ext>
            </p:extLst>
          </p:nvPr>
        </p:nvGraphicFramePr>
        <p:xfrm>
          <a:off x="274320" y="4558209"/>
          <a:ext cx="5577840" cy="109728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1734438393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8392804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StudentID</a:t>
                      </a:r>
                      <a:r>
                        <a:rPr lang="en-IN" b="1" dirty="0"/>
                        <a:t> (PK)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678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Rahul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934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Anita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44939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4E5DE6F-FF5E-4634-8F98-3A5DEDFD179F}"/>
              </a:ext>
            </a:extLst>
          </p:cNvPr>
          <p:cNvSpPr txBox="1"/>
          <p:nvPr/>
        </p:nvSpPr>
        <p:spPr>
          <a:xfrm>
            <a:off x="77724" y="6162588"/>
            <a:ext cx="4626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Primary Key = </a:t>
            </a:r>
            <a:r>
              <a:rPr lang="en-IN" dirty="0" err="1"/>
              <a:t>StudentID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2448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1B3FA8-5FEF-BDF1-87A3-706B0FBF8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31737D-1ED6-7FDC-58EA-3EDA39BF7EFF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3264"/>
          </a:solidFill>
          <a:ln>
            <a:solidFill>
              <a:srgbClr val="0A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FCFD80-D2C1-8D1F-30DF-3954971E7C43}"/>
              </a:ext>
            </a:extLst>
          </p:cNvPr>
          <p:cNvSpPr txBox="1"/>
          <p:nvPr/>
        </p:nvSpPr>
        <p:spPr>
          <a:xfrm>
            <a:off x="365760" y="13716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Keys</a:t>
            </a:r>
            <a:r>
              <a:rPr lang="en-US" dirty="0"/>
              <a:t> &amp; Types</a:t>
            </a:r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64522C1-9E4A-06BE-4A6C-B1C45F8AB316}"/>
              </a:ext>
            </a:extLst>
          </p:cNvPr>
          <p:cNvSpPr/>
          <p:nvPr/>
        </p:nvSpPr>
        <p:spPr>
          <a:xfrm>
            <a:off x="274320" y="1437067"/>
            <a:ext cx="8735568" cy="952566"/>
          </a:xfrm>
          <a:prstGeom prst="roundRect">
            <a:avLst/>
          </a:prstGeom>
          <a:solidFill>
            <a:srgbClr val="F5EBFA"/>
          </a:solidFill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6B1B9E-530D-4027-3E99-76CADACF6E4D}"/>
              </a:ext>
            </a:extLst>
          </p:cNvPr>
          <p:cNvSpPr txBox="1"/>
          <p:nvPr/>
        </p:nvSpPr>
        <p:spPr>
          <a:xfrm>
            <a:off x="457200" y="1528507"/>
            <a:ext cx="85526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A3264"/>
                </a:solidFill>
              </a:defRPr>
            </a:pPr>
            <a:r>
              <a:rPr sz="2000" dirty="0"/>
              <a:t>Definition </a:t>
            </a:r>
            <a:r>
              <a:rPr lang="en-US" sz="2000" dirty="0"/>
              <a:t>: </a:t>
            </a:r>
          </a:p>
          <a:p>
            <a:pPr>
              <a:defRPr sz="1000" b="0">
                <a:solidFill>
                  <a:srgbClr val="0A3264"/>
                </a:solidFill>
              </a:defRPr>
            </a:pPr>
            <a:r>
              <a:rPr lang="en-US" sz="2000" dirty="0"/>
              <a:t>	</a:t>
            </a:r>
            <a:r>
              <a:rPr lang="en-IN" sz="2000" dirty="0"/>
              <a:t>An </a:t>
            </a:r>
            <a:r>
              <a:rPr lang="en-IN" sz="2000" b="1" dirty="0"/>
              <a:t>Alternate Key</a:t>
            </a:r>
            <a:r>
              <a:rPr lang="en-IN" sz="2000" dirty="0"/>
              <a:t> is a candidate key that is not selected as the primary key</a:t>
            </a:r>
            <a:r>
              <a:rPr lang="en-IN" sz="1000" dirty="0"/>
              <a:t>.</a:t>
            </a:r>
            <a:endParaRPr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158640-8E28-5826-1D29-E0E8AE34C1C4}"/>
              </a:ext>
            </a:extLst>
          </p:cNvPr>
          <p:cNvSpPr txBox="1"/>
          <p:nvPr/>
        </p:nvSpPr>
        <p:spPr>
          <a:xfrm>
            <a:off x="365760" y="893103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sz="3200" dirty="0">
                <a:solidFill>
                  <a:schemeClr val="tx2"/>
                </a:solidFill>
              </a:rPr>
              <a:t>4. Alternate Key</a:t>
            </a:r>
            <a:endParaRPr sz="3200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59740D-0361-7A1B-F35E-D649FA9D1F2E}"/>
              </a:ext>
            </a:extLst>
          </p:cNvPr>
          <p:cNvSpPr txBox="1"/>
          <p:nvPr/>
        </p:nvSpPr>
        <p:spPr>
          <a:xfrm>
            <a:off x="274320" y="2630586"/>
            <a:ext cx="66172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	Provides an alternative unique identifier.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	 Maintains uniqueness for important attributes.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54FA9C-6329-F87E-2DEF-16839BD80A9D}"/>
              </a:ext>
            </a:extLst>
          </p:cNvPr>
          <p:cNvSpPr txBox="1"/>
          <p:nvPr/>
        </p:nvSpPr>
        <p:spPr>
          <a:xfrm>
            <a:off x="77724" y="3804540"/>
            <a:ext cx="1251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Example</a:t>
            </a:r>
          </a:p>
          <a:p>
            <a:pPr>
              <a:buNone/>
            </a:pPr>
            <a:r>
              <a:rPr lang="en-IN" sz="1800" b="1" dirty="0"/>
              <a:t>EMPLOYEE</a:t>
            </a:r>
            <a:endParaRPr lang="en-IN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A8B60A-203C-D0EA-6C11-009F49FD9C01}"/>
              </a:ext>
            </a:extLst>
          </p:cNvPr>
          <p:cNvSpPr txBox="1"/>
          <p:nvPr/>
        </p:nvSpPr>
        <p:spPr>
          <a:xfrm>
            <a:off x="77724" y="6162588"/>
            <a:ext cx="4626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Primary Key = </a:t>
            </a:r>
            <a:r>
              <a:rPr lang="en-IN" dirty="0" err="1"/>
              <a:t>EmpID</a:t>
            </a:r>
            <a:endParaRPr lang="en-IN" dirty="0"/>
          </a:p>
          <a:p>
            <a:r>
              <a:rPr lang="en-IN" dirty="0"/>
              <a:t>Alternate Key = </a:t>
            </a:r>
            <a:r>
              <a:rPr lang="en-IN" dirty="0" err="1"/>
              <a:t>AadhaarNo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34D6FC8-965D-0EF1-1F4A-E546829AD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997307"/>
              </p:ext>
            </p:extLst>
          </p:nvPr>
        </p:nvGraphicFramePr>
        <p:xfrm>
          <a:off x="365760" y="4573891"/>
          <a:ext cx="5096256" cy="1097280"/>
        </p:xfrm>
        <a:graphic>
          <a:graphicData uri="http://schemas.openxmlformats.org/drawingml/2006/table">
            <a:tbl>
              <a:tblPr/>
              <a:tblGrid>
                <a:gridCol w="2548128">
                  <a:extLst>
                    <a:ext uri="{9D8B030D-6E8A-4147-A177-3AD203B41FA5}">
                      <a16:colId xmlns:a16="http://schemas.microsoft.com/office/drawing/2014/main" val="293285424"/>
                    </a:ext>
                  </a:extLst>
                </a:gridCol>
                <a:gridCol w="2548128">
                  <a:extLst>
                    <a:ext uri="{9D8B030D-6E8A-4147-A177-3AD203B41FA5}">
                      <a16:colId xmlns:a16="http://schemas.microsoft.com/office/drawing/2014/main" val="28562318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EmpID</a:t>
                      </a:r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AadhaarNo</a:t>
                      </a:r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690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123456789012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785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987654321098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463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67278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6662BA-4B21-2115-77BF-5A02CBCA6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387CC1-3799-5BBC-49CB-92E0B4051B8D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3264"/>
          </a:solidFill>
          <a:ln>
            <a:solidFill>
              <a:srgbClr val="0A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82C0E1-EDDF-82EB-8EF1-90763E61BDB2}"/>
              </a:ext>
            </a:extLst>
          </p:cNvPr>
          <p:cNvSpPr txBox="1"/>
          <p:nvPr/>
        </p:nvSpPr>
        <p:spPr>
          <a:xfrm>
            <a:off x="365760" y="13716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Keys</a:t>
            </a:r>
            <a:r>
              <a:rPr lang="en-US" dirty="0"/>
              <a:t> &amp; Types</a:t>
            </a:r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E3E877C-67FB-8564-52AA-10FCC6F56CC3}"/>
              </a:ext>
            </a:extLst>
          </p:cNvPr>
          <p:cNvSpPr/>
          <p:nvPr/>
        </p:nvSpPr>
        <p:spPr>
          <a:xfrm>
            <a:off x="77724" y="1296589"/>
            <a:ext cx="8932164" cy="1292595"/>
          </a:xfrm>
          <a:prstGeom prst="roundRect">
            <a:avLst/>
          </a:prstGeom>
          <a:solidFill>
            <a:srgbClr val="F5EBFA"/>
          </a:solidFill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B5DCFE-DAA8-F339-7409-20E5B8A5B591}"/>
              </a:ext>
            </a:extLst>
          </p:cNvPr>
          <p:cNvSpPr txBox="1"/>
          <p:nvPr/>
        </p:nvSpPr>
        <p:spPr>
          <a:xfrm>
            <a:off x="134112" y="1388030"/>
            <a:ext cx="88757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A3264"/>
                </a:solidFill>
              </a:defRPr>
            </a:pPr>
            <a:r>
              <a:rPr sz="2000" dirty="0"/>
              <a:t>Definition </a:t>
            </a:r>
            <a:r>
              <a:rPr lang="en-US" sz="2000" dirty="0"/>
              <a:t>: </a:t>
            </a:r>
          </a:p>
          <a:p>
            <a:pPr>
              <a:defRPr sz="1000" b="0">
                <a:solidFill>
                  <a:srgbClr val="0A3264"/>
                </a:solidFill>
              </a:defRPr>
            </a:pPr>
            <a:r>
              <a:rPr lang="en-US" sz="2000" dirty="0"/>
              <a:t>	</a:t>
            </a:r>
            <a:r>
              <a:rPr lang="en-IN" sz="2000" dirty="0"/>
              <a:t>A </a:t>
            </a:r>
            <a:r>
              <a:rPr lang="en-IN" sz="2000" b="1" dirty="0"/>
              <a:t>Foreign Key</a:t>
            </a:r>
            <a:r>
              <a:rPr lang="en-IN" sz="2000" dirty="0"/>
              <a:t> is an attribute or set of attributes in one table that refers to the primary key of another table. It establishes a relationship between the two tables.</a:t>
            </a:r>
            <a:endParaRPr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48001D-1A31-2F1A-1C0D-E4EC68D44412}"/>
              </a:ext>
            </a:extLst>
          </p:cNvPr>
          <p:cNvSpPr txBox="1"/>
          <p:nvPr/>
        </p:nvSpPr>
        <p:spPr>
          <a:xfrm>
            <a:off x="365760" y="758241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sz="3200" dirty="0">
                <a:solidFill>
                  <a:schemeClr val="tx2"/>
                </a:solidFill>
              </a:rPr>
              <a:t>5. Foreign Key(FK)</a:t>
            </a:r>
            <a:endParaRPr sz="3200" dirty="0">
              <a:solidFill>
                <a:schemeClr val="tx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5A1BA8-BFBC-330D-5C38-DF0EDFB99B5F}"/>
              </a:ext>
            </a:extLst>
          </p:cNvPr>
          <p:cNvSpPr txBox="1"/>
          <p:nvPr/>
        </p:nvSpPr>
        <p:spPr>
          <a:xfrm>
            <a:off x="134112" y="3697106"/>
            <a:ext cx="27873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Example :</a:t>
            </a:r>
            <a:r>
              <a:rPr lang="en-IN" b="1" dirty="0"/>
              <a:t>  STUDENT</a:t>
            </a:r>
            <a:endParaRPr lang="en-IN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4225BE-BAD6-7B53-FFAD-0722F63F5CDB}"/>
              </a:ext>
            </a:extLst>
          </p:cNvPr>
          <p:cNvSpPr txBox="1"/>
          <p:nvPr/>
        </p:nvSpPr>
        <p:spPr>
          <a:xfrm>
            <a:off x="365760" y="2561981"/>
            <a:ext cx="46268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Purpose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To connect related tables.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To maintain referential integrity.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To prevent invalid references.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99A74AF-C26D-2D99-BFE5-66A85A816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821486"/>
              </p:ext>
            </p:extLst>
          </p:nvPr>
        </p:nvGraphicFramePr>
        <p:xfrm>
          <a:off x="457200" y="4013108"/>
          <a:ext cx="5969508" cy="1097280"/>
        </p:xfrm>
        <a:graphic>
          <a:graphicData uri="http://schemas.openxmlformats.org/drawingml/2006/table">
            <a:tbl>
              <a:tblPr/>
              <a:tblGrid>
                <a:gridCol w="2984754">
                  <a:extLst>
                    <a:ext uri="{9D8B030D-6E8A-4147-A177-3AD203B41FA5}">
                      <a16:colId xmlns:a16="http://schemas.microsoft.com/office/drawing/2014/main" val="2105012775"/>
                    </a:ext>
                  </a:extLst>
                </a:gridCol>
                <a:gridCol w="2984754">
                  <a:extLst>
                    <a:ext uri="{9D8B030D-6E8A-4147-A177-3AD203B41FA5}">
                      <a16:colId xmlns:a16="http://schemas.microsoft.com/office/drawing/2014/main" val="42535920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StudentID</a:t>
                      </a:r>
                      <a:r>
                        <a:rPr lang="en-IN" b="1" dirty="0"/>
                        <a:t> (PK)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26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Rahul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132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Anita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835844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5755966-9372-3C84-C331-749919BCED13}"/>
              </a:ext>
            </a:extLst>
          </p:cNvPr>
          <p:cNvSpPr txBox="1"/>
          <p:nvPr/>
        </p:nvSpPr>
        <p:spPr>
          <a:xfrm>
            <a:off x="134112" y="5072867"/>
            <a:ext cx="4626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MARKS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54C9599-DC27-2F3E-F178-3F9C540467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367450"/>
              </p:ext>
            </p:extLst>
          </p:nvPr>
        </p:nvGraphicFramePr>
        <p:xfrm>
          <a:off x="365760" y="5376995"/>
          <a:ext cx="6559296" cy="1097280"/>
        </p:xfrm>
        <a:graphic>
          <a:graphicData uri="http://schemas.openxmlformats.org/drawingml/2006/table">
            <a:tbl>
              <a:tblPr/>
              <a:tblGrid>
                <a:gridCol w="2186432">
                  <a:extLst>
                    <a:ext uri="{9D8B030D-6E8A-4147-A177-3AD203B41FA5}">
                      <a16:colId xmlns:a16="http://schemas.microsoft.com/office/drawing/2014/main" val="3944709291"/>
                    </a:ext>
                  </a:extLst>
                </a:gridCol>
                <a:gridCol w="2186432">
                  <a:extLst>
                    <a:ext uri="{9D8B030D-6E8A-4147-A177-3AD203B41FA5}">
                      <a16:colId xmlns:a16="http://schemas.microsoft.com/office/drawing/2014/main" val="3064698251"/>
                    </a:ext>
                  </a:extLst>
                </a:gridCol>
                <a:gridCol w="2186432">
                  <a:extLst>
                    <a:ext uri="{9D8B030D-6E8A-4147-A177-3AD203B41FA5}">
                      <a16:colId xmlns:a16="http://schemas.microsoft.com/office/drawing/2014/main" val="39370296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MarkID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StudentID (FK)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Sub                    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011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DBMS                    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19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DSA                        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353180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845B302-BF41-D750-58B7-9F50D0C8B39D}"/>
              </a:ext>
            </a:extLst>
          </p:cNvPr>
          <p:cNvSpPr txBox="1"/>
          <p:nvPr/>
        </p:nvSpPr>
        <p:spPr>
          <a:xfrm>
            <a:off x="77724" y="6426143"/>
            <a:ext cx="6348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StudentID</a:t>
            </a:r>
            <a:r>
              <a:rPr lang="en-IN" dirty="0"/>
              <a:t> in MARKS references </a:t>
            </a:r>
            <a:r>
              <a:rPr lang="en-IN" b="1" dirty="0" err="1"/>
              <a:t>StudentID</a:t>
            </a:r>
            <a:r>
              <a:rPr lang="en-IN" dirty="0"/>
              <a:t> in STUDENT.</a:t>
            </a:r>
          </a:p>
        </p:txBody>
      </p:sp>
    </p:spTree>
    <p:extLst>
      <p:ext uri="{BB962C8B-B14F-4D97-AF65-F5344CB8AC3E}">
        <p14:creationId xmlns:p14="http://schemas.microsoft.com/office/powerpoint/2010/main" val="4129197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76EB13-A74E-0705-8C00-C9B3E4097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DE37D2-1B54-BB58-DFDC-656C711985BE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3264"/>
          </a:solidFill>
          <a:ln>
            <a:solidFill>
              <a:srgbClr val="0A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C99725-703F-1921-EA4B-006DA4867B02}"/>
              </a:ext>
            </a:extLst>
          </p:cNvPr>
          <p:cNvSpPr txBox="1"/>
          <p:nvPr/>
        </p:nvSpPr>
        <p:spPr>
          <a:xfrm>
            <a:off x="365760" y="13716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Keys</a:t>
            </a:r>
            <a:r>
              <a:rPr lang="en-US" dirty="0"/>
              <a:t> &amp; Types</a:t>
            </a:r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9389932-3FFB-A408-3E76-82429806253D}"/>
              </a:ext>
            </a:extLst>
          </p:cNvPr>
          <p:cNvSpPr/>
          <p:nvPr/>
        </p:nvSpPr>
        <p:spPr>
          <a:xfrm>
            <a:off x="77724" y="1296589"/>
            <a:ext cx="8932164" cy="1512619"/>
          </a:xfrm>
          <a:prstGeom prst="roundRect">
            <a:avLst/>
          </a:prstGeom>
          <a:solidFill>
            <a:srgbClr val="F5EBFA"/>
          </a:solidFill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1C9CDA-201D-8E3C-5E01-A4FB56A670B5}"/>
              </a:ext>
            </a:extLst>
          </p:cNvPr>
          <p:cNvSpPr txBox="1"/>
          <p:nvPr/>
        </p:nvSpPr>
        <p:spPr>
          <a:xfrm>
            <a:off x="134112" y="1302377"/>
            <a:ext cx="9144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A3264"/>
                </a:solidFill>
              </a:defRPr>
            </a:pPr>
            <a:r>
              <a:rPr sz="2000" dirty="0"/>
              <a:t>Definition </a:t>
            </a:r>
            <a:r>
              <a:rPr lang="en-US" sz="2000" dirty="0"/>
              <a:t>: </a:t>
            </a:r>
          </a:p>
          <a:p>
            <a:pPr>
              <a:defRPr sz="1000" b="0">
                <a:solidFill>
                  <a:srgbClr val="0A3264"/>
                </a:solidFill>
              </a:defRPr>
            </a:pPr>
            <a:r>
              <a:rPr lang="en-US" sz="2000" dirty="0"/>
              <a:t>	</a:t>
            </a:r>
            <a:r>
              <a:rPr lang="en-IN" sz="2000" dirty="0"/>
              <a:t>A </a:t>
            </a:r>
            <a:r>
              <a:rPr lang="en-IN" sz="2000" b="1" dirty="0"/>
              <a:t>Unique Key</a:t>
            </a:r>
            <a:r>
              <a:rPr lang="en-IN" sz="2000" dirty="0"/>
              <a:t> is a SQL constraint that ensures all values in a column or group of columns are unique. Unlike a primary key, it generally allows NULL values (depending on the DBMS).</a:t>
            </a:r>
            <a:endParaRPr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1C3620-6657-F8F6-A88F-00C39CB75BCA}"/>
              </a:ext>
            </a:extLst>
          </p:cNvPr>
          <p:cNvSpPr txBox="1"/>
          <p:nvPr/>
        </p:nvSpPr>
        <p:spPr>
          <a:xfrm>
            <a:off x="365760" y="758241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sz="3200" dirty="0">
                <a:solidFill>
                  <a:schemeClr val="tx2"/>
                </a:solidFill>
              </a:rPr>
              <a:t>6. Unique Key(UK)</a:t>
            </a:r>
            <a:endParaRPr sz="3200" dirty="0">
              <a:solidFill>
                <a:schemeClr val="tx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88644A-3DC9-60E1-7775-75C2BEF2D8DC}"/>
              </a:ext>
            </a:extLst>
          </p:cNvPr>
          <p:cNvSpPr txBox="1"/>
          <p:nvPr/>
        </p:nvSpPr>
        <p:spPr>
          <a:xfrm>
            <a:off x="365760" y="2809208"/>
            <a:ext cx="60609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Purpose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To prevent duplicate values.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 To enforce uniqueness on non-primary key columns.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2B97043-FE84-5789-0E32-C2FB7FB18B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410436"/>
              </p:ext>
            </p:extLst>
          </p:nvPr>
        </p:nvGraphicFramePr>
        <p:xfrm>
          <a:off x="237744" y="4410138"/>
          <a:ext cx="8229600" cy="10972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78583362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8785777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7048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linkClick r:id="rId3"/>
                        </a:rPr>
                        <a:t>rahul@gmail.com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667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hlinkClick r:id="rId4"/>
                        </a:rPr>
                        <a:t>anita@gmail.com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1000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E1B8DCD-6672-5E79-499A-F576BB576E9C}"/>
              </a:ext>
            </a:extLst>
          </p:cNvPr>
          <p:cNvSpPr txBox="1"/>
          <p:nvPr/>
        </p:nvSpPr>
        <p:spPr>
          <a:xfrm>
            <a:off x="77724" y="3899485"/>
            <a:ext cx="466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 : EMPLOYEE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B94D65-991F-1703-0DC8-C58414237FC0}"/>
              </a:ext>
            </a:extLst>
          </p:cNvPr>
          <p:cNvSpPr txBox="1"/>
          <p:nvPr/>
        </p:nvSpPr>
        <p:spPr>
          <a:xfrm>
            <a:off x="237744" y="5959863"/>
            <a:ext cx="466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Email has a UNIQUE constraint.</a:t>
            </a:r>
          </a:p>
        </p:txBody>
      </p:sp>
    </p:spTree>
    <p:extLst>
      <p:ext uri="{BB962C8B-B14F-4D97-AF65-F5344CB8AC3E}">
        <p14:creationId xmlns:p14="http://schemas.microsoft.com/office/powerpoint/2010/main" val="40762239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0BAA39-A2B5-9A82-D9F7-A5632AC92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137713-78F9-CA70-76C8-E07D34869145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3264"/>
          </a:solidFill>
          <a:ln>
            <a:solidFill>
              <a:srgbClr val="0A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04F199-1D5A-87BB-AA29-E4EB5265B7D7}"/>
              </a:ext>
            </a:extLst>
          </p:cNvPr>
          <p:cNvSpPr txBox="1"/>
          <p:nvPr/>
        </p:nvSpPr>
        <p:spPr>
          <a:xfrm>
            <a:off x="365760" y="13716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Keys</a:t>
            </a:r>
            <a:r>
              <a:rPr lang="en-US" dirty="0"/>
              <a:t> &amp; Types</a:t>
            </a:r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D81AA07-A61F-49D4-7B9D-912AA665AF7D}"/>
              </a:ext>
            </a:extLst>
          </p:cNvPr>
          <p:cNvSpPr/>
          <p:nvPr/>
        </p:nvSpPr>
        <p:spPr>
          <a:xfrm>
            <a:off x="274320" y="1437066"/>
            <a:ext cx="8735568" cy="1215605"/>
          </a:xfrm>
          <a:prstGeom prst="roundRect">
            <a:avLst/>
          </a:prstGeom>
          <a:solidFill>
            <a:srgbClr val="F5EBFA"/>
          </a:solidFill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AFC920-F2CE-F4CC-27A5-AB0BDF6B1383}"/>
              </a:ext>
            </a:extLst>
          </p:cNvPr>
          <p:cNvSpPr txBox="1"/>
          <p:nvPr/>
        </p:nvSpPr>
        <p:spPr>
          <a:xfrm>
            <a:off x="457200" y="1528507"/>
            <a:ext cx="85526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A3264"/>
                </a:solidFill>
              </a:defRPr>
            </a:pPr>
            <a:r>
              <a:rPr sz="2000" dirty="0"/>
              <a:t>Definition </a:t>
            </a:r>
            <a:r>
              <a:rPr lang="en-US" sz="2000" dirty="0"/>
              <a:t>: </a:t>
            </a:r>
          </a:p>
          <a:p>
            <a:pPr>
              <a:defRPr sz="1000" b="0">
                <a:solidFill>
                  <a:srgbClr val="0A3264"/>
                </a:solidFill>
              </a:defRPr>
            </a:pPr>
            <a:r>
              <a:rPr lang="en-US" sz="2000" dirty="0"/>
              <a:t>	</a:t>
            </a:r>
            <a:r>
              <a:rPr lang="en-IN" sz="2000" dirty="0"/>
              <a:t>A </a:t>
            </a:r>
            <a:r>
              <a:rPr lang="en-IN" sz="2000" b="1" dirty="0"/>
              <a:t>Composite Key</a:t>
            </a:r>
            <a:r>
              <a:rPr lang="en-IN" sz="2000" dirty="0"/>
              <a:t> is a key formed by combining two or more attributes to uniquely identify a record</a:t>
            </a:r>
            <a:r>
              <a:rPr lang="en-IN" sz="1000" dirty="0"/>
              <a:t>..</a:t>
            </a:r>
            <a:endParaRPr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0A15E3-702E-B03F-DE05-0EFA483D4115}"/>
              </a:ext>
            </a:extLst>
          </p:cNvPr>
          <p:cNvSpPr txBox="1"/>
          <p:nvPr/>
        </p:nvSpPr>
        <p:spPr>
          <a:xfrm>
            <a:off x="365760" y="893103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sz="3200" dirty="0">
                <a:solidFill>
                  <a:schemeClr val="tx2"/>
                </a:solidFill>
              </a:rPr>
              <a:t>7. Composite Key</a:t>
            </a:r>
            <a:endParaRPr sz="3200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4A40E3-7A56-6EF3-1E9D-74C8D128A348}"/>
              </a:ext>
            </a:extLst>
          </p:cNvPr>
          <p:cNvSpPr txBox="1"/>
          <p:nvPr/>
        </p:nvSpPr>
        <p:spPr>
          <a:xfrm>
            <a:off x="274320" y="2630586"/>
            <a:ext cx="66172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Used when a single attribute cannot uniquely identify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Commonly used in junction (bridge) tables.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5EB8F4-7356-2735-ED62-DB58AEEEB328}"/>
              </a:ext>
            </a:extLst>
          </p:cNvPr>
          <p:cNvSpPr txBox="1"/>
          <p:nvPr/>
        </p:nvSpPr>
        <p:spPr>
          <a:xfrm>
            <a:off x="77724" y="3804540"/>
            <a:ext cx="27873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Example</a:t>
            </a:r>
          </a:p>
          <a:p>
            <a:pPr>
              <a:buNone/>
            </a:pPr>
            <a:r>
              <a:rPr lang="en-IN" sz="1800" b="1" dirty="0"/>
              <a:t>ENROLLMENT</a:t>
            </a:r>
            <a:endParaRPr lang="en-IN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97462A-D38D-0C40-1ED6-3E1D106E84E0}"/>
              </a:ext>
            </a:extLst>
          </p:cNvPr>
          <p:cNvSpPr txBox="1"/>
          <p:nvPr/>
        </p:nvSpPr>
        <p:spPr>
          <a:xfrm>
            <a:off x="77724" y="6162588"/>
            <a:ext cx="4626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Composite Key = (</a:t>
            </a:r>
            <a:r>
              <a:rPr lang="en-IN" dirty="0" err="1"/>
              <a:t>StudentID</a:t>
            </a:r>
            <a:r>
              <a:rPr lang="en-IN" dirty="0"/>
              <a:t>, </a:t>
            </a:r>
            <a:r>
              <a:rPr lang="en-IN" dirty="0" err="1"/>
              <a:t>CourseID</a:t>
            </a:r>
            <a:r>
              <a:rPr lang="en-IN" dirty="0"/>
              <a:t>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DCC41B8-4D5D-10D2-87B3-72CD2F6CF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137209"/>
              </p:ext>
            </p:extLst>
          </p:nvPr>
        </p:nvGraphicFramePr>
        <p:xfrm>
          <a:off x="365760" y="4450871"/>
          <a:ext cx="5632704" cy="1463040"/>
        </p:xfrm>
        <a:graphic>
          <a:graphicData uri="http://schemas.openxmlformats.org/drawingml/2006/table">
            <a:tbl>
              <a:tblPr/>
              <a:tblGrid>
                <a:gridCol w="2816352">
                  <a:extLst>
                    <a:ext uri="{9D8B030D-6E8A-4147-A177-3AD203B41FA5}">
                      <a16:colId xmlns:a16="http://schemas.microsoft.com/office/drawing/2014/main" val="2563697761"/>
                    </a:ext>
                  </a:extLst>
                </a:gridCol>
                <a:gridCol w="2816352">
                  <a:extLst>
                    <a:ext uri="{9D8B030D-6E8A-4147-A177-3AD203B41FA5}">
                      <a16:colId xmlns:a16="http://schemas.microsoft.com/office/drawing/2014/main" val="1396998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StudentID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CourseID</a:t>
                      </a:r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435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342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817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CS101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306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65969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400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</p:sp>
      <p:sp>
        <p:nvSpPr>
          <p:cNvPr id="3" name="Text 1"/>
          <p:cNvSpPr/>
          <p:nvPr/>
        </p:nvSpPr>
        <p:spPr>
          <a:xfrm>
            <a:off x="457200" y="99441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WHY: Do We Need Keys?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10207" y="2314378"/>
            <a:ext cx="4270353" cy="3657600"/>
          </a:xfrm>
          <a:prstGeom prst="rect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6560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 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10207" y="2396383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&amp; Chaos: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207" y="2826745"/>
            <a:ext cx="3996033" cy="445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uniquely identify a specific record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0207" y="3503098"/>
            <a:ext cx="399603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Duplicate entries go unnoticed 	(two "Rajesh" students)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0207" y="4117772"/>
            <a:ext cx="3996033" cy="328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link data between tables reliably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10207" y="4719250"/>
            <a:ext cx="399603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Updates might change wrong records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0207" y="5336023"/>
            <a:ext cx="3996033" cy="3692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way to prevent invalid data combinations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39" y="2314378"/>
            <a:ext cx="4372303" cy="3657600"/>
          </a:xfrm>
          <a:prstGeom prst="rect">
            <a:avLst/>
          </a:prstGeom>
          <a:noFill/>
          <a:ln w="254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61023" y="197605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 ✅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0" y="2400587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Solution: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79" y="3029249"/>
            <a:ext cx="4178913" cy="248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record has unique identifier (StudentID)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00748" y="3542330"/>
            <a:ext cx="4178913" cy="412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Duplicate prevention - each person has one ID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95494" y="4178203"/>
            <a:ext cx="4297680" cy="436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Foreign keys link tables reliably &amp; safely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95494" y="4834825"/>
            <a:ext cx="4189423" cy="280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by ID - always correct record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99175" y="5385185"/>
            <a:ext cx="408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Referential integrity maintained automatically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01792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9441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Keys in Database - Part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6309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is a field (or combination of fields) that uniquely identifies each record in a table.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457450"/>
            <a:ext cx="3931920" cy="27432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(PK)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82321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Uniquely identifies each record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14325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be NULL (empty)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46329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one per table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78333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Example: StudentID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10337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Must be UNIQUE - no duplicates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2457450"/>
            <a:ext cx="3931920" cy="27432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282321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uniquely identify records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314325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 can have multiple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346329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chosen as Primary Key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78333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Example: Email (each unique)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410337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Others become Alternate Keys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9828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9441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Keys in Database - Part 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54530"/>
            <a:ext cx="3931920" cy="274320"/>
          </a:xfrm>
          <a:prstGeom prst="rect">
            <a:avLst/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(FK)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2029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References PK of another table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66776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Creates relationship between tables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01523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Maintains referential integrity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6270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Example: DepartmentID in Student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71017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be NULL (optional)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954530"/>
            <a:ext cx="3931920" cy="274320"/>
          </a:xfrm>
          <a:prstGeom prst="rect">
            <a:avLst/>
          </a:prstGeom>
          <a:solidFill>
            <a:srgbClr val="2ECC71"/>
          </a:solidFill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232029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PK made of 2+ fields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66776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field alone may not be unique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301523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Combination is unique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336270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Example: (StudentID, CourseID)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371017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in junction tables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514850"/>
            <a:ext cx="7863840" cy="1188720"/>
          </a:xfrm>
          <a:prstGeom prst="rect">
            <a:avLst/>
          </a:prstGeom>
          <a:solidFill>
            <a:srgbClr val="ECF0F1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5201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 a Library System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97205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StudentID (PK) | Email (Candidate Key) | DeptID (FK)</a:t>
            </a:r>
            <a:endParaRPr lang="en-US" sz="1200" dirty="0"/>
          </a:p>
          <a:p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Enrollment: StudentID (FK, PK) + CourseID (FK, PK) (Composite)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447467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Summary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320040" cy="3200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070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005840" y="128016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enforce rules (NOT NULL, UNIQUE, CHECK, DEFAULT, PK, FK)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618488"/>
            <a:ext cx="320040" cy="3200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548640" y="16184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169164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CONSTRAINTS ensure data uniqueness and referential integrity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029968"/>
            <a:ext cx="320040" cy="3200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299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005840" y="210312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connect tables through Foreign Keys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441448"/>
            <a:ext cx="320040" cy="3200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41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05840" y="251460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specifies the number (1, N, M) of records in relationships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2852928"/>
            <a:ext cx="320040" cy="3200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529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05840" y="292608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is TOTAL (all records) or PARTIAL (some records)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264408"/>
            <a:ext cx="320040" cy="3200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644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05840" y="333756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M:N relationships require a junction/bridge table with two FKs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3675888"/>
            <a:ext cx="320040" cy="3200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6758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05840" y="374904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Good database design maintains data integrity and prevents redundancy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1188</TotalTime>
  <Words>3856</Words>
  <Application>Microsoft Office PowerPoint</Application>
  <PresentationFormat>On-screen Show (4:3)</PresentationFormat>
  <Paragraphs>712</Paragraphs>
  <Slides>26</Slides>
  <Notes>24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Sierra Learning</cp:lastModifiedBy>
  <cp:revision>282</cp:revision>
  <dcterms:created xsi:type="dcterms:W3CDTF">2013-01-27T09:14:16Z</dcterms:created>
  <dcterms:modified xsi:type="dcterms:W3CDTF">2026-07-27T13:31:08Z</dcterms:modified>
  <cp:category/>
</cp:coreProperties>
</file>