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03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JOINS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Join, Left Join &amp; Self Join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Course Information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Covered: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Introduction to SQL Joins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Understanding Join Concept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INNER JOIN: Matching Records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LEFT JOIN: Include Unmatched Left Table Records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SELF JOIN: Relating a Table to Itself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Real-world Examples &amp; Usage Patterns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When to Use Each Type of Join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Learning Outcomes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 session, you will be able to: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 what Joins are and why they are essential in relational databases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03911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Master INNER JOIN to retrieve matching records from multiple tables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47802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Apply LEFT JOIN to include unmatched records from the left 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91693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SELF JOIN to compare records within the same table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35584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real-world scenarios for each type of join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79476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 efficient SQL queries using different join types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336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Debug and optimize join queries for better performance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Why Do We Need Joins?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normalized relational database: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7680960" cy="3291840"/>
          </a:xfrm>
          <a:prstGeom prst="rect">
            <a:avLst/>
          </a:prstGeom>
          <a:solidFill>
            <a:srgbClr val="ECEFF1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773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 is divided into multiple tables to eliminate redundancy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48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Each table stores information about one entity type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12276" y="2272284"/>
            <a:ext cx="67173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table stores student info, COURSE table stores course info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7569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Relationships connect tables via Foreign Keys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12276" y="3104388"/>
            <a:ext cx="67173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StudentID in ENROLLMENT links STUDENT and COURSE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5890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Joins combine data from multiple tables to answer questions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12276" y="3936492"/>
            <a:ext cx="67173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all students enrolled in Database course"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4211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Joins help retrieve comprehensive information without data duplication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Example Database: Student Enrollment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86265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Table: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552782"/>
              </p:ext>
            </p:extLst>
          </p:nvPr>
        </p:nvGraphicFramePr>
        <p:xfrm>
          <a:off x="457200" y="1174653"/>
          <a:ext cx="4114800" cy="1447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StudentID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Rajesh Kumar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Sharma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Amit Patel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Neha Singh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754880" y="886265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Table:</a:t>
            </a:r>
            <a:endParaRPr lang="en-US" sz="1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471935"/>
              </p:ext>
            </p:extLst>
          </p:nvPr>
        </p:nvGraphicFramePr>
        <p:xfrm>
          <a:off x="4754880" y="1174653"/>
          <a:ext cx="3931920" cy="115824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CourseID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CourseName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Credits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272854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Table (Junction Table):</a:t>
            </a:r>
            <a:endParaRPr lang="en-US" sz="18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383327"/>
              </p:ext>
            </p:extLst>
          </p:nvPr>
        </p:nvGraphicFramePr>
        <p:xfrm>
          <a:off x="457200" y="3108960"/>
          <a:ext cx="8229600" cy="13716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EnrollmentID</a:t>
                      </a:r>
                      <a:endParaRPr lang="en-US" sz="12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StudentID</a:t>
                      </a:r>
                      <a:endParaRPr lang="en-US" sz="12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CourseID</a:t>
                      </a:r>
                      <a:endParaRPr lang="en-US" sz="12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12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S004 (Neha) has no enrollments yet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INNER JOIN: Concept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 returns only the rows that have matching values in both tables. It excludes non-matching rows from both sides.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Returns only MATCHING records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18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Rows without match in other table are EXCLUDED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6027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Most commonly used join type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867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Intersection of two sets (Venn diagram)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3708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ORDER: Table A INNER JOIN Table B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INNER JOIN: Syntax &amp; Example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07963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07963" y="1188720"/>
            <a:ext cx="41148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843" y="13258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columns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table1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table2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table1.key = table2.key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conditions;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4797083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97083" y="1188720"/>
            <a:ext cx="38404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79963" y="13258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c.CourseName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ENROLLMENT e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s.StudentID = e.StudentID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COURSE c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e.CourseID = c.CourseID;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407963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247180"/>
              </p:ext>
            </p:extLst>
          </p:nvPr>
        </p:nvGraphicFramePr>
        <p:xfrm>
          <a:off x="407963" y="3337560"/>
          <a:ext cx="8229600" cy="15240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CourseName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Rajesh Kumar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Rajesh Kumar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Sharma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Amit Patel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874455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Notice: Neha Singh is NOT in result (she has no enrollments)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⬅️ LEFT JOIN: Concept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solidFill>
            <a:srgbClr val="ECEFF1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JOIN returns ALL rows from the left table, and the matching rows from the right table. If no match exists, NULL values are returned for right table columns.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Returns ALL rows from LEFT table + matching rows from RIGHT table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101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Non-matching rows from left table appear with NULL in right columns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6941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Useful when you want to preserve all records from primary table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07822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NULL values indicate no match found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462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ORDER: Table A LEFT JOIN Table B (A is left/primary table)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LEFT JOIN: Syntax &amp;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3059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30590" y="1188720"/>
            <a:ext cx="41148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470" y="13258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columns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table1 (left)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table2 (right)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table1.key = table2.key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conditions;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471971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19710" y="1188720"/>
            <a:ext cx="38404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2590" y="13258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s.StudentID, s.Name, 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COUNT(e.EnrollmentID) 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as CourseCount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ENROLLMENT e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s.StudentID = e.StudentID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s.StudentID;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33059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160415"/>
              </p:ext>
            </p:extLst>
          </p:nvPr>
        </p:nvGraphicFramePr>
        <p:xfrm>
          <a:off x="330590" y="3246120"/>
          <a:ext cx="8229600" cy="1524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StudentID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CourseCount</a:t>
                      </a:r>
                      <a:endParaRPr lang="en-US" sz="14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Rajesh Kumar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Sharma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Amit Patel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Neha Singh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7970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A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Notice: Neha Singh appears with CourseCount = 0 (LEFT JOIN includes all students)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SELF JOIN: Concept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 JOIN is where a table is joined to itself. It is used to compare rows within the same table. A table alias is required to differentiate between the two instances.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Table joined WITH ITSELF (not with a different table)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015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Requires table aliases: table AS a, table AS 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8561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Compares data within same table (parent-child, manager-employee)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1696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Uses INNER JOIN or LEFT JOIN syntax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5537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Commonly used for hierarchical data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SELF JOIN: Employee-Manager Example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44659" y="768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Table: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4659" y="1088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(Employees with manager information)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00087"/>
              </p:ext>
            </p:extLst>
          </p:nvPr>
        </p:nvGraphicFramePr>
        <p:xfrm>
          <a:off x="344659" y="1408528"/>
          <a:ext cx="8229600" cy="17373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EmpID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EmployeeName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ManagerID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Rajesh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Neha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E005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Vikram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074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Explanation: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ManagerID refers to EmpID of the manager in the SAME table. Amit (E003) and Vikram (E005) are managers with no manager above them (CEO level).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A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"Show each employee with their manager's name"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Solution: Use SELF JOIN!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SELF JOIN: Syntax &amp; Example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3855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04314"/>
            <a:ext cx="411480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41474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a.col, b.col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table AS a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table AS b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a.key = b.parentKey;</a:t>
            </a:r>
            <a:endParaRPr lang="en-US" sz="1200" b="1" dirty="0"/>
          </a:p>
        </p:txBody>
      </p:sp>
      <p:sp>
        <p:nvSpPr>
          <p:cNvPr id="7" name="Text 5"/>
          <p:cNvSpPr/>
          <p:nvPr/>
        </p:nvSpPr>
        <p:spPr>
          <a:xfrm>
            <a:off x="4846320" y="73855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1104314"/>
            <a:ext cx="384048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41474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e.EmployeeName,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m.EmployeeName as Manager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 e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EMPLOYEE m</a:t>
            </a:r>
            <a:endParaRPr lang="en-US" sz="1100" b="1" dirty="0"/>
          </a:p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e.ManagerID = m.EmpID;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457200" y="293311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705013"/>
              </p:ext>
            </p:extLst>
          </p:nvPr>
        </p:nvGraphicFramePr>
        <p:xfrm>
          <a:off x="457200" y="3232053"/>
          <a:ext cx="8229600" cy="17373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EmployeeName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Manager</a:t>
                      </a:r>
                      <a:endParaRPr lang="en-US" sz="13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Rajesh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Neha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Vikram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JOIN TYPES: Comparison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Comparison Table: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177795"/>
              </p:ext>
            </p:extLst>
          </p:nvPr>
        </p:nvGraphicFramePr>
        <p:xfrm>
          <a:off x="365760" y="1463040"/>
          <a:ext cx="8412480" cy="1417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 Type</a:t>
                      </a:r>
                      <a:endParaRPr lang="en-US" sz="12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Returns</a:t>
                      </a:r>
                      <a:endParaRPr lang="en-US" sz="12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2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2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Matching rows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Strict matching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Students enrolled in courses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left + matching right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 unmatched left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students + their courses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with itself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Hierarchical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and manager names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77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INNER JOIN: When you need complete information (no missing data on either side)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9593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⬅️  LEFT JOIN: When you want all records from the main table even if they don't have matches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48970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SELF JOIN: When you need to relate records within the same table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Real-World Scenarios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A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1: E-Commerce Platform (INNER JOIN)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all orders with their product details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Orders INNER JOIN Products (only orders with valid products)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3847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A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2: Banking System (LEFT JOIN)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204231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customers and their last transaction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Customers LEFT JOIN Transactions (shows all customers, even with no recent transactions)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90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A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3: HR Management (SELF JOIN)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2557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all employees and their supervisors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Employees SELF JOIN (links employee to their manager in same table)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0930" y="40005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A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4: Social Media (SELF JOIN)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3810" y="43205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users who follow each other (mutual connections)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Follows SELF JOIN (user A follows user B AND user B follows user A)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Common Mistakes &amp; How to Avoid Them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1: Forgetting Table Aliases in SELF JOIN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640080"/>
          </a:xfrm>
          <a:prstGeom prst="rect">
            <a:avLst/>
          </a:prstGeom>
          <a:solidFill>
            <a:srgbClr val="FFE5E5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7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Wrong: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627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627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EMPLOYEE ...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640080"/>
          </a:xfrm>
          <a:prstGeom prst="rect">
            <a:avLst/>
          </a:prstGeom>
          <a:solidFill>
            <a:srgbClr val="E5F5E5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63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Correct: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A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 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A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EMPLOYEE m ON...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2: Mixing INNER and LEFT Results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Using INNER JOIN when you need unmatched rows from left 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LEFT JOIN to include all records from left table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 3: Not Checking for NULL Values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Ignoring NULL in results from LEFT JOIN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WHERE conditions to filter NULLs: WHERE table.column IS NULL or IS NOT NULL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Best Practices for Writing Joins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 Meaningful Aliases: Use short but clear aliases (e.g., s for STUDENT, e for ENROLLMENT)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Specify Columns Explicitly: SELECT s.Name, e.CourseID (not SELECT *)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Proper Indentation: Make join conditions readable and maintainable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0545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Index Join Columns: Create indexes on foreign keys for faster query execution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443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Avoid Multiple Joins When Possible: Too many joins can slow down performance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Test with Sample Data: Always verify results with known data before deployment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8221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Document Complex Joins: Add comments explaining the business logic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Summary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1972994"/>
          </a:xfrm>
          <a:prstGeom prst="rect">
            <a:avLst/>
          </a:prstGeom>
          <a:solidFill>
            <a:srgbClr val="E3F2FD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matching rows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NULLs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condition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Ex: Enrolled students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1972994"/>
          </a:xfrm>
          <a:prstGeom prst="rect">
            <a:avLst/>
          </a:prstGeom>
          <a:solidFill>
            <a:srgbClr val="F3E5F5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JOIN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645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left + matching right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NULLs for unmatched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Preserve left table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Ex: All students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2560320" cy="1972994"/>
          </a:xfrm>
          <a:prstGeom prst="rect">
            <a:avLst/>
          </a:prstGeom>
          <a:solidFill>
            <a:srgbClr val="FFF3E0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JOIN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16459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Table joins itself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Needs aliases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Hierarchical data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Ex: Employee-Manager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CEF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Joins: Inner Join, Left Join &amp; Self Join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1525</Words>
  <Application>Microsoft Office PowerPoint</Application>
  <PresentationFormat>On-screen Show (16:9)</PresentationFormat>
  <Paragraphs>317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Sierra Learning</cp:lastModifiedBy>
  <cp:revision>16</cp:revision>
  <dcterms:created xsi:type="dcterms:W3CDTF">2026-07-29T09:39:06Z</dcterms:created>
  <dcterms:modified xsi:type="dcterms:W3CDTF">2026-08-11T06:56:12Z</dcterms:modified>
</cp:coreProperties>
</file>