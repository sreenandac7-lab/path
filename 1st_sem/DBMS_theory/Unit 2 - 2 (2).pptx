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85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5400" b="1" dirty="0">
                <a:solidFill>
                  <a:schemeClr val="accent1"/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SQL Queries &amp; Filtering</a:t>
            </a:r>
            <a:endParaRPr lang="en-US" sz="5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0" y="2377440"/>
            <a:ext cx="365760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SELECT Mastery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1"/>
                </a:solidFill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Core Query Operations | Filtering, Sorting, Expressions | Comprehensive Examples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Course Foundation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Textbook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Fundamentals of Database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Ramez Elmasri &amp; Shamkant B. Navathe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Pearson Education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7th Edition, 2016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Covered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SELECT Fundamentals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Projection &amp; Selection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212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WHERE Clause &amp; Operators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542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Sorting with ORDER BY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8712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DISTINCT &amp; LIMIT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Pattern Matching (LIKE)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3529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 &amp; BETWEEN Operators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NULL Handling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41879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Expressions &amp; Functions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517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Real-World Examples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097280"/>
            <a:ext cx="1371600" cy="13716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accent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72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0" y="11887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Fundamentals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core query operations: projection, selection, and basic retrieval</a:t>
            </a:r>
            <a:endParaRPr lang="en-US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SELECT?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retrieves data from a database.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the most used SQL statement, combining PROJECTION (choosing columns) and SELECTION (filtering rows).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Statement Structure: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12848"/>
            <a:ext cx="8503920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   column1, column2, ...    -- PROJECTION (which columns)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   table_name              -- Which 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   condition               -- SELECTION (which rows)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  column ASC/DESC          -- Sorting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     number;                 -- Restrict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Concepts: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</a:t>
            </a: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PROJECTION: 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WHICH COLUMNS to display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2277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</a:t>
            </a: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SELECTION:    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WHICH ROWS to include (WHERE clause)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8795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</a:t>
            </a: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FROM:            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Specify the source table(s)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5312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↕️ </a:t>
            </a: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BY:     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results ascending/descending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1830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✂️ </a:t>
            </a: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LIMIT:             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 number of returned rows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PROJECTION: Choosing Columns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50570" y="960120"/>
            <a:ext cx="7551420" cy="391668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1498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PROJECTION: SELECT clause determines which columns appear in the result. Skip columns you don't need.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540" y="1520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 Types: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0050" y="1831616"/>
            <a:ext cx="62422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Select Specific 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2890" y="2078504"/>
            <a:ext cx="645033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049" y="2116604"/>
            <a:ext cx="6242255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200" dirty="0" err="1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StudentID</a:t>
            </a: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Name, Email FROM STUDENT;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23410" y="2409212"/>
            <a:ext cx="39609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only StudentID, Name, Email (3 columns)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535704"/>
            <a:ext cx="62422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Select All Columns (*)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9080" y="2782592"/>
            <a:ext cx="645033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19168"/>
            <a:ext cx="6242255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312092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ALL columns (StudentID, Name, Email, Age, GPA, DeptID)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0050" y="3268748"/>
            <a:ext cx="62422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Select with Expressions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2890" y="3515636"/>
            <a:ext cx="645033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050" y="3533924"/>
            <a:ext cx="6242255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StudentID, Name, GPA * 100 AS GPA_Percentage FROM STUDENT;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23410" y="3853964"/>
            <a:ext cx="45095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Displays GPA as a percentage (e.g., 3.8 becomes 380)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0050" y="3998744"/>
            <a:ext cx="62422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Select with Aliases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2890" y="4245632"/>
            <a:ext cx="645033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050" y="4291352"/>
            <a:ext cx="6242255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StudentID AS 'ID', Name AS 'Full Name' FROM STUDENT;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23410" y="4583960"/>
            <a:ext cx="45728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Renames columns in output (ID, Full Name)</a:t>
            </a:r>
            <a:endParaRPr lang="en-US" sz="1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SELECTION: Filtering Rows with WHERE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" y="914400"/>
            <a:ext cx="7741920" cy="4572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7897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SELECTION: WHERE clause filters rows based on conditions. Only rows meeting the condition are returned.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13807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Syntax &amp; Examples: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54124"/>
            <a:ext cx="44466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Equality Condition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5260" y="2001012"/>
            <a:ext cx="53263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53" y="1991868"/>
            <a:ext cx="5070987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WHERE StudentID = 'S001';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09260" y="2039112"/>
            <a:ext cx="4397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Rajesh's record (S001)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2420" y="2476500"/>
            <a:ext cx="44466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Operators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5260" y="2723388"/>
            <a:ext cx="53263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013" y="2759964"/>
            <a:ext cx="4446639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 FROM STUDENT WHERE Age &gt; 20;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55920" y="2761488"/>
            <a:ext cx="4397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students older than 20 (Priya, Neha)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2420" y="3372612"/>
            <a:ext cx="44466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EQUAL Condition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5260" y="3619500"/>
            <a:ext cx="532638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420" y="3642360"/>
            <a:ext cx="477012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DeptID != 'D01';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5920" y="3657600"/>
            <a:ext cx="4397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students NOT in D01 department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2420" y="4268724"/>
            <a:ext cx="44466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Conditions (AND)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5260" y="4515612"/>
            <a:ext cx="5326380" cy="379476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420" y="4607052"/>
            <a:ext cx="526542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Age &gt; 19 AND GPA &gt; 3.7;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5920" y="4553712"/>
            <a:ext cx="4397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students 19+ years old with GPA above 3.7</a:t>
            </a:r>
            <a:endParaRPr lang="en-US" sz="1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Clause: Comparison Operators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214703"/>
              </p:ext>
            </p:extLst>
          </p:nvPr>
        </p:nvGraphicFramePr>
        <p:xfrm>
          <a:off x="320040" y="877824"/>
          <a:ext cx="8503920" cy="4128519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Operator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=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Equal 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= 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Exactly age 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!=, &lt;&gt;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equal 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!= 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age except 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than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GPA &gt; 3.5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GPA above 3.5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Less than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&lt; 21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Younger than 21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or equal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&gt;= 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and older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&lt;=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Less or equal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GPA &lt;= 3.8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 and below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AND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Both conditions true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&gt; 20 AND GPA &gt; 3.7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 20+ AND high GPA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Either condition true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= 20 OR DeptID = 'D01'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 20 OR in D01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Negates condition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NOT DeptID = 'D01'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in D01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8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()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Parentheses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(Age &gt; 20) AND (GPA &gt; 3.7)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Explicit grouping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BY: Sorting Results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196340" y="923544"/>
            <a:ext cx="7208520" cy="4572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1196340" y="1005840"/>
            <a:ext cx="684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BY sorts query results. Default is ascending (A-Z, 0-9). Use DESC for descending.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" y="1389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Examples: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Ascending (A-Z, Default)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892808"/>
            <a:ext cx="4876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GPA FROM STUDENT ORDER BY Name;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42560" y="1947672"/>
            <a:ext cx="3307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Amit, Neha, Priya, Rajesh (alphabetical)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Descending (Z-A)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788920"/>
            <a:ext cx="48768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GPA FROM STUDENT ORDER BY GPA DESC;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42560" y="2843784"/>
            <a:ext cx="4030980" cy="263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Highest GPA first: Priya (3.9), Rajesh (3.8), Neha (3.7)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4381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Columns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701796"/>
            <a:ext cx="4876800" cy="41071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7647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ORDER BY DeptID ASC, Name ASC;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42560" y="3739896"/>
            <a:ext cx="3924300" cy="227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First by DeptID, then alphabetically within each dept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4334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Column Position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597146"/>
            <a:ext cx="4876800" cy="38633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7258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 FROM STUDENT ORDER BY 2 DESC;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2560" y="4636008"/>
            <a:ext cx="36728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Sort by 2nd column (Age) descending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DISTINCT: Eliminating Duplicates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86840" y="960120"/>
            <a:ext cx="6461760" cy="4572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removes duplicate rows from results. Useful for finding unique values in a column.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9060" y="14036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Examples: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22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Unique Departments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69008"/>
            <a:ext cx="40233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DeptID FROM STUDENT;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00863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Returns: D01, D02 (no duplicates, even if 10 students in D01)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402336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42260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Age, DeptID FROM STUDENT;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807208"/>
            <a:ext cx="3276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Unique combinations of Age and DeptID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Unique Values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85032"/>
            <a:ext cx="402336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38372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COUNT(DISTINCT DeptID) FROM STUDENT;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703320"/>
            <a:ext cx="3589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Returns: 2 (exactly 2 departments represented)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334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DISTINCT (For Comparison)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581144"/>
            <a:ext cx="402336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26864"/>
            <a:ext cx="822960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DeptID FROM STUDENT;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4581144"/>
            <a:ext cx="3672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Returns: D01, D02, D01, D02, D01 (with duplicates)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LIMIT: Restricting Result Count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restricts the number of rows returned. Useful for pagination, TOP N queries, and preventing large result sets.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1371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Usage Examples: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26311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Top 3 Students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16810"/>
            <a:ext cx="5471160" cy="431673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57200" y="2008251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GPA FROM STUDENT ORDER BY GPA DESC LIMIT 3;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28360" y="1970913"/>
            <a:ext cx="3048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top 3 students by GPA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49555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Pagination (Skip First 2, Get Next 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5471160" cy="46253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43784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LIMIT 2, 2;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8360" y="2744724"/>
            <a:ext cx="2819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Skip 2 rows, return next 2 (rows 3-4)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3787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First 5 Records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37788"/>
            <a:ext cx="5471160" cy="40843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29228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LIMIT 5;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8360" y="3646170"/>
            <a:ext cx="28194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Returns first 5 student records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18566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Scenario: Show Top 10 Results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437126"/>
            <a:ext cx="5471160" cy="60731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8566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GPA DESC LIMIT 10;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28360" y="4588764"/>
            <a:ext cx="26441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Top 10 performers by GPA</a:t>
            </a:r>
            <a:endParaRPr lang="en-US" sz="1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2400" y="1737361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72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303020" y="975360"/>
            <a:ext cx="80391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Filtering &amp; Expressions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03120" y="17830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operators, pattern matching, and calculations in queries</a:t>
            </a:r>
            <a:endParaRPr lang="en-US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LIKE: Pattern Matching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 performs pattern matching on string columns. Uses wildcards: % (any characters) and _ (single character).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17564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Wildcard Patterns: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" y="216789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Zero or more characters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" y="246049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Exactly one character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" y="275310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'R%'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Starts with 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" y="304571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'%h'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Ends with 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" y="333832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'%raj%' 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Contains 'raj'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" y="363093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'R_j_sh'</a:t>
            </a: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R?j?sh pattern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95600" y="17297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 Examples: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98420" y="2100072"/>
            <a:ext cx="3352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5580" y="210921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'R%';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51220" y="22265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Names starting with R: Rajesh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98420" y="2823972"/>
            <a:ext cx="3352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5580" y="29154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Email LIKE '%@college.edu';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12180" y="28773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All college.edu emails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98420" y="3525012"/>
            <a:ext cx="3352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5580" y="361645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'%h';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8380" y="3611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Names ending with h: Rajesh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98420" y="4279392"/>
            <a:ext cx="3352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5580" y="437083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'_riy%';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12180" y="4358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Name with 'riy' at position 2-4: Priya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IN: Multiple Value Matching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219200" y="907923"/>
            <a:ext cx="6537960" cy="361188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5021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checks if a value exists in a list. Equivalent to multiple OR conditions but more readable.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1288161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vs OR Comparison: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285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4604"/>
            <a:ext cx="55473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6044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WHERE DeptID IN ('D01', 'D02', 'D03');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8880" y="1830324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Clean and readable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21960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Equivalent using 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24684"/>
            <a:ext cx="5547360" cy="74066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2116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DeptID = 'D01'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DeptID = 'D02'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DeptID = 'D03';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78880" y="2580132"/>
            <a:ext cx="181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Verbose and repetitive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2628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with NOT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79292"/>
            <a:ext cx="55473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707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Age NOT IN (19, 20);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6500" y="3441954"/>
            <a:ext cx="24460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Exclude ages 19 and 20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98449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from Another Query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25290"/>
            <a:ext cx="5547360" cy="71704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1673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StudentID IN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StudentID FROM ENROLLMENT);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6500" y="4267962"/>
            <a:ext cx="2065020" cy="262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Only enrolled students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BETWEEN: Range Queries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287780" y="937260"/>
            <a:ext cx="6583680" cy="3429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 selects values within a range (inclusive). Works with numbers, dates, and text.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12573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 Examples: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Numeric Range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76400"/>
            <a:ext cx="850392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62684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BETWEEN 19 AND 21;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5130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Age 19, 20, or 21 (inclusive)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3622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GPA Range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09088"/>
            <a:ext cx="850392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86228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GPA BETWEEN 3.5 AND 4.0;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39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All students with 3.5 ≤ GPA ≤ 4.0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2948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509772"/>
            <a:ext cx="8503920" cy="4069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18916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ENROLLMENT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EnrollDate BETWEEN '2024-01-01' AND '2024-12-31';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9166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Enrollments in 2024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2275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Range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74464"/>
            <a:ext cx="8503920" cy="40690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74464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BETWEEN 'A' AND 'P';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88594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Names A through P (alphabetically)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NULL / IS NOT NULL: Handling Missing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NULL and IS NOT NULL check for NULL values. Regular = NULL doesn't work; must use IS NULL.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Handling Examples: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Correct: WHERE Age IS NULL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Wrong: WHERE Age = NULL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Correct: WHERE Phone IS NOT NULL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Wrong: WHERE Phone != NULL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Examples: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40690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762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Email IS NULL;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24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Students without email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953512"/>
            <a:ext cx="40690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8094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Phone IS NOT NULL;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Only records with phone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3758184"/>
            <a:ext cx="40690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7901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IS NOT NULL;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42336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All students with recorded age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Arithmetic Expressions: Calculations in Queries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37260"/>
            <a:ext cx="8503920" cy="4572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87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arithmetic operators (+, -, *, /) to calculate values in SELECT clause. Order of operations applies.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975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Arithmetic Operators &amp; Examples: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504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836420"/>
            <a:ext cx="8503920" cy="3581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GPA, GPA * 100 AS GPA_Percentage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9608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3.8 → 380, 3.9 → 390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4612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662428"/>
            <a:ext cx="8503920" cy="3581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4871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Age, Age + 4 AS Age_In_4_Years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14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20 → 24, 19 → 23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1958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380232"/>
            <a:ext cx="8503920" cy="3733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7261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ProductName, Price, Price / 12 AS Monthly_Cost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5361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Annual cost divided into 12 months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98449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Expression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850392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9862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StudentID, (Age * 365) AS Days_Old,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 * 10 AS Scaled_GPA FROM STUDENT;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8114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Multiple calculations in one query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Functions: Text Manipulation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301191"/>
              </p:ext>
            </p:extLst>
          </p:nvPr>
        </p:nvGraphicFramePr>
        <p:xfrm>
          <a:off x="662940" y="1042416"/>
          <a:ext cx="7368540" cy="3721608"/>
        </p:xfrm>
        <a:graphic>
          <a:graphicData uri="http://schemas.openxmlformats.org/drawingml/2006/table">
            <a:tbl>
              <a:tblPr/>
              <a:tblGrid>
                <a:gridCol w="168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CONCAT()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Join strings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CONCAT(FirstName, ' ', LastName)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Rajesh Kumar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LENGTH()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 length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LENGTH('Rajesh')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UPPER()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Uppercase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UPPER('Rajesh')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RAJESH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LOWER()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Lowercase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LOWER('Rajesh')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rajesh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SUBSTR()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part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SUBSTR('Rajesh', 1, 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TRIM()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spaces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TRIM('  Rajesh  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Rajesh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 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REPLACE('raj@old.com', 'old', 'new')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raj@new.com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INSTR()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 position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INSTR('Rajesh', 'a')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N chars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LEFT('Rajesh', 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Raj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RIGHT()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N chars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RIGHT('Rajesh', 3)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Functions: Working with Dates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238246"/>
              </p:ext>
            </p:extLst>
          </p:nvPr>
        </p:nvGraphicFramePr>
        <p:xfrm>
          <a:off x="320040" y="876301"/>
          <a:ext cx="8503920" cy="4066033"/>
        </p:xfrm>
        <a:graphic>
          <a:graphicData uri="http://schemas.openxmlformats.org/drawingml/2006/table">
            <a:tbl>
              <a:tblPr/>
              <a:tblGrid>
                <a:gridCol w="145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2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date/time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NOW();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2024-07-24 14:30:45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CURDATE()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CURDATE();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2024-07-24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year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YEAR('2024-07-24')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month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MONTH('2024-07-24')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day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DAY('2024-07-24')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9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DATE_ADD()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 days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DATE_ADD('2024-07-24', INTERVAL 5 DAY)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2024-07-29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9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DATE_SUB()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Subtract days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DATE_SUB('2024-07-24', INTERVAL 1 MONTH)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2024-06-24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9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DATEDIFF()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 between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DATEDIFF('2024-12-31', '2024-07-24')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9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DATE_FORMAT()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 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DATE_FORMAT('2024-07-24', '%Y-%m-%d')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2024-07-24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LAST_DAY()</a:t>
                      </a:r>
                      <a:endParaRPr lang="en-US" sz="11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day of month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LAST_DAY('2024-07-24')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2024-07-31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Query Example: Putting It All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Scenario: Find top 10 high-performing students from CS department, excluding incomplete records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320040" y="1210818"/>
            <a:ext cx="8503920" cy="249097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26058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CONCAT(Name, ' (', StudentID, ')') AS Student,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 * 100 AS GPA_Score,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YEAR(CURDATE()) - YEAR(DOB) AS Age_Calculated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DeptID = 'D01'                    -- CS Department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GPA IS NOT NULL               -- No incomplete records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GPA &gt;= 3.5                    -- High performers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Age BETWEEN 18 AND 25         -- Age range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Email LIKE '%@college.edu'    -- Valid 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GPA DESC, Name ASC          -- Sort by GPA, then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865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Breakdown: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065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</a:t>
            </a: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SELECT: </a:t>
            </a: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CONCAT for display, arithmetic for GPA_Score, YEAR for age calculation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2900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</a:t>
            </a: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WHERE: </a:t>
            </a: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DeptID filter (D01), IS NOT NULL check, &gt;= comparison, BETWEEN range, LIKE pattern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5735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↕️ </a:t>
            </a: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BY: </a:t>
            </a: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sort by GPA DESC (best first), secondary by Name ASC (alphabetical)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569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✂️ </a:t>
            </a: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LIMIT: </a:t>
            </a: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 results returned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 &amp; Best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Common Mistakes: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WHERE Age = NULL (Use IS NULL)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 * without checking result size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Forgetting ORDER BY, then sorting manually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Case-sensitive email searches without LOWER()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LIKE '%text%' on millions of rows (slow)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 using LIMIT in test queries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Confusing AND/OR precedence without 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Best Practices: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IS NULL / IS NOT NULL correctly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10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Always specify column names (avoid SELECT *)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57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ORDER BY explicitly when order matters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05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LOWER() for case-insensitive searches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Index columns used in WHERE/ORDER BY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 with LIMIT first, remove when verified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547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parentheses to clarify AND/OR logic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Performance &amp; Optimization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 Specific Columns, Not *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03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52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StudentID, Name, Email FROM STUDENT;  -- Good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  -- Unnecessary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Reduces data transfer, faster execution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Filter Early with WHERE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8503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210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Age &gt; 20;  -- Good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STUDENT;  -- Then filter in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Database filters, not your application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Index Frequently Used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64992"/>
            <a:ext cx="8503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878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idx_email ON STUDENT(Email);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idx_deptid ON STUDENT(DeptID);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80390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Much faster WHERE and ORDER BY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41422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Use LIMIT for Testing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416552"/>
            <a:ext cx="8503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447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MILLION_ROWS LIMIT 100;  -- Check first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MILLION_ROWS;  -- Then remove LIMIT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85546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Don't retrieve unnecessary huge datasets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Operators Reference</a:t>
            </a:r>
            <a:endParaRPr lang="en-US" sz="4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674940"/>
              </p:ext>
            </p:extLst>
          </p:nvPr>
        </p:nvGraphicFramePr>
        <p:xfrm>
          <a:off x="320040" y="1097280"/>
          <a:ext cx="8503920" cy="3749040"/>
        </p:xfrm>
        <a:graphic>
          <a:graphicData uri="http://schemas.openxmlformats.org/drawingml/2006/table">
            <a:tbl>
              <a:tblPr/>
              <a:tblGrid>
                <a:gridCol w="169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Operator Type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Operators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2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Comparison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=, !=, &lt;&gt;, &lt;, &gt;, &lt;=, &gt;=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values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&gt; 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AND, OR, NOT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 conditions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&gt; 20 AND GPA &gt; 3.5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BETWEEN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range (inclusive)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BETWEEN 19 AND 21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IN, NOT 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multiple values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DeptID IN ('D01', 'D02')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LIKE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 matching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Name LIKE 'R%'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NULL, IS NOT NULL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NULL values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Email IS NOT NULL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Arithmetic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+, -, *,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Calculate values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GPA * 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CONCAT, LENGTH, UPPER, LOWER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 manipulation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CONCAT(First, ' ', Last)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NOW, YEAR, MONTH, DATE_ADD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operations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YEAR(CURDATE())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62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Summary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SELECT retrieves data using PROJECTION (columns) + SELECTION (rows via WHERE)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ORDER BY sorts results ASC/DESC on one or multiple columns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7510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DISTINCT removes duplicate rows; LIMIT restricts result 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LIKE uses % and _ wildcards for pattern matching on strings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 checks multiple values; BETWEEN checks ranges (both inclusive)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IS NULL / IS NOT NULL correctly check for NULL values (not =)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Arithmetic operators (+, -, *, /) perform calculations in SELECT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4106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String functions manipulate text: CONCAT, LENGTH, UPPER, LOWER, SUBSTR, TRIM, REPLACE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342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Date functions work with dates: NOW, YEAR, MONTH, DATE_ADD, DATEDIFF, DATE_FORMAT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27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Always use WHERE to filter early, specify columns, and test with LIMIT first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Terminology Reference</a:t>
            </a:r>
            <a:endParaRPr lang="en-US" sz="4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27758"/>
              </p:ext>
            </p:extLst>
          </p:nvPr>
        </p:nvGraphicFramePr>
        <p:xfrm>
          <a:off x="320040" y="1097280"/>
          <a:ext cx="8503920" cy="3794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Definition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40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Query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 for data from database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* FROM STUDENT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Choosing which columns to display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Name, Email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Choosing which rows to include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Age &gt; 20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Predicate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 in WHERE clause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 &gt; 20 AND GPA &gt; 3.5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component like SELECT, WHERE, ORDER BY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FROM, WHERE, ORDER BY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Aggregate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that combines multiple rows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COUNT, SUM, AVG, MAX, MIN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Alias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Alternative name for column/table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Age AS YearsOld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Calculation or computation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GPA * 100, CONCAT(First, Last)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Wildcard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Symbol for pattern matching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and _ in LIKE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Absence of value (unknown/missing)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 IS NULL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References &amp; Further Learning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Textbook: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Ramez Elmasri &amp; Shamkant B. Navathe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Fundamentals of Database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Pearson Education, 7th Edition, 2016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Chapters 5-6: SQL DML, SELECT, WHERE, Functions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Covered in This Course: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SELECT Statement Fundamentals   ✓ Projection &amp; Selection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WHERE Clause &amp; Operators   ✓ ORDER BY, DISTINCT, LIMIT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LIKE, IN, BETWEEN Operators   ✓ IS NULL / IS NOT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Arithmetic Expressions   ✓ String Functions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Date Functions   ✓ Query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6600" b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Like a Pro!</a:t>
            </a:r>
            <a:endParaRPr lang="en-US" sz="66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0" y="2377440"/>
            <a:ext cx="365760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master SELECT queries and filtering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2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with real datasets. Use WHERE to filter early. Index your columns. Always test with LIMIT first.</a:t>
            </a:r>
            <a:endParaRPr lang="en-US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2930</Words>
  <Application>Microsoft Office PowerPoint</Application>
  <PresentationFormat>On-screen Show (16:9)</PresentationFormat>
  <Paragraphs>528</Paragraphs>
  <Slides>26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Courier New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Shelton Dcunha</cp:lastModifiedBy>
  <cp:revision>55</cp:revision>
  <dcterms:created xsi:type="dcterms:W3CDTF">2026-07-24T04:29:28Z</dcterms:created>
  <dcterms:modified xsi:type="dcterms:W3CDTF">2026-08-04T05:25:32Z</dcterms:modified>
</cp:coreProperties>
</file>