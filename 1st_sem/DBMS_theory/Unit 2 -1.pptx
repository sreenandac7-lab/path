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0" r:id="rId21"/>
    <p:sldId id="275" r:id="rId22"/>
    <p:sldId id="291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6" r:id="rId35"/>
    <p:sldId id="288" r:id="rId36"/>
    <p:sldId id="28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659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Decimal (</a:t>
            </a:r>
            <a:r>
              <a:rPr lang="en-US" dirty="0" err="1"/>
              <a:t>p,s</a:t>
            </a:r>
            <a:r>
              <a:rPr lang="en-US" dirty="0"/>
              <a:t>) : P -&gt; Precision : Total number of digits</a:t>
            </a:r>
          </a:p>
          <a:p>
            <a:r>
              <a:rPr lang="en-US" dirty="0"/>
              <a:t>                        S -&gt; Scale : No. of digits to the right of decimal point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CHAR :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Eg : PIN code, License plate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Length remains fixed / highly predictable / identical across all rows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VARCHAR: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Home address / Product serial number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Varies from one entry to another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Both accept alpha numeric but write them in quotes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BLOB :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Binary Large Object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Stores massive amt of raw binary data as single entity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Stored media files, docs </a:t>
            </a:r>
            <a:r>
              <a:rPr lang="en-US" dirty="0" err="1"/>
              <a:t>etc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rtl="0" eaLnBrk="1" fontAlgn="t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bytes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bytes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bytes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byte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Decimal (</a:t>
            </a:r>
            <a:r>
              <a:rPr lang="en-US" b="1" dirty="0" err="1"/>
              <a:t>p,s</a:t>
            </a:r>
            <a:r>
              <a:rPr lang="en-US" b="1" dirty="0"/>
              <a:t>) : </a:t>
            </a:r>
          </a:p>
          <a:p>
            <a:r>
              <a:rPr lang="en-US" b="1" dirty="0"/>
              <a:t>	P -&gt; Precision </a:t>
            </a:r>
            <a:r>
              <a:rPr lang="en-US" dirty="0"/>
              <a:t>: Total number of digits</a:t>
            </a:r>
          </a:p>
          <a:p>
            <a:r>
              <a:rPr lang="en-US" b="1" dirty="0"/>
              <a:t>                        S -&gt; Scale </a:t>
            </a:r>
            <a:r>
              <a:rPr lang="en-US" dirty="0"/>
              <a:t>: No. of digits to the right of decimal point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MySQL is a human like language used to organize, manage, retrieve </a:t>
            </a:r>
            <a:r>
              <a:rPr lang="en-US" dirty="0" err="1"/>
              <a:t>etc</a:t>
            </a:r>
            <a:r>
              <a:rPr lang="en-US" dirty="0"/>
              <a:t> data in a database. [Language used to talk with the database]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DDL = Defines the structure of building → Table, Column, Database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DML = Manages the data inside building → Insert, Delete, Update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Without DDL you can't make a table.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Without DML you can't put data inside it."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TABLE STUDENT (</a:t>
            </a:r>
          </a:p>
          <a:p>
            <a:r>
              <a:rPr lang="en-US" dirty="0"/>
              <a:t>    </a:t>
            </a:r>
            <a:r>
              <a:rPr lang="en-US" dirty="0" err="1"/>
              <a:t>StudentID</a:t>
            </a:r>
            <a:r>
              <a:rPr lang="en-US" dirty="0"/>
              <a:t> VARCHAR(10) PRIMARY KEY,</a:t>
            </a:r>
          </a:p>
          <a:p>
            <a:r>
              <a:rPr lang="en-US" dirty="0"/>
              <a:t>    Name VARCHAR(50) NOT NULL,</a:t>
            </a:r>
          </a:p>
          <a:p>
            <a:r>
              <a:rPr lang="en-US" dirty="0"/>
              <a:t>    Email VARCHAR(50) UNIQUE,</a:t>
            </a:r>
          </a:p>
          <a:p>
            <a:r>
              <a:rPr lang="en-US" dirty="0"/>
              <a:t>    Age INT CHECK (Age &gt;= 17 AND Age &lt;= 60),</a:t>
            </a:r>
          </a:p>
          <a:p>
            <a:r>
              <a:rPr lang="en-US" dirty="0"/>
              <a:t>    GPA DECIMAL(3,2) DEFAULT 0.0,</a:t>
            </a:r>
          </a:p>
          <a:p>
            <a:r>
              <a:rPr lang="en-US" dirty="0"/>
              <a:t>    </a:t>
            </a:r>
            <a:r>
              <a:rPr lang="en-US" dirty="0" err="1"/>
              <a:t>DeptID</a:t>
            </a:r>
            <a:r>
              <a:rPr lang="en-US" dirty="0"/>
              <a:t> VARCHAR(5) REFERENCES DEPARTMENT(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 TABLE Student</a:t>
            </a:r>
          </a:p>
          <a:p>
            <a:r>
              <a:rPr lang="en-US" dirty="0"/>
              <a:t>	ALTER COLUMN GPA</a:t>
            </a:r>
          </a:p>
          <a:p>
            <a:r>
              <a:rPr lang="en-US" dirty="0"/>
              <a:t>		SET DEFAULT 0.0;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ALTER TABLE 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/>
              <a:t>	ADD CONSTRAINT </a:t>
            </a:r>
            <a:r>
              <a:rPr lang="en-US" dirty="0" err="1"/>
              <a:t>constraint_name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constraint_type</a:t>
            </a:r>
            <a:r>
              <a:rPr lang="en-US" dirty="0"/>
              <a:t> (</a:t>
            </a:r>
            <a:r>
              <a:rPr lang="en-US" dirty="0" err="1"/>
              <a:t>column_name</a:t>
            </a:r>
            <a:r>
              <a:rPr lang="en-US" dirty="0"/>
              <a:t>);</a:t>
            </a:r>
          </a:p>
          <a:p>
            <a:r>
              <a:rPr lang="en-US" dirty="0"/>
              <a:t>Eg : </a:t>
            </a:r>
          </a:p>
          <a:p>
            <a:r>
              <a:rPr lang="en-US" dirty="0"/>
              <a:t>1. ALTER TABLE Student</a:t>
            </a:r>
          </a:p>
          <a:p>
            <a:r>
              <a:rPr lang="en-US" dirty="0"/>
              <a:t>ADD CONSTRAINT </a:t>
            </a:r>
            <a:r>
              <a:rPr lang="en-US" dirty="0" err="1"/>
              <a:t>PK_Student</a:t>
            </a:r>
            <a:endParaRPr lang="en-US" dirty="0"/>
          </a:p>
          <a:p>
            <a:r>
              <a:rPr lang="en-US" dirty="0"/>
              <a:t>PRIMARY KEY (</a:t>
            </a:r>
            <a:r>
              <a:rPr lang="en-US" dirty="0" err="1"/>
              <a:t>StudentID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2. ALTER TABLE Student</a:t>
            </a:r>
          </a:p>
          <a:p>
            <a:r>
              <a:rPr lang="en-US" dirty="0"/>
              <a:t>ADD CONSTRAINT </a:t>
            </a:r>
            <a:r>
              <a:rPr lang="en-US" dirty="0" err="1"/>
              <a:t>FK_Student_Department</a:t>
            </a:r>
            <a:endParaRPr lang="en-US" dirty="0"/>
          </a:p>
          <a:p>
            <a:r>
              <a:rPr lang="en-US" dirty="0"/>
              <a:t>FOREIGN KEY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r>
              <a:rPr lang="en-US" dirty="0"/>
              <a:t>REFERENCES Department(</a:t>
            </a:r>
            <a:r>
              <a:rPr lang="en-US" dirty="0" err="1"/>
              <a:t>DeptID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3. ALTER TABLE Student</a:t>
            </a:r>
          </a:p>
          <a:p>
            <a:r>
              <a:rPr lang="en-US" dirty="0"/>
              <a:t>ADD CONSTRAINT </a:t>
            </a:r>
            <a:r>
              <a:rPr lang="en-US" dirty="0" err="1"/>
              <a:t>UQ_Student_Email</a:t>
            </a:r>
            <a:endParaRPr lang="en-US" dirty="0"/>
          </a:p>
          <a:p>
            <a:r>
              <a:rPr lang="en-US" dirty="0"/>
              <a:t>UNIQUE (Email);</a:t>
            </a:r>
          </a:p>
          <a:p>
            <a:endParaRPr lang="en-US" dirty="0"/>
          </a:p>
          <a:p>
            <a:r>
              <a:rPr lang="en-US" dirty="0"/>
              <a:t>4. ALTER TABLE Student</a:t>
            </a:r>
          </a:p>
          <a:p>
            <a:r>
              <a:rPr lang="en-US" dirty="0"/>
              <a:t>ADD CONSTRAINT </a:t>
            </a:r>
            <a:r>
              <a:rPr lang="en-US" dirty="0" err="1"/>
              <a:t>CHK_Age</a:t>
            </a:r>
            <a:endParaRPr lang="en-US" dirty="0"/>
          </a:p>
          <a:p>
            <a:r>
              <a:rPr lang="en-US" dirty="0"/>
              <a:t>CHECK (Age &gt;= 18);</a:t>
            </a:r>
          </a:p>
          <a:p>
            <a:r>
              <a:rPr lang="en-US" dirty="0"/>
              <a:t>-------------------------------------------------</a:t>
            </a:r>
          </a:p>
          <a:p>
            <a:endParaRPr lang="en-US" dirty="0"/>
          </a:p>
          <a:p>
            <a:r>
              <a:rPr lang="en-US" dirty="0"/>
              <a:t>1. ALTER TABLE Student</a:t>
            </a:r>
          </a:p>
          <a:p>
            <a:r>
              <a:rPr lang="en-US" dirty="0"/>
              <a:t>DROP PRIMARY KEY;</a:t>
            </a:r>
          </a:p>
          <a:p>
            <a:endParaRPr lang="en-US" dirty="0"/>
          </a:p>
          <a:p>
            <a:r>
              <a:rPr lang="en-US" dirty="0"/>
              <a:t>2. ALTER TABLE 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/>
              <a:t>DROP FOREIGN KEY </a:t>
            </a:r>
            <a:r>
              <a:rPr lang="en-US" dirty="0" err="1"/>
              <a:t>constraint_name</a:t>
            </a:r>
            <a:r>
              <a:rPr lang="en-US" dirty="0"/>
              <a:t>;</a:t>
            </a:r>
          </a:p>
          <a:p>
            <a:r>
              <a:rPr lang="en-US" dirty="0"/>
              <a:t>Eg :</a:t>
            </a:r>
          </a:p>
          <a:p>
            <a:r>
              <a:rPr lang="en-US" dirty="0"/>
              <a:t>ALTER TABLE Student</a:t>
            </a:r>
          </a:p>
          <a:p>
            <a:r>
              <a:rPr lang="en-US" dirty="0"/>
              <a:t>DROP FOREIGN KEY </a:t>
            </a:r>
            <a:r>
              <a:rPr lang="en-US" dirty="0" err="1"/>
              <a:t>FK_Student_Department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********       ALTER TABLE Student</a:t>
            </a:r>
          </a:p>
          <a:p>
            <a:r>
              <a:rPr lang="en-US" dirty="0"/>
              <a:t>	RENAME COLUMN Name TO </a:t>
            </a:r>
            <a:r>
              <a:rPr lang="en-US" dirty="0" err="1"/>
              <a:t>StudentName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924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, MODIFY </a:t>
            </a:r>
            <a:r>
              <a:rPr lang="en-US" dirty="0" err="1"/>
              <a:t>Column_name</a:t>
            </a:r>
            <a:r>
              <a:rPr lang="en-US" dirty="0"/>
              <a:t> </a:t>
            </a:r>
          </a:p>
          <a:p>
            <a:r>
              <a:rPr lang="en-US" dirty="0"/>
              <a:t>DROP-&gt;COLUMN </a:t>
            </a:r>
            <a:r>
              <a:rPr lang="en-US" dirty="0" err="1"/>
              <a:t>Column_name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The constraint name is optional in many cases, but it is considered a best practice.</a:t>
            </a:r>
            <a:endParaRPr lang="en-IN" dirty="0"/>
          </a:p>
          <a:p>
            <a:r>
              <a:rPr lang="en-IN" b="1" dirty="0"/>
              <a:t>Why do we give a constraint name?</a:t>
            </a:r>
          </a:p>
          <a:p>
            <a:r>
              <a:rPr lang="en-IN" dirty="0"/>
              <a:t>A constraint name acts like a </a:t>
            </a:r>
            <a:r>
              <a:rPr lang="en-IN" b="1" dirty="0"/>
              <a:t>label</a:t>
            </a:r>
            <a:r>
              <a:rPr lang="en-IN" dirty="0"/>
              <a:t> or </a:t>
            </a:r>
            <a:r>
              <a:rPr lang="en-IN" b="1" dirty="0"/>
              <a:t>identifier</a:t>
            </a:r>
            <a:r>
              <a:rPr lang="en-IN" dirty="0"/>
              <a:t> for the constraint. It makes it easier to </a:t>
            </a:r>
            <a:r>
              <a:rPr lang="en-IN" b="1" dirty="0"/>
              <a:t>identify, modify, or remove</a:t>
            </a:r>
            <a:r>
              <a:rPr lang="en-IN" dirty="0"/>
              <a:t> the constraint later.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025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ALL ROWS :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DELETE FROM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DELETE specific row WITH condition: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DELETE FROM </a:t>
            </a:r>
            <a:r>
              <a:rPr lang="en-US" dirty="0" err="1"/>
              <a:t>table_name</a:t>
            </a:r>
            <a:r>
              <a:rPr lang="en-US" dirty="0"/>
              <a:t> WHERE condition;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TRUNCATE :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TRUNCATE TABLE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INTO STUDENT</a:t>
            </a:r>
          </a:p>
          <a:p>
            <a:r>
              <a:rPr lang="en-US" dirty="0"/>
              <a:t>VALUES ('S005', 'Vikram', 'vikram@college.edu');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increment -&gt;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ALWAYS use </a:t>
            </a: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clause in </a:t>
            </a: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Backup data before bulk operations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transactions for multiple operations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data before </a:t>
            </a: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</a:t>
            </a: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UPDATE/DELETE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dataset first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Keep audit logs of changes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BACKUP DATABASE </a:t>
            </a:r>
            <a:r>
              <a:rPr lang="en-US" dirty="0" err="1"/>
              <a:t>databasename</a:t>
            </a:r>
            <a:r>
              <a:rPr lang="en-US" dirty="0"/>
              <a:t> TO DISK = ‘</a:t>
            </a:r>
            <a:r>
              <a:rPr lang="en-US" dirty="0" err="1"/>
              <a:t>filepath</a:t>
            </a:r>
            <a:r>
              <a:rPr lang="en-US" dirty="0"/>
              <a:t>’;</a:t>
            </a:r>
          </a:p>
          <a:p>
            <a:endParaRPr lang="en-US" dirty="0"/>
          </a:p>
          <a:p>
            <a:r>
              <a:rPr lang="en-US" dirty="0"/>
              <a:t>Eg :</a:t>
            </a:r>
          </a:p>
          <a:p>
            <a:r>
              <a:rPr lang="en-US" dirty="0"/>
              <a:t>BACKUP DATABASE </a:t>
            </a:r>
            <a:r>
              <a:rPr lang="en-US" dirty="0" err="1"/>
              <a:t>testDB</a:t>
            </a:r>
            <a:r>
              <a:rPr lang="en-US" dirty="0"/>
              <a:t> TO DISK = ‘D:\backups\</a:t>
            </a:r>
            <a:r>
              <a:rPr lang="en-US" dirty="0" err="1"/>
              <a:t>testDB.bak</a:t>
            </a:r>
            <a:r>
              <a:rPr lang="en-US" dirty="0"/>
              <a:t>’;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Fundamentals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DML Operations | Schema Design &amp; Data Manipulation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Information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1639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7359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Relational Basics &amp; Schema Design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179363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DDL: </a:t>
            </a: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 Operations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11367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Types &amp; Constraints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243371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DML: </a:t>
            </a: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 Operations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Learning Outcomes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the core concepts of relational databases and data normalization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to design normalized database schemas with proper relationships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DDL commands: CREATE, ALTER, and DROP table operations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data integrity constraints: PK, FK, UNIQUE, NOT NULL, CHECK, DEFAULT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 DML operations: INSERT, UPDATE, and DELETE with real-world examples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when and why to use each constraint and data type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Relational Data Model Concepts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organizes data into relations (tables) where data is represented in rows and columns, with relationships maintained through primary and foreign keys.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25807"/>
              </p:ext>
            </p:extLst>
          </p:nvPr>
        </p:nvGraphicFramePr>
        <p:xfrm>
          <a:off x="668215" y="2103120"/>
          <a:ext cx="6893169" cy="2194560"/>
        </p:xfrm>
        <a:graphic>
          <a:graphicData uri="http://schemas.openxmlformats.org/drawingml/2006/table">
            <a:tbl>
              <a:tblPr/>
              <a:tblGrid>
                <a:gridCol w="177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table with rows &amp;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Student, Course,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in a 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student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column in a 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StudentID, Name,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of valid values for an 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Age: 0-120, Email: valid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attributes in a 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table might have degree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Example: Student Relation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Relation (Table):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829857"/>
              </p:ext>
            </p:extLst>
          </p:nvPr>
        </p:nvGraphicFramePr>
        <p:xfrm>
          <a:off x="218049" y="1420837"/>
          <a:ext cx="5852160" cy="1737360"/>
        </p:xfrm>
        <a:graphic>
          <a:graphicData uri="http://schemas.openxmlformats.org/drawingml/2006/table">
            <a:tbl>
              <a:tblPr/>
              <a:tblGrid>
                <a:gridCol w="94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 Kumar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rajesh@college.edu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priya@college.edu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Patel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amit@college.edu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Singh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neha@college.edu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309360" y="1371599"/>
            <a:ext cx="2743200" cy="2518117"/>
          </a:xfrm>
          <a:prstGeom prst="rect">
            <a:avLst/>
          </a:prstGeom>
          <a:solidFill>
            <a:srgbClr val="D9E1F2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554480"/>
            <a:ext cx="2560320" cy="2180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Terminology:</a:t>
            </a:r>
            <a:endParaRPr lang="en-US" sz="12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Relation: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attributes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tuples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StudentID, Name,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Email,Age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GPA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Tuples: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S001, Rajesh...)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SQL Data Types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 Types and Their Usage: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98570"/>
              </p:ext>
            </p:extLst>
          </p:nvPr>
        </p:nvGraphicFramePr>
        <p:xfrm>
          <a:off x="817013" y="1303020"/>
          <a:ext cx="6446520" cy="37033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Age: 25, Quantity: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DECIMAL(p,s)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Fixed-point decimals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99.99, GPA: 3.85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VARCHAR(n)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(variable length)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Name: 'Rajesh Kumar'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CHAR(n)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Code: 'ABC123'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'2024-01-15'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'2024-01-15 14:30:00'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IsActive: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TEXT/BLOB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text/binary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Comments,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Understanding Domains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 set of valid values that an attribute can take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475552"/>
              </p:ext>
            </p:extLst>
          </p:nvPr>
        </p:nvGraphicFramePr>
        <p:xfrm>
          <a:off x="274320" y="1554480"/>
          <a:ext cx="8595360" cy="2743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(Valid Values)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Values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S001 to S999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S9999, ST001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to 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 200, 'abc'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 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invalid@, @college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DECIMAL(2,1)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to 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5.0, -1.5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2020-01-01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2019-12-31, '01/01/2021'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Designing Simple Database Schemas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r>
              <a:rPr lang="en-US" sz="16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defining all tables, columns, data types, and relationships in a database.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objects?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(Student, Course, Department)</a:t>
            </a:r>
            <a:endParaRPr lang="en-US" sz="1600" b="1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Attributes: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about each entity?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(StudentID, Name, Email)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Relationships: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entities relate?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enrolls in Course)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Normalization: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data redundancy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(1NF, 2NF, 3NF)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Constraints: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rules for data integrity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(PK, FK, UNIQUE, NOT NULL)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Data Types: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types for each attribute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(INT, VARCHAR, DATE)</a:t>
            </a:r>
            <a:endParaRPr 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Example: College Database Schema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Related Tables: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6522" y="1280160"/>
            <a:ext cx="2743200" cy="2286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834640" cy="182880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(PK)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 (FK)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41076" y="1280160"/>
            <a:ext cx="2743200" cy="2286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834640" cy="182880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(PK)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 (FK)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8596" y="1280160"/>
            <a:ext cx="2468880" cy="2286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82880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 (PK)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Student → Department (DeptID FK), Course → Department (DeptID FK)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Introduction to DDL (Data Definition Language)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is used to define and modify the structure of database objects (tables, schemas, indexes, etc.)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DDL Commands: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92166"/>
              </p:ext>
            </p:extLst>
          </p:nvPr>
        </p:nvGraphicFramePr>
        <p:xfrm>
          <a:off x="914400" y="1920240"/>
          <a:ext cx="7455877" cy="2791968"/>
        </p:xfrm>
        <a:graphic>
          <a:graphicData uri="http://schemas.openxmlformats.org/drawingml/2006/table">
            <a:tbl>
              <a:tblPr/>
              <a:tblGrid>
                <a:gridCol w="172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Operation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database objects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TABLE, CREATE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existing objects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: ADD COLUMN, MODIFY 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objects from 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TABLE, DROP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all rows (keep structure)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TABLE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objects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TABLE OldName TO NewName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DDL: CREATE TABLE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716897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9221" y="991217"/>
            <a:ext cx="4339883" cy="152702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572" y="950625"/>
            <a:ext cx="4037428" cy="1567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table_name (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column_name data_type constraints,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column_name data_type constraints,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(column_name),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(column_name)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other_table(column_name)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43132" y="2538665"/>
            <a:ext cx="42859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51692" y="2798419"/>
            <a:ext cx="4557933" cy="228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571" y="2851171"/>
            <a:ext cx="4375053" cy="2004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StudentID VARCHAR(10) NOT NULL,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 VARCHAR(50) NOT NULL,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VARCHAR(50) UNIQUE,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Age INT CHECK (Age &gt;= 17 AND Age &lt;= 60),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GPA DECIMAL(3,2) DEFAULT 0.0,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b="1" dirty="0" err="1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DeptID</a:t>
            </a: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VARCHAR(5),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(StudentID),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(DeptID)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DEPARTMENT(DeptID)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Database Constraints -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97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 Use Constraints?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 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 IDs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negative 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fields filled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 relationships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stays accurate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2942" y="1508760"/>
            <a:ext cx="22789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12942" y="1783080"/>
            <a:ext cx="2278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records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Invalid data (Age=-50)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info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Broken relationships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verification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8850" y="1438422"/>
            <a:ext cx="213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Types: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8850" y="1804182"/>
            <a:ext cx="21312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NOT NULL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UNIQUE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PRIMARY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FOREIGN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DEFAULT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NOT NULL Constraint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with NOT NULL must always contain a value. NULL is not allowed.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NOT NULL?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Ensure essential data is present (Name, Email, 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Prevent incomplete records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Avoid database queries that fail due to missing info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Maintain data completeness and quality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41148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data_type NOT NULL;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971800"/>
            <a:ext cx="41148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VARCHAR(50) NOT NULL;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NOT NULL?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 insert student WITHOUT a name → Incomplete records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Queries might fail or give incorrect results when encountering NULL values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UNIQUE Constraint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All values in a UNIQUE column/columns must be different. Duplicates are NOT allowed.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UNIQUE?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Prevent duplicate emails (no two students with same email)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Ensure unique identifiers (Roll numbers, Employee IDs, SKU)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Maintain distinct values for specific attributes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Difference from PK: Can have multiple UNIQUE columns, allows NULL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VARCHAR(50) UNIQUE;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(Email, Phone);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06324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54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VARCHAR(50) UNIQUE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UNIQUE?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Multiple students with same email allowed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uniquely identify records by email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Data quality issues (e.g., two different students with raj@college.edu)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PRIMARY KEY Constraint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Primary Key uniquely identifies each row in a table. NOT NULL + UNIQUE combined.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PRIMARY KEY?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Each row has unique identity (StudentID identifies one student only)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Enables relationships via Foreign Keys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Prevents duplicate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Required for database integrity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Indexed automatically for fast retrieval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(StudentID);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StudentID INT PRIMARY KEY;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15468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246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StudentID VARCHAR(10)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KEY,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1376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PRIMARY KEY?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Duplicate student records possible (S001 could exist twice)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create Foreign Key relationships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guaranteed way to identify individual 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Database becomes unreliable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FOREIGN KEY Constraint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Foreign Key links records in one table to records in another table, maintaining referential integrity.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FOREIGN KEY?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Maintain relationships between tables (Student belongs to Department)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Prevent orphaned records (cannot delete Department if students exist)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Ensure referential integrity (StudentID in ENROLLMENT must exist in STUDENT)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 validation of relationships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6457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148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30333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(DeptID)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DEPARTMENT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(DeptID)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76457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063240"/>
            <a:ext cx="41148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30333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Table: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(StudentID)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(StudentID)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085251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FOREIGN KEY?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56213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 insert DeptID=999 in STUDENT table (department doesn't exist)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 delete DEPARTMENT but students still reference it (orphaned records)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Broken relationships between tables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Data inconsistency and referential anomalies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 CHECK Constraint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CHECK constraint ensures that all values in a column satisfy a specific condition.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CHECK?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 business rules (Age 17-60, Salary &gt; 0, GPA 0.0-4.0)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Prevent invalid data entry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Enforce domain constraints automatically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Improve data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(condition);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INT CHECK (Age &gt;= 17);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DECIMAL(8,2)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(Salary &gt; 0);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DECIMAL(3,2)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(GPA BETWEEN 0 AND 4);</a:t>
            </a:r>
            <a:endParaRPr lang="en-US" sz="11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000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CHECK?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Age = -5 accepted (invalid)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Salary = -1000 (negative salary)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GPA = 5.5 out of 4.0 (impossible)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automatic validation at database level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DEFAULT Constraint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DEFAULT specifies a default value for a column if no value is provided during INSERT.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DEFAULT?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Simplify data entry (don't require every field)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standard values (all new students start with GPA=0.0)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Improve data consistency (Status='Active' by default)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Reduce NULL values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4114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data_type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value;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971800"/>
            <a:ext cx="4114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DECIMAL(3,2) DEFAULT 0.0;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JoinDate DATE DEFAULT CURDATE();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DEFAULT?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Must manually enter value for every record (tedious)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More NULL values in database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Inconsistent data (some GPA=0, some NULL)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Slower data entry process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DDL: ALTER TABLE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ALTER TABLE is used to modify the structure of an existing table.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ALTER Operations: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42512"/>
              </p:ext>
            </p:extLst>
          </p:nvPr>
        </p:nvGraphicFramePr>
        <p:xfrm>
          <a:off x="274320" y="1828800"/>
          <a:ext cx="8595360" cy="2880360"/>
        </p:xfrm>
        <a:graphic>
          <a:graphicData uri="http://schemas.openxmlformats.org/drawingml/2006/table">
            <a:tbl>
              <a:tblPr/>
              <a:tblGrid>
                <a:gridCol w="194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column to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Phone VARCHAR(15);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data type/constraints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Age INT CHECK (Age&gt;=17);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column from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Phone;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pk_id PRIMARY KEY(ID);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existing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pk_id;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a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STUDENT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column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Name TO FullName;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7AC0F5-5B20-DF7B-3046-3D888438C43A}"/>
              </a:ext>
            </a:extLst>
          </p:cNvPr>
          <p:cNvSpPr txBox="1"/>
          <p:nvPr/>
        </p:nvSpPr>
        <p:spPr>
          <a:xfrm>
            <a:off x="304800" y="171093"/>
            <a:ext cx="838809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ALTER TABLE </a:t>
            </a:r>
            <a:r>
              <a:rPr lang="en-IN" dirty="0" err="1"/>
              <a:t>table_name</a:t>
            </a:r>
            <a:endParaRPr lang="en-IN" dirty="0"/>
          </a:p>
          <a:p>
            <a:r>
              <a:rPr lang="en-IN" dirty="0"/>
              <a:t>	ADD CONSTRAINT </a:t>
            </a:r>
            <a:r>
              <a:rPr lang="en-IN" dirty="0" err="1"/>
              <a:t>constraint_name</a:t>
            </a:r>
            <a:endParaRPr lang="en-IN" dirty="0"/>
          </a:p>
          <a:p>
            <a:r>
              <a:rPr lang="en-IN" dirty="0"/>
              <a:t>	PRIMARY KEY (</a:t>
            </a:r>
            <a:r>
              <a:rPr lang="en-IN" dirty="0" err="1"/>
              <a:t>column_name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-&gt; Eg :	</a:t>
            </a:r>
            <a:r>
              <a:rPr lang="en-US" dirty="0"/>
              <a:t>ALTER TABLE Student</a:t>
            </a:r>
          </a:p>
          <a:p>
            <a:r>
              <a:rPr lang="en-US" dirty="0"/>
              <a:t>	ADD CONSTRAINT </a:t>
            </a:r>
            <a:r>
              <a:rPr lang="en-US" dirty="0" err="1"/>
              <a:t>PK_Student</a:t>
            </a:r>
            <a:endParaRPr lang="en-US" dirty="0"/>
          </a:p>
          <a:p>
            <a:r>
              <a:rPr lang="en-US" dirty="0"/>
              <a:t>	PRIMARY KEY (</a:t>
            </a:r>
            <a:r>
              <a:rPr lang="en-US" dirty="0" err="1"/>
              <a:t>StudentID</a:t>
            </a:r>
            <a:r>
              <a:rPr lang="en-US" dirty="0"/>
              <a:t>);</a:t>
            </a:r>
            <a:endParaRPr lang="en-IN" dirty="0"/>
          </a:p>
          <a:p>
            <a:endParaRPr lang="en-IN" dirty="0"/>
          </a:p>
          <a:p>
            <a:r>
              <a:rPr lang="en-IN" dirty="0"/>
              <a:t>2. </a:t>
            </a:r>
            <a:r>
              <a:rPr lang="en-US" dirty="0"/>
              <a:t>ALTER TABLE 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/>
              <a:t>	ADD CONSTRAINT </a:t>
            </a:r>
            <a:r>
              <a:rPr lang="en-US" dirty="0" err="1"/>
              <a:t>constraint_name</a:t>
            </a:r>
            <a:endParaRPr lang="en-US" dirty="0"/>
          </a:p>
          <a:p>
            <a:r>
              <a:rPr lang="en-US" dirty="0"/>
              <a:t>	FOREIGN KEY (</a:t>
            </a:r>
            <a:r>
              <a:rPr lang="en-US" dirty="0" err="1"/>
              <a:t>column_name</a:t>
            </a:r>
            <a:r>
              <a:rPr lang="en-US" dirty="0"/>
              <a:t>)</a:t>
            </a:r>
          </a:p>
          <a:p>
            <a:r>
              <a:rPr lang="en-US" dirty="0"/>
              <a:t>	REFERENCES </a:t>
            </a:r>
            <a:r>
              <a:rPr lang="en-US" dirty="0" err="1"/>
              <a:t>parent_table</a:t>
            </a:r>
            <a:r>
              <a:rPr lang="en-US" dirty="0"/>
              <a:t>(</a:t>
            </a:r>
            <a:r>
              <a:rPr lang="en-US" dirty="0" err="1"/>
              <a:t>parent_column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-&gt; Eg : 	ALTER TABLE Student</a:t>
            </a:r>
          </a:p>
          <a:p>
            <a:r>
              <a:rPr lang="en-US" dirty="0"/>
              <a:t>	ADD CONSTRAINT </a:t>
            </a:r>
            <a:r>
              <a:rPr lang="en-US" dirty="0" err="1"/>
              <a:t>FK_Student_Department</a:t>
            </a:r>
            <a:endParaRPr lang="en-US" dirty="0"/>
          </a:p>
          <a:p>
            <a:r>
              <a:rPr lang="en-US" dirty="0"/>
              <a:t>	FOREIGN KEY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r>
              <a:rPr lang="en-US" dirty="0"/>
              <a:t>	REFERENCES Department(</a:t>
            </a:r>
            <a:r>
              <a:rPr lang="en-US" dirty="0" err="1"/>
              <a:t>DeptID</a:t>
            </a: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74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ALTER TABLE - Examples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Add Column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ADD Phone VARCHAR(15) NOT NULL;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Modify Column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MODIFY Email VARCHAR(60) UNIQUE;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Add Constraint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ADD CONSTRAINT fk_dept FOREIGN KEY (DeptID) REFERENCES DEPARTMENT(DeptID);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Drop Column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DROP COLUMN Phone;</a:t>
            </a:r>
            <a:endParaRPr lang="en-US" sz="12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4D4290-9EEE-69C2-3C15-A810D26B9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286"/>
              </p:ext>
            </p:extLst>
          </p:nvPr>
        </p:nvGraphicFramePr>
        <p:xfrm>
          <a:off x="243840" y="256416"/>
          <a:ext cx="8692896" cy="4461515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1299161669"/>
                    </a:ext>
                  </a:extLst>
                </a:gridCol>
                <a:gridCol w="4112768">
                  <a:extLst>
                    <a:ext uri="{9D8B030D-6E8A-4147-A177-3AD203B41FA5}">
                      <a16:colId xmlns:a16="http://schemas.microsoft.com/office/drawing/2014/main" val="3961492800"/>
                    </a:ext>
                  </a:extLst>
                </a:gridCol>
                <a:gridCol w="2897632">
                  <a:extLst>
                    <a:ext uri="{9D8B030D-6E8A-4147-A177-3AD203B41FA5}">
                      <a16:colId xmlns:a16="http://schemas.microsoft.com/office/drawing/2014/main" val="105059372"/>
                    </a:ext>
                  </a:extLst>
                </a:gridCol>
              </a:tblGrid>
              <a:tr h="247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Constraint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Add Syntax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Drop Syntax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44584"/>
                  </a:ext>
                </a:extLst>
              </a:tr>
              <a:tr h="988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PRIMARY KEY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 ADD CONSTRAINT name PRIMARY KEY(column);</a:t>
                      </a:r>
                      <a:endParaRPr lang="en-IN" sz="1600" dirty="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ALTER TABLE table_name DROP PRIMARY KEY;</a:t>
                      </a:r>
                      <a:endParaRPr lang="en-IN" sz="160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559446"/>
                  </a:ext>
                </a:extLst>
              </a:tr>
              <a:tr h="154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FOREIGN KEY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ALTER TABLE table_name ADD CONSTRAINT name FOREIGN KEY(column) REFERENCES parent_table(parent_column);</a:t>
                      </a:r>
                      <a:endParaRPr lang="en-IN" sz="160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ALTER TABLE table_name DROP FOREIGN KEY name;</a:t>
                      </a:r>
                      <a:endParaRPr lang="en-IN" sz="160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435436"/>
                  </a:ext>
                </a:extLst>
              </a:tr>
              <a:tr h="803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UNIQUE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 ADD CONSTRAINT name UNIQUE(column);</a:t>
                      </a:r>
                    </a:p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ALTER TABLE table_name DROP INDEX name;</a:t>
                      </a:r>
                      <a:endParaRPr lang="en-IN" sz="160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137871"/>
                  </a:ext>
                </a:extLst>
              </a:tr>
              <a:tr h="803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CHECK</a:t>
                      </a:r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 ADD CONSTRAINT name CHECK(condition);</a:t>
                      </a:r>
                      <a:endParaRPr lang="en-IN" sz="1600" dirty="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 DROP CHECK name;</a:t>
                      </a:r>
                      <a:endParaRPr lang="en-IN" sz="1600" dirty="0"/>
                    </a:p>
                  </a:txBody>
                  <a:tcPr marL="45948" marR="45948" marT="22974" marB="22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19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204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DDL: DROP TABLE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DROP TABLE removes an entire table and all its data from the database permanently.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WARNING: DROP TABLE is PERMANENT and CANNOT be undone!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table_name;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1148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STUDENT;</a:t>
            </a:r>
            <a:endParaRPr lang="en-US" sz="1200" b="1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DROP TABLE?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Remove obsolete tables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up test/temporary tables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Delete entire table structure and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Rarely used in production (high risk!)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Alternatives: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rows but keep structure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specific rows based on conditions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Introduction to DML (Data Manipulation Language)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used to </a:t>
            </a:r>
            <a:r>
              <a:rPr lang="en-US" sz="15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</a:t>
            </a: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5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in database tables.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DML Commands: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766373"/>
              </p:ext>
            </p:extLst>
          </p:nvPr>
        </p:nvGraphicFramePr>
        <p:xfrm>
          <a:off x="274320" y="1920240"/>
          <a:ext cx="8595360" cy="22860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Affects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rows to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new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existing rows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existing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rows from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specific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Retrieve/Query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data (not modify)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DDL (structure) vs DML (data)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defines table structure | DML operates on table data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DML: INSERT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INSERT adds new rows/records into a table.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INSERT?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 new records to database (new student enrolls)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 database with initial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 data from application forms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1148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table_name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(column1, column2, ...)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(value1, value2, ...);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834640"/>
            <a:ext cx="41148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(StudentID, Name, Email)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('S005', 'Vikram',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'vikram@college.edu');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INSERT?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way to add new data to empty tables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Database remains empty or incomplete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INSERT - Advanced Examples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Multiple Rows: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(StudentID, Name, Email, Age) VALUES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('S005', 'Vikram', 'vikram@college.edu', 20),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('S006', 'Zara', 'zara@college.edu', 19),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('S007', 'Ravi', 'ravi@college.edu', 21);</a:t>
            </a:r>
            <a:endParaRPr lang="en-US" sz="1100" b="1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Using DEFAULT Values: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41248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(StudentID, Name, Email)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('S008', 'Priya', 'priya2@college.edu');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Age and GPA will use their DEFAULT values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from SELECT (Copy data from one table to another):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STUDENT_BACKUP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20;</a:t>
            </a:r>
            <a:endParaRPr lang="en-US" sz="11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DML: UPDATE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modifies existing data in a table.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UPDATE?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incorrect data (fix typos in name)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Change values (update GPA after semester)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Modify records based on conditions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Keep data current and accurate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table_name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column1 = value1,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column2 = value2, ...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condition;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4114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GPA = 3.9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StudentID = 'S001';</a:t>
            </a:r>
            <a:endParaRPr lang="en-US" sz="11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IMPORTANT: Always use WHERE clause!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WHERE: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ALL rows in table (disaster!)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WHERE: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only matching rows (safe)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UPDATE - More Examples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Update Single Column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 SET Email = 'rajesh.new@college.edu' WHERE StudentID = 'S001';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Update Multiple Columns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SET Email = 'new.email@college.edu', Age = 21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StudentID = 'S002';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Update Based on Condition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 SET DeptID = 'D02' WHERE Age &gt;= 20;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Calculation in UPDATE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SALARY SET Amount = Amount * 1.10 WHERE DeptID = 'D01';</a:t>
            </a:r>
            <a:endParaRPr lang="en-US" sz="12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DML: DELETE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removes rows from a 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DELETE?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Remove incorrect records (wrong student entry)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Delete inactive accounts (dropped students)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Maintain database by removing obsolete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up test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table_name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condition;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4114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08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StudentID = 'S005';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CRITICAL: Always use WHERE clause!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without WHERE = DELETES ALL ROWS! (Disaster!)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which rows to delete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DELETE - Examples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Delete Single Record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 WHERE StudentID = 'S005';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Delete Based on Condition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 WHERE Age &lt; 18;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Delete Multiple Records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 WHERE DeptID = 'D99';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Alternative: TRUNCATE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STUDENT;  -- Deletes ALL rows but keeps structure (faster than DELETE)</a:t>
            </a:r>
            <a:endParaRPr lang="en-US" sz="12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DML Operations Comparison</a:t>
            </a:r>
            <a:endParaRPr lang="en-US" sz="4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5838"/>
              </p:ext>
            </p:extLst>
          </p:nvPr>
        </p:nvGraphicFramePr>
        <p:xfrm>
          <a:off x="274320" y="1189462"/>
          <a:ext cx="8595360" cy="338253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Reversible?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u="sng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new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new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(DELETE)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existing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(restore old values)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specific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(INSERT again)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all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Clears all rows, keeps 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(be careful!)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table</a:t>
                      </a:r>
                      <a:endParaRPr lang="en-US" sz="14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entire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(backup needed)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Practices for DDL &amp; DML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Best Practices: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Always define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table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maintain relationships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essential columns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domain validation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Choose appropriate data types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Document schema changes with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carefully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57499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Best Practices: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799"/>
            <a:ext cx="7863840" cy="1458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ALWAYS use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clause in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Backup data before bulk operations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 data before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</a:t>
            </a: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UPDATE/DELETE 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dataset first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Complete DDL &amp; DML Summary</a:t>
            </a:r>
            <a:endParaRPr lang="en-US" sz="4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53859"/>
              </p:ext>
            </p:extLst>
          </p:nvPr>
        </p:nvGraphicFramePr>
        <p:xfrm>
          <a:off x="542692" y="1022939"/>
          <a:ext cx="8229600" cy="3520440"/>
        </p:xfrm>
        <a:graphic>
          <a:graphicData uri="http://schemas.openxmlformats.org/drawingml/2006/table">
            <a:tbl>
              <a:tblPr/>
              <a:tblGrid>
                <a:gridCol w="161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objects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ADD 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objects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STUDENT VALUES...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STUDENT SET...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STUDENT WHERE...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9763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DDL is for DATABASE STRUCTURE | DML is for DATABASE DATA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Relations organize data in tables with rows (tuples) and columns (attributes)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Domains define valid values for each attribute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DDL (CREATE, ALTER, DROP) defines database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579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Constraints (PK, FK, NOT NULL, UNIQUE, CHECK, DEFAULT) ensure data integrity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DML (INSERT, UPDATE, DELETE) manipulates data within tables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Always design schemas with normalization and proper relationships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Use WHERE clause with UPDATE and DELETE to avoid mistakes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941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Combine DDL for structure and DML for data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References &amp; Further Study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Ramez Elmasri &amp; Shamkant B. Navathe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Systems (7th Edition)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Education, 2016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5-7: Relational Model, SQL, Database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Covered: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Relational Data Model Fundamentals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Schema Design &amp; Normalization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 DDL for Table Creation &amp; Modification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Integrity Constraints &amp; Data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 DML for Data Manipulation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Practices for Database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schemas for real-world applications • Create tables with constraints • Practice INSERT, UPDATE, DELETE operations • Understand relationships between tables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4073</Words>
  <Application>Microsoft Office PowerPoint</Application>
  <PresentationFormat>On-screen Show (16:9)</PresentationFormat>
  <Paragraphs>771</Paragraphs>
  <Slides>36</Slides>
  <Notes>36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Sierra Learning</cp:lastModifiedBy>
  <cp:revision>120</cp:revision>
  <dcterms:created xsi:type="dcterms:W3CDTF">2026-07-23T05:52:00Z</dcterms:created>
  <dcterms:modified xsi:type="dcterms:W3CDTF">2026-08-03T04:39:17Z</dcterms:modified>
</cp:coreProperties>
</file>