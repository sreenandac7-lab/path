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71" r:id="rId4"/>
    <p:sldId id="259" r:id="rId5"/>
    <p:sldId id="269" r:id="rId6"/>
    <p:sldId id="272" r:id="rId7"/>
    <p:sldId id="258" r:id="rId8"/>
    <p:sldId id="262" r:id="rId9"/>
    <p:sldId id="263" r:id="rId10"/>
    <p:sldId id="261" r:id="rId11"/>
    <p:sldId id="273" r:id="rId12"/>
    <p:sldId id="264" r:id="rId13"/>
    <p:sldId id="260" r:id="rId14"/>
    <p:sldId id="265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30A5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379" autoAdjust="0"/>
  </p:normalViewPr>
  <p:slideViewPr>
    <p:cSldViewPr snapToGrid="0" snapToObjects="1">
      <p:cViewPr varScale="1">
        <p:scale>
          <a:sx n="103" d="100"/>
          <a:sy n="103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905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Inconsistency</a:t>
            </a:r>
            <a:r>
              <a:rPr lang="en-IN" dirty="0"/>
              <a:t> is the state of not staying the same, or a situation where two or more facts, ideas, or statements contradict each other and cannot both be true     = No uniformity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Software</a:t>
            </a:r>
            <a:r>
              <a:rPr lang="en-IN" dirty="0"/>
              <a:t> is a collection of instructions, data, or programs used to operate computers and execute specific tasks.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 </a:t>
            </a:r>
            <a:r>
              <a:rPr lang="en-IN" b="1" dirty="0"/>
              <a:t>File System</a:t>
            </a:r>
            <a:r>
              <a:rPr lang="en-IN" dirty="0"/>
              <a:t> is part of the Operating System. Its job is to store and organize files.</a:t>
            </a:r>
          </a:p>
          <a:p>
            <a:r>
              <a:rPr lang="en-IN" dirty="0"/>
              <a:t>A </a:t>
            </a:r>
            <a:r>
              <a:rPr lang="en-IN" b="1" dirty="0"/>
              <a:t>File-Based System</a:t>
            </a:r>
            <a:r>
              <a:rPr lang="en-IN" dirty="0"/>
              <a:t> is a way of building applications where all data is stored in separate files like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.txt</a:t>
            </a:r>
            <a:r>
              <a:rPr lang="en-IN" dirty="0"/>
              <a:t>,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.csv</a:t>
            </a:r>
            <a:r>
              <a:rPr lang="en-IN" dirty="0"/>
              <a:t>, or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.xlsx</a:t>
            </a:r>
            <a:r>
              <a:rPr lang="en-IN" dirty="0"/>
              <a:t>, without using a database.</a:t>
            </a: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Data storage sources – excel ….others r used by OS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Instead of using MySQL, you maintain: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Customers.xlsx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Products.xlsx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Sales.xlsx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Employees.xlsx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IN" dirty="0"/>
              <a:t>Whenever the software needs customer details, it opens </a:t>
            </a:r>
            <a:r>
              <a:rPr lang="en-IN" b="1" dirty="0"/>
              <a:t>Customers.xlsx</a:t>
            </a:r>
            <a:r>
              <a:rPr lang="en-IN" dirty="0"/>
              <a:t>.</a:t>
            </a:r>
          </a:p>
          <a:p>
            <a:r>
              <a:rPr lang="en-IN" dirty="0"/>
              <a:t>Whenever it needs sales information, it opens </a:t>
            </a:r>
            <a:r>
              <a:rPr lang="en-IN" b="1" dirty="0"/>
              <a:t>Sales.xlsx</a:t>
            </a:r>
            <a:r>
              <a:rPr lang="en-IN" dirty="0"/>
              <a:t>.</a:t>
            </a:r>
          </a:p>
          <a:p>
            <a:r>
              <a:rPr lang="en-IN" dirty="0"/>
              <a:t>That is a </a:t>
            </a:r>
            <a:r>
              <a:rPr lang="en-IN" b="1" dirty="0"/>
              <a:t>File-Based System</a:t>
            </a:r>
            <a:r>
              <a:rPr lang="en-IN" dirty="0"/>
              <a:t>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Why was it a problem?</a:t>
            </a:r>
          </a:p>
          <a:p>
            <a:r>
              <a:rPr lang="en-IN" dirty="0"/>
              <a:t>Imagine Rahul changes his phone number.</a:t>
            </a:r>
          </a:p>
          <a:p>
            <a:r>
              <a:rPr lang="en-IN" dirty="0"/>
              <a:t>His phone number appears in: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students.txt</a:t>
            </a:r>
          </a:p>
          <a:p>
            <a:r>
              <a:rPr lang="en-IN" dirty="0"/>
              <a:t>and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fees.txt</a:t>
            </a:r>
          </a:p>
          <a:p>
            <a:r>
              <a:rPr lang="en-IN" dirty="0"/>
              <a:t>and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library.txt</a:t>
            </a:r>
          </a:p>
          <a:p>
            <a:r>
              <a:rPr lang="en-IN" dirty="0"/>
              <a:t>Now you have to update it in </a:t>
            </a:r>
            <a:r>
              <a:rPr lang="en-IN" b="1" dirty="0"/>
              <a:t>every file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dirty="0"/>
              <a:t>Data Inconsistency </a:t>
            </a:r>
            <a:r>
              <a:rPr lang="en-IN" b="0" dirty="0"/>
              <a:t>means the same information is stored differently in different places.</a:t>
            </a:r>
          </a:p>
          <a:p>
            <a:endParaRPr lang="en-US" dirty="0"/>
          </a:p>
          <a:p>
            <a:r>
              <a:rPr lang="en-IN" b="1" dirty="0"/>
              <a:t>Consistency</a:t>
            </a:r>
            <a:r>
              <a:rPr lang="en-IN" dirty="0"/>
              <a:t> = </a:t>
            </a:r>
            <a:r>
              <a:rPr lang="en-IN" i="1" dirty="0"/>
              <a:t>Same everywhere.</a:t>
            </a:r>
            <a:r>
              <a:rPr lang="en-IN" dirty="0"/>
              <a:t> </a:t>
            </a:r>
          </a:p>
          <a:p>
            <a:r>
              <a:rPr lang="en-IN" b="1" dirty="0"/>
              <a:t>Integrity</a:t>
            </a:r>
            <a:r>
              <a:rPr lang="en-IN" dirty="0"/>
              <a:t> = </a:t>
            </a:r>
            <a:r>
              <a:rPr lang="en-IN" i="1" dirty="0"/>
              <a:t>Correct and trustworthy.</a:t>
            </a:r>
          </a:p>
          <a:p>
            <a:endParaRPr lang="en-IN" i="1" dirty="0"/>
          </a:p>
          <a:p>
            <a:endParaRPr lang="en-IN" i="1" dirty="0"/>
          </a:p>
          <a:p>
            <a:r>
              <a:rPr lang="en-IN" i="1" dirty="0"/>
              <a:t>Concurrent access in </a:t>
            </a:r>
            <a:r>
              <a:rPr lang="en-IN" i="1" dirty="0" err="1"/>
              <a:t>dbms</a:t>
            </a:r>
            <a:r>
              <a:rPr lang="en-IN" i="1" dirty="0"/>
              <a:t> :</a:t>
            </a:r>
          </a:p>
          <a:p>
            <a:r>
              <a:rPr lang="en-IN" dirty="0"/>
              <a:t>Imagine a bank.</a:t>
            </a:r>
          </a:p>
          <a:p>
            <a:r>
              <a:rPr lang="en-IN" dirty="0"/>
              <a:t>Customer A is depositing </a:t>
            </a:r>
            <a:r>
              <a:rPr lang="en-IN" b="1" dirty="0"/>
              <a:t>₹1,000</a:t>
            </a:r>
            <a:r>
              <a:rPr lang="en-IN" dirty="0"/>
              <a:t>. </a:t>
            </a:r>
          </a:p>
          <a:p>
            <a:r>
              <a:rPr lang="en-IN" dirty="0"/>
              <a:t>Customer B is checking the account balance. </a:t>
            </a:r>
          </a:p>
          <a:p>
            <a:r>
              <a:rPr lang="en-IN" dirty="0"/>
              <a:t>Both can use the database </a:t>
            </a:r>
            <a:r>
              <a:rPr lang="en-IN" b="1" dirty="0"/>
              <a:t>simultaneously</a:t>
            </a:r>
            <a:r>
              <a:rPr lang="en-IN" dirty="0"/>
              <a:t> without causing errors.</a:t>
            </a:r>
          </a:p>
          <a:p>
            <a:endParaRPr lang="en-IN" dirty="0"/>
          </a:p>
          <a:p>
            <a:r>
              <a:rPr lang="en-IN" dirty="0"/>
              <a:t>Or in a college database:</a:t>
            </a:r>
          </a:p>
          <a:p>
            <a:r>
              <a:rPr lang="en-IN" dirty="0"/>
              <a:t>The </a:t>
            </a:r>
            <a:r>
              <a:rPr lang="en-IN" b="1" dirty="0"/>
              <a:t>Admission Office</a:t>
            </a:r>
            <a:r>
              <a:rPr lang="en-IN" dirty="0"/>
              <a:t> updates a student's address. </a:t>
            </a:r>
          </a:p>
          <a:p>
            <a:r>
              <a:rPr lang="en-IN" dirty="0"/>
              <a:t>At the same time, the </a:t>
            </a:r>
            <a:r>
              <a:rPr lang="en-IN" b="1" dirty="0"/>
              <a:t>Library</a:t>
            </a:r>
            <a:r>
              <a:rPr lang="en-IN" dirty="0"/>
              <a:t> checks the student's details.</a:t>
            </a:r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5701B-AFDD-EC45-71AC-5F35A4F8D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FD38F-8630-8308-D59E-338441887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30B36E-647B-BFD6-163D-DD863FCF1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"A </a:t>
            </a:r>
            <a:r>
              <a:rPr lang="en-IN" b="1" dirty="0"/>
              <a:t>Database Management System (DBMS)</a:t>
            </a:r>
            <a:r>
              <a:rPr lang="en-IN" dirty="0"/>
              <a:t> is software that helps us </a:t>
            </a:r>
            <a:r>
              <a:rPr lang="en-IN" b="1" dirty="0"/>
              <a:t>create, store, retrieve, update, delete, and manage</a:t>
            </a:r>
            <a:r>
              <a:rPr lang="en-IN" dirty="0"/>
              <a:t> data inside a database."</a:t>
            </a:r>
          </a:p>
          <a:p>
            <a:endParaRPr lang="en-US" dirty="0"/>
          </a:p>
          <a:p>
            <a:r>
              <a:rPr lang="en-IN" dirty="0"/>
              <a:t>Books = </a:t>
            </a:r>
            <a:r>
              <a:rPr lang="en-IN" b="1" dirty="0"/>
              <a:t>Database</a:t>
            </a:r>
            <a:endParaRPr lang="en-IN" dirty="0"/>
          </a:p>
          <a:p>
            <a:r>
              <a:rPr lang="en-IN" dirty="0"/>
              <a:t>Librarian = </a:t>
            </a:r>
            <a:r>
              <a:rPr lang="en-IN" b="1" dirty="0"/>
              <a:t>DBMS</a:t>
            </a:r>
            <a:endParaRPr lang="en-IN" dirty="0"/>
          </a:p>
          <a:p>
            <a:r>
              <a:rPr lang="en-IN" dirty="0"/>
              <a:t>Students = </a:t>
            </a:r>
            <a:r>
              <a:rPr lang="en-IN" b="1" dirty="0"/>
              <a:t>Users</a:t>
            </a:r>
            <a:endParaRPr lang="en-I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DC6E3-3645-FBED-3C25-5A9B14D4E5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428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s/w program -&gt; uses database to -&gt; store, retrieve and manage data for decision making</a:t>
            </a:r>
          </a:p>
          <a:p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Organization: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Stores large volumes of organized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Access: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efficient retrieval and modification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Integrity: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accuracy and uniformity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Multi-user Access: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concurrent users safely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Design plan 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dirty="0"/>
              <a:t>How database is built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dirty="0"/>
              <a:t>Data flow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dirty="0"/>
              <a:t>Access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Components – Main parts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Levels that shows the data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user  - &gt; External view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Application </a:t>
            </a:r>
            <a:r>
              <a:rPr lang="en-US" dirty="0" err="1"/>
              <a:t>pgrmrs</a:t>
            </a:r>
            <a:r>
              <a:rPr lang="en-US" dirty="0"/>
              <a:t> - &gt;</a:t>
            </a:r>
            <a:r>
              <a:rPr lang="en-IN" sz="1200" b="0" dirty="0"/>
              <a:t>External Level + Conceptual Level</a:t>
            </a:r>
          </a:p>
          <a:p>
            <a:r>
              <a:rPr lang="en-US" dirty="0"/>
              <a:t>Database designers -&gt; Conceptual level</a:t>
            </a:r>
          </a:p>
          <a:p>
            <a:r>
              <a:rPr lang="en-US" dirty="0"/>
              <a:t>Database Admin (DBA) -&gt; Conceptual + Internal</a:t>
            </a:r>
          </a:p>
          <a:p>
            <a:endParaRPr lang="en-US" dirty="0"/>
          </a:p>
          <a:p>
            <a:r>
              <a:rPr lang="en-IN" b="1" dirty="0"/>
              <a:t>Data Abstraction </a:t>
            </a:r>
            <a:r>
              <a:rPr lang="en-IN" dirty="0"/>
              <a:t>means hiding unnecessary details and showing only the information that the user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IN" dirty="0"/>
              <a:t>Parse = Read + Understand + Break into parts</a:t>
            </a:r>
          </a:p>
          <a:p>
            <a:pPr marL="228600" indent="-228600">
              <a:buAutoNum type="arabicPeriod"/>
            </a:pPr>
            <a:endParaRPr lang="en-IN" dirty="0"/>
          </a:p>
          <a:p>
            <a:pPr marL="228600" indent="-228600">
              <a:buAutoNum type="arabicPeriod"/>
            </a:pPr>
            <a:endParaRPr lang="en-IN" dirty="0"/>
          </a:p>
          <a:p>
            <a:r>
              <a:rPr lang="en-US" dirty="0"/>
              <a:t>Query processor - clerk</a:t>
            </a:r>
          </a:p>
          <a:p>
            <a:r>
              <a:rPr lang="en-US" dirty="0"/>
              <a:t>Storage manager – record room</a:t>
            </a:r>
          </a:p>
          <a:p>
            <a:r>
              <a:rPr lang="en-US" dirty="0"/>
              <a:t>Transaction manager – rule enforcer (now or never)</a:t>
            </a:r>
          </a:p>
          <a:p>
            <a:r>
              <a:rPr lang="en-US" dirty="0"/>
              <a:t>Buffer manager – office table (frequent data)</a:t>
            </a:r>
          </a:p>
          <a:p>
            <a:r>
              <a:rPr lang="en-US" dirty="0"/>
              <a:t>Security manager – door guard</a:t>
            </a:r>
          </a:p>
          <a:p>
            <a:r>
              <a:rPr lang="en-US" dirty="0"/>
              <a:t>Recovery manager – backup guy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vs File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BCA Students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on: Fundamentals of Database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0060" y="48445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80060" y="99441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29378" y="1654954"/>
            <a:ext cx="3977640" cy="3017520"/>
          </a:xfrm>
          <a:prstGeom prst="roundRect">
            <a:avLst>
              <a:gd name="adj" fmla="val 1818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2220370" y="1727048"/>
            <a:ext cx="411480" cy="4114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7" name="Image 0" descr="icons/folder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524" y="1821303"/>
            <a:ext cx="233172" cy="2331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34720" y="1761338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220370" y="2191347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that organizes how data is named, stored, and retrieved as files and folders directly on a storage device.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2268496" y="2765375"/>
            <a:ext cx="171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97706"/>
                </a:solidFill>
              </a:rPr>
              <a:t>•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440247" y="2758516"/>
            <a:ext cx="33604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raw files: .txt, .csv, .jpg, .mp4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268797" y="3135706"/>
            <a:ext cx="171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97706"/>
                </a:solidFill>
              </a:rPr>
              <a:t>•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440247" y="3135706"/>
            <a:ext cx="33604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understanding of file contents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268797" y="3512896"/>
            <a:ext cx="171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97706"/>
                </a:solidFill>
              </a:rPr>
              <a:t>•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440247" y="3512896"/>
            <a:ext cx="33604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file paths, not queries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220370" y="3862078"/>
            <a:ext cx="3566160" cy="3086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2371667" y="3890086"/>
            <a:ext cx="3429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Examples: NTFS, ext4, APFS, FAT32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342900" y="4855464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vs DBMS — Technical Session</a:t>
            </a:r>
            <a:endParaRPr lang="en-US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35528E-A155-6F17-A35A-AFDF916D2CEC}"/>
              </a:ext>
            </a:extLst>
          </p:cNvPr>
          <p:cNvSpPr txBox="1"/>
          <p:nvPr/>
        </p:nvSpPr>
        <p:spPr>
          <a:xfrm>
            <a:off x="685799" y="910147"/>
            <a:ext cx="81557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i="0" dirty="0">
                <a:solidFill>
                  <a:srgbClr val="222222"/>
                </a:solidFill>
                <a:effectLst/>
                <a:latin typeface="Calibri "/>
              </a:rPr>
              <a:t>Definition:</a:t>
            </a:r>
            <a:br>
              <a:rPr lang="en-IN" sz="1200" dirty="0">
                <a:latin typeface="Calibri "/>
              </a:rPr>
            </a:br>
            <a:r>
              <a:rPr lang="en-IN" sz="1200" dirty="0">
                <a:latin typeface="Calibri "/>
              </a:rPr>
              <a:t>	</a:t>
            </a:r>
            <a:r>
              <a:rPr lang="en-IN" sz="1200" b="0" i="0" dirty="0">
                <a:solidFill>
                  <a:srgbClr val="222222"/>
                </a:solidFill>
                <a:effectLst/>
                <a:latin typeface="Calibri "/>
              </a:rPr>
              <a:t>A file system is a method of storing and managing data in separate files. Each application maintains its own files, which often results in duplicated data, inconsistency(No Uniformity), and difficulty in sharing information.</a:t>
            </a:r>
            <a:endParaRPr lang="en-IN" sz="1200" dirty="0">
              <a:latin typeface="Calibri 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0060" y="582930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80060" y="99441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hierarchy of directories pointing to blocks of raw bytes on disk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0060" y="1474470"/>
            <a:ext cx="4114800" cy="445770"/>
          </a:xfrm>
          <a:prstGeom prst="roundRect">
            <a:avLst>
              <a:gd name="adj" fmla="val 9231"/>
            </a:avLst>
          </a:prstGeom>
          <a:solidFill>
            <a:srgbClr val="D97706"/>
          </a:solidFill>
          <a:ln/>
        </p:spPr>
      </p:sp>
      <p:pic>
        <p:nvPicPr>
          <p:cNvPr id="6" name="Image 0" descr="icons/folderope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1563624"/>
            <a:ext cx="260604" cy="2606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4410" y="1474470"/>
            <a:ext cx="27432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(root)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4380" y="2091690"/>
            <a:ext cx="1783080" cy="3429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Text 6"/>
          <p:cNvSpPr/>
          <p:nvPr/>
        </p:nvSpPr>
        <p:spPr>
          <a:xfrm>
            <a:off x="857250" y="2091690"/>
            <a:ext cx="15773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/customers/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0" y="209169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alice.txt</a:t>
            </a:r>
            <a:endParaRPr lang="en-US" sz="1200" b="1" dirty="0"/>
          </a:p>
        </p:txBody>
      </p:sp>
      <p:sp>
        <p:nvSpPr>
          <p:cNvPr id="11" name="Text 8"/>
          <p:cNvSpPr/>
          <p:nvPr/>
        </p:nvSpPr>
        <p:spPr>
          <a:xfrm>
            <a:off x="2743200" y="237972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bob.txt</a:t>
            </a:r>
            <a:endParaRPr lang="en-US" sz="1200" b="1" dirty="0"/>
          </a:p>
        </p:txBody>
      </p:sp>
      <p:sp>
        <p:nvSpPr>
          <p:cNvPr id="12" name="Text 9"/>
          <p:cNvSpPr/>
          <p:nvPr/>
        </p:nvSpPr>
        <p:spPr>
          <a:xfrm>
            <a:off x="2743200" y="266776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carol.txt</a:t>
            </a:r>
            <a:endParaRPr lang="en-US" sz="1200" b="1" dirty="0"/>
          </a:p>
        </p:txBody>
      </p:sp>
      <p:sp>
        <p:nvSpPr>
          <p:cNvPr id="13" name="Shape 10"/>
          <p:cNvSpPr/>
          <p:nvPr/>
        </p:nvSpPr>
        <p:spPr>
          <a:xfrm>
            <a:off x="754380" y="3154680"/>
            <a:ext cx="1783080" cy="3429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4" name="Text 11"/>
          <p:cNvSpPr/>
          <p:nvPr/>
        </p:nvSpPr>
        <p:spPr>
          <a:xfrm>
            <a:off x="857250" y="3154680"/>
            <a:ext cx="15773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/orders/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74320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order_001.csv</a:t>
            </a:r>
            <a:endParaRPr lang="en-US" sz="1200" b="1" dirty="0"/>
          </a:p>
        </p:txBody>
      </p:sp>
      <p:sp>
        <p:nvSpPr>
          <p:cNvPr id="16" name="Text 13"/>
          <p:cNvSpPr/>
          <p:nvPr/>
        </p:nvSpPr>
        <p:spPr>
          <a:xfrm>
            <a:off x="2743200" y="34427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order_002.csv</a:t>
            </a:r>
            <a:endParaRPr lang="en-US" sz="1200" b="1" dirty="0"/>
          </a:p>
        </p:txBody>
      </p:sp>
      <p:sp>
        <p:nvSpPr>
          <p:cNvPr id="17" name="Text 14"/>
          <p:cNvSpPr/>
          <p:nvPr/>
        </p:nvSpPr>
        <p:spPr>
          <a:xfrm>
            <a:off x="480060" y="4114800"/>
            <a:ext cx="41833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is unrelated  — "alice.txt" and "order_001.csv" have no defined link to each other.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74920" y="1108182"/>
            <a:ext cx="27432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74920" y="1416792"/>
            <a:ext cx="3737610" cy="6309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7"/>
          <p:cNvSpPr/>
          <p:nvPr/>
        </p:nvSpPr>
        <p:spPr>
          <a:xfrm>
            <a:off x="5212080" y="1471656"/>
            <a:ext cx="3463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pattern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212080" y="1691112"/>
            <a:ext cx="346329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file → read/write bytes or lines → close file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074920" y="2136882"/>
            <a:ext cx="3737610" cy="6309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0" y="2191746"/>
            <a:ext cx="3463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awareness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212080" y="2411202"/>
            <a:ext cx="346329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the file system doesn't know what's inside a .csv or .txt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074920" y="2911050"/>
            <a:ext cx="3737610" cy="6309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6"/>
          <p:cNvSpPr/>
          <p:nvPr/>
        </p:nvSpPr>
        <p:spPr>
          <a:xfrm>
            <a:off x="5212080" y="2965914"/>
            <a:ext cx="3463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212080" y="3185370"/>
            <a:ext cx="346329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query language — searching means scanning files in application code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42900" y="4855464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vs DBMS — Technical Session</a:t>
            </a:r>
            <a:endParaRPr lang="en-US" sz="1200" dirty="0"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ECD3A475-7F28-B351-DB46-40F4A8B91E0D}"/>
              </a:ext>
            </a:extLst>
          </p:cNvPr>
          <p:cNvSpPr/>
          <p:nvPr/>
        </p:nvSpPr>
        <p:spPr>
          <a:xfrm>
            <a:off x="342900" y="274320"/>
            <a:ext cx="6947133" cy="542397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File System Works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096441" y="1217296"/>
            <a:ext cx="2988997" cy="2987320"/>
          </a:xfrm>
          <a:prstGeom prst="roundRect">
            <a:avLst>
              <a:gd name="adj" fmla="val 2326"/>
            </a:avLst>
          </a:prstGeom>
          <a:solidFill>
            <a:schemeClr val="bg1">
              <a:lumMod val="85000"/>
            </a:schemeClr>
          </a:solidFill>
          <a:ln w="25400">
            <a:solidFill>
              <a:srgbClr val="E85D75"/>
            </a:solidFill>
            <a:prstDash val="solid"/>
          </a:ln>
          <a:scene3d>
            <a:camera prst="orthographicFront"/>
            <a:lightRig rig="threePt" dir="t"/>
          </a:scene3d>
          <a:sp3d>
            <a:bevelT w="165100" prst="coolSlant"/>
          </a:sp3d>
        </p:spPr>
      </p:sp>
      <p:sp>
        <p:nvSpPr>
          <p:cNvPr id="6" name="Text 4"/>
          <p:cNvSpPr/>
          <p:nvPr/>
        </p:nvSpPr>
        <p:spPr>
          <a:xfrm>
            <a:off x="1619075" y="1263016"/>
            <a:ext cx="1907657" cy="320040"/>
          </a:xfrm>
          <a:prstGeom prst="rect">
            <a:avLst/>
          </a:prstGeom>
          <a:noFill/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iandra GD" panose="020E0502030308020204" pitchFamily="34" charset="0"/>
                <a:ea typeface="Arial" pitchFamily="34" charset="-122"/>
                <a:cs typeface="Arial" pitchFamily="34" charset="-120"/>
              </a:rPr>
              <a:t>❌ File-Based System</a:t>
            </a:r>
            <a:endParaRPr lang="en-US" sz="1400" dirty="0">
              <a:solidFill>
                <a:schemeClr val="accent1"/>
              </a:solidFill>
              <a:latin typeface="Maiandra GD" panose="020E0502030308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70761" y="17659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iandra GD" panose="020E0502030308020204" pitchFamily="34" charset="0"/>
                <a:ea typeface="Arial" pitchFamily="34" charset="-122"/>
                <a:cs typeface="Arial" pitchFamily="34" charset="-120"/>
              </a:rPr>
              <a:t>• Data Redundancy (Duplication)</a:t>
            </a:r>
            <a:endParaRPr lang="en-US" sz="1200" b="1" dirty="0">
              <a:latin typeface="Maiandra GD" panose="020E0502030308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70761" y="21774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iandra GD" panose="020E0502030308020204" pitchFamily="34" charset="0"/>
                <a:ea typeface="Arial" pitchFamily="34" charset="-122"/>
                <a:cs typeface="Arial" pitchFamily="34" charset="-120"/>
              </a:rPr>
              <a:t>• Data Inconsistency</a:t>
            </a:r>
            <a:endParaRPr lang="en-US" sz="1200" b="1" dirty="0">
              <a:latin typeface="Maiandra GD" panose="020E0502030308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70761" y="25888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iandra GD" panose="020E0502030308020204" pitchFamily="34" charset="0"/>
                <a:ea typeface="Arial" pitchFamily="34" charset="-122"/>
                <a:cs typeface="Arial" pitchFamily="34" charset="-120"/>
              </a:rPr>
              <a:t>• Difficulty in Access</a:t>
            </a:r>
            <a:endParaRPr lang="en-US" sz="1200" b="1" dirty="0">
              <a:latin typeface="Maiandra GD" panose="020E0502030308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70761" y="30232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iandra GD" panose="020E0502030308020204" pitchFamily="34" charset="0"/>
                <a:ea typeface="Arial" pitchFamily="34" charset="-122"/>
                <a:cs typeface="Arial" pitchFamily="34" charset="-120"/>
              </a:rPr>
              <a:t>• Integrity Issues (Inaccurate data)</a:t>
            </a:r>
            <a:endParaRPr lang="en-US" sz="1200" b="1" dirty="0">
              <a:latin typeface="Maiandra GD" panose="020E0502030308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70761" y="34118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iandra GD" panose="020E0502030308020204" pitchFamily="34" charset="0"/>
                <a:ea typeface="Arial" pitchFamily="34" charset="-122"/>
                <a:cs typeface="Arial" pitchFamily="34" charset="-120"/>
              </a:rPr>
              <a:t>• No Security</a:t>
            </a:r>
            <a:endParaRPr lang="en-US" sz="1200" b="1" dirty="0">
              <a:latin typeface="Maiandra GD" panose="020E0502030308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63440" y="1203820"/>
            <a:ext cx="2795212" cy="2987320"/>
          </a:xfrm>
          <a:prstGeom prst="roundRect">
            <a:avLst>
              <a:gd name="adj" fmla="val 2326"/>
            </a:avLst>
          </a:prstGeom>
          <a:solidFill>
            <a:schemeClr val="bg1">
              <a:lumMod val="85000"/>
            </a:schemeClr>
          </a:solidFill>
          <a:ln w="25400">
            <a:solidFill>
              <a:srgbClr val="00A896"/>
            </a:solidFill>
            <a:prstDash val="solid"/>
          </a:ln>
          <a:scene3d>
            <a:camera prst="orthographicFront"/>
            <a:lightRig rig="threePt" dir="t"/>
          </a:scene3d>
          <a:sp3d>
            <a:bevelT w="165100" prst="coolSlant"/>
          </a:sp3d>
        </p:spPr>
      </p:sp>
      <p:sp>
        <p:nvSpPr>
          <p:cNvPr id="15" name="Text 13"/>
          <p:cNvSpPr/>
          <p:nvPr/>
        </p:nvSpPr>
        <p:spPr>
          <a:xfrm>
            <a:off x="5183137" y="1249540"/>
            <a:ext cx="1755817" cy="320040"/>
          </a:xfrm>
          <a:prstGeom prst="rect">
            <a:avLst/>
          </a:prstGeom>
          <a:noFill/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iandra GD" panose="020E0502030308020204" pitchFamily="34" charset="0"/>
                <a:ea typeface="Arial" pitchFamily="34" charset="-122"/>
                <a:cs typeface="Arial" pitchFamily="34" charset="-120"/>
              </a:rPr>
              <a:t>✓ DBMS System</a:t>
            </a:r>
            <a:endParaRPr lang="en-US" sz="1400" dirty="0">
              <a:solidFill>
                <a:schemeClr val="accent1"/>
              </a:solidFill>
              <a:latin typeface="Maiandra GD" panose="020E0502030308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0" y="1752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iandra GD" panose="020E0502030308020204" pitchFamily="34" charset="0"/>
                <a:ea typeface="Arial" pitchFamily="34" charset="-122"/>
                <a:cs typeface="Arial" pitchFamily="34" charset="-120"/>
              </a:rPr>
              <a:t>• Data Integration</a:t>
            </a:r>
            <a:endParaRPr lang="en-US" sz="1200" b="1" dirty="0">
              <a:latin typeface="Maiandra GD" panose="020E0502030308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9200" y="21639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iandra GD" panose="020E0502030308020204" pitchFamily="34" charset="0"/>
                <a:ea typeface="Arial" pitchFamily="34" charset="-122"/>
                <a:cs typeface="Arial" pitchFamily="34" charset="-120"/>
              </a:rPr>
              <a:t>• Reduced Redundancy</a:t>
            </a:r>
            <a:endParaRPr lang="en-US" sz="1200" b="1" dirty="0">
              <a:latin typeface="Maiandra GD" panose="020E0502030308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0" y="25754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iandra GD" panose="020E0502030308020204" pitchFamily="34" charset="0"/>
                <a:ea typeface="Arial" pitchFamily="34" charset="-122"/>
                <a:cs typeface="Arial" pitchFamily="34" charset="-120"/>
              </a:rPr>
              <a:t>• Data Security</a:t>
            </a:r>
            <a:endParaRPr lang="en-US" sz="1200" b="1" dirty="0">
              <a:latin typeface="Maiandra GD" panose="020E0502030308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0" y="29869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iandra GD" panose="020E0502030308020204" pitchFamily="34" charset="0"/>
                <a:ea typeface="Arial" pitchFamily="34" charset="-122"/>
                <a:cs typeface="Arial" pitchFamily="34" charset="-120"/>
              </a:rPr>
              <a:t>• Concurrent Access</a:t>
            </a:r>
            <a:endParaRPr lang="en-US" sz="1200" b="1" dirty="0">
              <a:latin typeface="Maiandra GD" panose="020E0502030308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0" y="33983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iandra GD" panose="020E0502030308020204" pitchFamily="34" charset="0"/>
                <a:ea typeface="Arial" pitchFamily="34" charset="-122"/>
                <a:cs typeface="Arial" pitchFamily="34" charset="-120"/>
              </a:rPr>
              <a:t>• Backup &amp; Recovery</a:t>
            </a:r>
            <a:endParaRPr lang="en-US" sz="1200" b="1" dirty="0">
              <a:latin typeface="Maiandra GD" panose="020E0502030308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29200" y="38098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iandra GD" panose="020E0502030308020204" pitchFamily="34" charset="0"/>
                <a:ea typeface="Arial" pitchFamily="34" charset="-122"/>
                <a:cs typeface="Arial" pitchFamily="34" charset="-120"/>
              </a:rPr>
              <a:t>• Easy Querying</a:t>
            </a:r>
            <a:endParaRPr lang="en-US" sz="1200" b="1" dirty="0">
              <a:latin typeface="Maiandra GD" panose="020E0502030308020204" pitchFamily="34" charset="0"/>
            </a:endParaRPr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75353C5F-5C06-B402-203D-B3433858B24F}"/>
              </a:ext>
            </a:extLst>
          </p:cNvPr>
          <p:cNvSpPr/>
          <p:nvPr/>
        </p:nvSpPr>
        <p:spPr>
          <a:xfrm>
            <a:off x="274320" y="137159"/>
            <a:ext cx="7629786" cy="702945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Why Database Systems?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9C8781-CC11-CC19-31D4-54CDC2E65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9F3A52-1913-C86F-06BB-E9822ABFCA20}"/>
              </a:ext>
            </a:extLst>
          </p:cNvPr>
          <p:cNvSpPr/>
          <p:nvPr/>
        </p:nvSpPr>
        <p:spPr>
          <a:xfrm>
            <a:off x="197142" y="199672"/>
            <a:ext cx="7629786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258ACF-1834-7BCE-A259-41482B160E2F}"/>
              </a:ext>
            </a:extLst>
          </p:cNvPr>
          <p:cNvSpPr/>
          <p:nvPr/>
        </p:nvSpPr>
        <p:spPr>
          <a:xfrm>
            <a:off x="197142" y="29166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Baskerville Old Face" panose="02020602080505020303" pitchFamily="18" charset="0"/>
                <a:ea typeface="Arial" pitchFamily="34" charset="-122"/>
                <a:cs typeface="Arial" pitchFamily="34" charset="-120"/>
              </a:rPr>
              <a:t>  What is DBMS?</a:t>
            </a:r>
            <a:endParaRPr lang="en-US" sz="2800" dirty="0">
              <a:latin typeface="Baskerville Old Face" panose="02020602080505020303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F32B27-271D-500A-BA29-DCEE700D69CF}"/>
              </a:ext>
            </a:extLst>
          </p:cNvPr>
          <p:cNvSpPr/>
          <p:nvPr/>
        </p:nvSpPr>
        <p:spPr>
          <a:xfrm>
            <a:off x="369116" y="1155035"/>
            <a:ext cx="7565062" cy="538430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softEdge rad="63500"/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: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are know facts that can be recorded and that have implicit meaning.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66FAE8-B4B1-107A-7691-FF4592617094}"/>
              </a:ext>
            </a:extLst>
          </p:cNvPr>
          <p:cNvSpPr txBox="1"/>
          <p:nvPr/>
        </p:nvSpPr>
        <p:spPr>
          <a:xfrm>
            <a:off x="369116" y="2046396"/>
            <a:ext cx="8317684" cy="584775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softEdge rad="63500"/>
          </a:effectLst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6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:</a:t>
            </a:r>
            <a:r>
              <a:rPr lang="en-I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database is a collection of related data that represents some aspect of the real world. 	 It is logically organized so that the data can be easily accessed, managed, and updated.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8370EF-6A3F-9FCE-7E6C-180710AD7923}"/>
              </a:ext>
            </a:extLst>
          </p:cNvPr>
          <p:cNvSpPr/>
          <p:nvPr/>
        </p:nvSpPr>
        <p:spPr>
          <a:xfrm>
            <a:off x="1456005" y="1690289"/>
            <a:ext cx="4438357" cy="2641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1" dirty="0">
              <a:solidFill>
                <a:schemeClr val="accent5">
                  <a:lumMod val="50000"/>
                </a:schemeClr>
              </a:solidFill>
              <a:cs typeface="Times New Roman" panose="02020603050405020304" pitchFamily="18" charset="0"/>
            </a:endParaRPr>
          </a:p>
          <a:p>
            <a:pPr algn="ctr"/>
            <a:r>
              <a:rPr lang="en-US" sz="1400" i="1" dirty="0">
                <a:solidFill>
                  <a:schemeClr val="accent5">
                    <a:lumMod val="50000"/>
                  </a:schemeClr>
                </a:solidFill>
                <a:cs typeface="Times New Roman" panose="02020603050405020304" pitchFamily="18" charset="0"/>
              </a:rPr>
              <a:t>Eg: Roll no. :101 , Name : Shelton , Age : 22 , Marks : 95</a:t>
            </a:r>
          </a:p>
          <a:p>
            <a:pPr algn="ctr"/>
            <a:endParaRPr lang="en-IN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D59CDE-810E-91E8-A1E7-4D87E76567E9}"/>
              </a:ext>
            </a:extLst>
          </p:cNvPr>
          <p:cNvSpPr txBox="1"/>
          <p:nvPr/>
        </p:nvSpPr>
        <p:spPr>
          <a:xfrm>
            <a:off x="369116" y="3296596"/>
            <a:ext cx="8317684" cy="1077218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softEdge rad="63500"/>
          </a:effectLst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6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 (DBMS) :</a:t>
            </a:r>
            <a:b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 Database Management System (DBMS) is software that enables users to define, create, maintain, and control access to a database while providing efficient storage, retrieval, and manipulation of data.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09E09C-1BDD-E176-1434-6E1D7811742F}"/>
              </a:ext>
            </a:extLst>
          </p:cNvPr>
          <p:cNvSpPr/>
          <p:nvPr/>
        </p:nvSpPr>
        <p:spPr>
          <a:xfrm>
            <a:off x="1456005" y="2778369"/>
            <a:ext cx="4438357" cy="46423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endParaRPr lang="en-IN" sz="1400" i="1" dirty="0">
              <a:solidFill>
                <a:schemeClr val="accent5">
                  <a:lumMod val="50000"/>
                </a:schemeClr>
              </a:solidFill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400" i="1" dirty="0">
                <a:solidFill>
                  <a:schemeClr val="accent5">
                    <a:lumMod val="50000"/>
                  </a:schemeClr>
                </a:solidFill>
                <a:cs typeface="Times New Roman" panose="02020603050405020304" pitchFamily="18" charset="0"/>
              </a:rPr>
              <a:t>Eg: </a:t>
            </a:r>
            <a:r>
              <a:rPr lang="en-US" sz="1400" i="1" dirty="0">
                <a:solidFill>
                  <a:schemeClr val="accent5">
                    <a:lumMod val="50000"/>
                  </a:schemeClr>
                </a:solidFill>
                <a:cs typeface="Times New Roman" panose="02020603050405020304" pitchFamily="18" charset="0"/>
              </a:rPr>
              <a:t>Roll no. 101 - Name : Shelton - Age : 22 - Marks : 95</a:t>
            </a:r>
          </a:p>
          <a:p>
            <a:pPr>
              <a:buNone/>
            </a:pPr>
            <a:r>
              <a:rPr lang="en-US" sz="1400" i="1" dirty="0">
                <a:solidFill>
                  <a:schemeClr val="accent5">
                    <a:lumMod val="50000"/>
                  </a:schemeClr>
                </a:solidFill>
                <a:cs typeface="Times New Roman" panose="02020603050405020304" pitchFamily="18" charset="0"/>
              </a:rPr>
              <a:t>      Roll no. 102 - Name : Melwin - Age : 29 - Marks : 98</a:t>
            </a:r>
            <a:endParaRPr lang="en-IN" sz="1400" i="1" dirty="0">
              <a:solidFill>
                <a:schemeClr val="accent5">
                  <a:lumMod val="50000"/>
                </a:schemeClr>
              </a:solidFill>
              <a:cs typeface="Times New Roman" panose="02020603050405020304" pitchFamily="18" charset="0"/>
            </a:endParaRPr>
          </a:p>
          <a:p>
            <a:pPr algn="ctr"/>
            <a:endParaRPr lang="en-IN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04096D-5876-235E-87AF-8A057A41053F}"/>
              </a:ext>
            </a:extLst>
          </p:cNvPr>
          <p:cNvSpPr/>
          <p:nvPr/>
        </p:nvSpPr>
        <p:spPr>
          <a:xfrm>
            <a:off x="1456005" y="4379611"/>
            <a:ext cx="3516922" cy="40392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i="1" dirty="0">
              <a:solidFill>
                <a:schemeClr val="accent5">
                  <a:lumMod val="50000"/>
                </a:schemeClr>
              </a:solidFill>
              <a:cs typeface="Times New Roman" panose="02020603050405020304" pitchFamily="18" charset="0"/>
            </a:endParaRPr>
          </a:p>
          <a:p>
            <a:pPr algn="ctr"/>
            <a:r>
              <a:rPr lang="en-IN" sz="1400" i="1" dirty="0">
                <a:solidFill>
                  <a:schemeClr val="accent5">
                    <a:lumMod val="50000"/>
                  </a:schemeClr>
                </a:solidFill>
                <a:cs typeface="Times New Roman" panose="02020603050405020304" pitchFamily="18" charset="0"/>
              </a:rPr>
              <a:t>Eg : MySQL, Oracle Database, MongoDB</a:t>
            </a:r>
          </a:p>
          <a:p>
            <a:pPr algn="ctr"/>
            <a:endParaRPr lang="en-IN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95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8138160" cy="64008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3" name="Text 1"/>
          <p:cNvSpPr/>
          <p:nvPr/>
        </p:nvSpPr>
        <p:spPr>
          <a:xfrm>
            <a:off x="274320" y="246833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are Database Applications?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60017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 Narrow" panose="020B0606020202030204" pitchFamily="34" charset="0"/>
                <a:ea typeface="Arial" pitchFamily="34" charset="-122"/>
                <a:cs typeface="Arial" pitchFamily="34" charset="-120"/>
              </a:rPr>
              <a:t>A software system that uses a database to store, retrieve, and manage structured data to support business operations and decision-making.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F0F9FB"/>
          </a:solidFill>
          <a:ln w="25400">
            <a:solidFill>
              <a:srgbClr val="00A896"/>
            </a:solidFill>
            <a:prstDash val="solid"/>
          </a:ln>
          <a:scene3d>
            <a:camera prst="orthographicFront"/>
            <a:lightRig rig="threePt" dir="t"/>
          </a:scene3d>
          <a:sp3d>
            <a:bevelT w="114300" prst="artDeco"/>
          </a:sp3d>
        </p:spPr>
      </p:sp>
      <p:sp>
        <p:nvSpPr>
          <p:cNvPr id="8" name="Text 6"/>
          <p:cNvSpPr/>
          <p:nvPr/>
        </p:nvSpPr>
        <p:spPr>
          <a:xfrm>
            <a:off x="548640" y="2400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226879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Organization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storage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248852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F0F9FB"/>
          </a:solidFill>
          <a:ln w="25400">
            <a:solidFill>
              <a:srgbClr val="F7B032"/>
            </a:solidFill>
            <a:prstDash val="solid"/>
          </a:ln>
          <a:scene3d>
            <a:camera prst="orthographicFront"/>
            <a:lightRig rig="threePt" dir="t"/>
          </a:scene3d>
          <a:sp3d>
            <a:bevelT w="114300" prst="artDeco"/>
          </a:sp3d>
        </p:spPr>
      </p:sp>
      <p:sp>
        <p:nvSpPr>
          <p:cNvPr id="12" name="Text 10"/>
          <p:cNvSpPr/>
          <p:nvPr/>
        </p:nvSpPr>
        <p:spPr>
          <a:xfrm>
            <a:off x="3429000" y="233029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77640" y="22545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Access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77640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retrieval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2225992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F0F9FB"/>
          </a:solidFill>
          <a:ln w="25400">
            <a:solidFill>
              <a:srgbClr val="8E44AD"/>
            </a:solidFill>
            <a:prstDash val="solid"/>
          </a:ln>
          <a:scene3d>
            <a:camera prst="orthographicFront"/>
            <a:lightRig rig="threePt" dir="t"/>
          </a:scene3d>
          <a:sp3d>
            <a:bevelT w="114300" prst="artDeco"/>
          </a:sp3d>
        </p:spPr>
      </p:sp>
      <p:sp>
        <p:nvSpPr>
          <p:cNvPr id="16" name="Text 14"/>
          <p:cNvSpPr/>
          <p:nvPr/>
        </p:nvSpPr>
        <p:spPr>
          <a:xfrm>
            <a:off x="6309360" y="233029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✓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80860" y="22945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&amp; consistency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338328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0F9FB"/>
          </a:solidFill>
          <a:ln w="25400">
            <a:solidFill>
              <a:srgbClr val="E85D75"/>
            </a:solidFill>
            <a:prstDash val="solid"/>
          </a:ln>
          <a:scene3d>
            <a:camera prst="orthographicFront"/>
            <a:lightRig rig="threePt" dir="t"/>
          </a:scene3d>
          <a:sp3d>
            <a:bevelT w="114300" prst="artDeco"/>
          </a:sp3d>
        </p:spPr>
      </p:sp>
      <p:sp>
        <p:nvSpPr>
          <p:cNvPr id="20" name="Text 18"/>
          <p:cNvSpPr/>
          <p:nvPr/>
        </p:nvSpPr>
        <p:spPr>
          <a:xfrm>
            <a:off x="34290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97764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Multi-user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3840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access</a:t>
            </a:r>
            <a:endParaRPr lang="en-US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2752D0-FCE4-9113-A6B1-F5D3E985FD13}"/>
              </a:ext>
            </a:extLst>
          </p:cNvPr>
          <p:cNvSpPr txBox="1"/>
          <p:nvPr/>
        </p:nvSpPr>
        <p:spPr>
          <a:xfrm>
            <a:off x="411480" y="1825882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 "/>
                <a:ea typeface="Arial" pitchFamily="34" charset="-122"/>
                <a:cs typeface="Arial" pitchFamily="34" charset="-120"/>
              </a:rPr>
              <a:t>Key Characteristics:</a:t>
            </a:r>
            <a:endParaRPr lang="en-US" sz="2000" dirty="0">
              <a:latin typeface="Calibri 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7264" y="365760"/>
            <a:ext cx="804672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3" name="Text 1"/>
          <p:cNvSpPr/>
          <p:nvPr/>
        </p:nvSpPr>
        <p:spPr>
          <a:xfrm>
            <a:off x="314587" y="388620"/>
            <a:ext cx="765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DB Applications in Real World(Examples)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records, grades, course management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231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8720" y="2423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records, medical history, prescriptions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7472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3474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details, transactions, loans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3716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🛍️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0" y="1371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1737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Products, inventory, orders, customer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42316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4231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86400" y="2423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profiles, posts, connections, messages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47472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47472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86400" y="3474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Travel/Airlines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Bookings, seat reservation, customer info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532" y="276837"/>
            <a:ext cx="7596231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DBMS Architecture - 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Definition 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Architecture is the structure that describes the design and components of a database management system, including how data flows between layers and how different components interact.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500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Key Components: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Schema: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description of the database structure (Blueprint)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Instance: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data stored in the database at a particular point in time (Actual data)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Users: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categories accessing the database (DBA, Programmers, End users)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Components: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processor, storage manager, buffer manager, etc.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1" y="297180"/>
            <a:ext cx="7142517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Three Schema Architecture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ECD3EE-5D48-902F-04EB-AA0C27FBD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277" y="1301340"/>
            <a:ext cx="4769224" cy="3476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9" y="290595"/>
            <a:ext cx="7386507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Levels of Data Abstraction (Detailed)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684476" y="1120140"/>
            <a:ext cx="2525087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(Three Schema Architecture)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64652" y="1463040"/>
            <a:ext cx="5222147" cy="640080"/>
          </a:xfrm>
          <a:prstGeom prst="roundRect">
            <a:avLst>
              <a:gd name="adj" fmla="val 7143"/>
            </a:avLst>
          </a:prstGeom>
          <a:solidFill>
            <a:srgbClr val="00B0F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15654" y="1536192"/>
            <a:ext cx="507114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views for different users.        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</a:t>
            </a:r>
            <a:r>
              <a:rPr lang="en-US" sz="1200" i="1" dirty="0">
                <a:solidFill>
                  <a:srgbClr val="FFFF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[ Student sees student info, but not all system data</a:t>
            </a:r>
            <a:r>
              <a:rPr lang="en-US" sz="1200" dirty="0">
                <a:solidFill>
                  <a:srgbClr val="FFFF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. ]</a:t>
            </a:r>
            <a:endParaRPr lang="en-US" sz="1200" dirty="0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" name="Shape 6"/>
          <p:cNvSpPr/>
          <p:nvPr/>
        </p:nvSpPr>
        <p:spPr>
          <a:xfrm>
            <a:off x="3464652" y="2331720"/>
            <a:ext cx="5222148" cy="640080"/>
          </a:xfrm>
          <a:prstGeom prst="roundRect">
            <a:avLst>
              <a:gd name="adj" fmla="val 7143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9" name="Text 7"/>
          <p:cNvSpPr/>
          <p:nvPr/>
        </p:nvSpPr>
        <p:spPr>
          <a:xfrm>
            <a:off x="640080" y="24048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0429" y="2379999"/>
            <a:ext cx="56122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database structure and entity relationships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[ Defines what data exists and how it relates. ]</a:t>
            </a:r>
            <a:endParaRPr lang="en-US" sz="1200" i="1" dirty="0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64652" y="3200400"/>
            <a:ext cx="5222148" cy="64008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640080" y="32735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64652" y="3273552"/>
            <a:ext cx="522214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data is physically stored on disk. 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[ File structures and indexing methods. ]</a:t>
            </a:r>
            <a:endParaRPr lang="en-US" sz="1200" i="1" dirty="0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0F9FB"/>
          </a:solidFill>
          <a:ln w="12700">
            <a:solidFill>
              <a:srgbClr val="CBD5E1"/>
            </a:solidFill>
            <a:prstDash val="soli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</p:sp>
      <p:sp>
        <p:nvSpPr>
          <p:cNvPr id="15" name="Text 13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   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College Database, a student application queries student marks.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Level: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sees only their marks.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Level: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schema with Student, Course, Marks entities.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Level: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HDD or SSD for fast retrieval.</a:t>
            </a:r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BA22A6-D3EE-BAAF-075C-6FA5557103C8}"/>
              </a:ext>
            </a:extLst>
          </p:cNvPr>
          <p:cNvSpPr/>
          <p:nvPr/>
        </p:nvSpPr>
        <p:spPr>
          <a:xfrm>
            <a:off x="640080" y="1540764"/>
            <a:ext cx="2286000" cy="50292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b="1" dirty="0">
              <a:solidFill>
                <a:srgbClr val="FFFFFF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     EXTERNAL LEVEL </a:t>
            </a:r>
          </a:p>
          <a:p>
            <a:r>
              <a:rPr lang="en-US" sz="1400" b="1" dirty="0">
                <a:solidFill>
                  <a:srgbClr val="FFFFFF"/>
                </a:solidFill>
                <a:latin typeface="+mj-lt"/>
                <a:ea typeface="Arial" pitchFamily="34" charset="-122"/>
                <a:cs typeface="Times New Roman" panose="02020603050405020304" pitchFamily="18" charset="0"/>
              </a:rPr>
              <a:t>                (User View)</a:t>
            </a:r>
            <a:endParaRPr lang="en-US" sz="1400" dirty="0">
              <a:latin typeface="+mj-lt"/>
              <a:cs typeface="Times New Roman" panose="02020603050405020304" pitchFamily="18" charset="0"/>
            </a:endParaRPr>
          </a:p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4FF703-81E0-5398-C662-E33E6BD9CC72}"/>
              </a:ext>
            </a:extLst>
          </p:cNvPr>
          <p:cNvSpPr/>
          <p:nvPr/>
        </p:nvSpPr>
        <p:spPr>
          <a:xfrm>
            <a:off x="640080" y="2409444"/>
            <a:ext cx="2286000" cy="5029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rgbClr val="FFFFFF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CONCEPTUAL LEVEL </a:t>
            </a:r>
            <a:r>
              <a:rPr lang="en-US" sz="1600" b="1" dirty="0">
                <a:solidFill>
                  <a:srgbClr val="FFFFFF"/>
                </a:solidFill>
                <a:latin typeface="+mj-lt"/>
                <a:ea typeface="Arial" pitchFamily="34" charset="-122"/>
                <a:cs typeface="Times New Roman" panose="02020603050405020304" pitchFamily="18" charset="0"/>
              </a:rPr>
              <a:t>(Logical View)</a:t>
            </a:r>
            <a:endParaRPr lang="en-US" sz="1600" dirty="0">
              <a:latin typeface="+mj-lt"/>
              <a:cs typeface="Times New Roman" panose="02020603050405020304" pitchFamily="18" charset="0"/>
            </a:endParaRPr>
          </a:p>
          <a:p>
            <a:pPr algn="ctr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CB3A49-E7DD-B710-A6DD-6FB69EACA358}"/>
              </a:ext>
            </a:extLst>
          </p:cNvPr>
          <p:cNvSpPr/>
          <p:nvPr/>
        </p:nvSpPr>
        <p:spPr>
          <a:xfrm>
            <a:off x="640081" y="3236976"/>
            <a:ext cx="2285999" cy="566928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 dirty="0">
              <a:solidFill>
                <a:srgbClr val="FFFFFF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PHYSICAL LEVEL </a:t>
            </a:r>
            <a:r>
              <a:rPr lang="en-US" sz="15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(Storage)</a:t>
            </a:r>
            <a:endParaRPr lang="en-US" sz="1500" dirty="0"/>
          </a:p>
          <a:p>
            <a:pPr algn="ctr"/>
            <a:endParaRPr lang="en-IN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7F9D18-80BA-1A3B-3AC5-17DDD92F1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852137"/>
              </p:ext>
            </p:extLst>
          </p:nvPr>
        </p:nvGraphicFramePr>
        <p:xfrm>
          <a:off x="463296" y="463297"/>
          <a:ext cx="8327136" cy="4196725"/>
        </p:xfrm>
        <a:graphic>
          <a:graphicData uri="http://schemas.openxmlformats.org/drawingml/2006/table">
            <a:tbl>
              <a:tblPr/>
              <a:tblGrid>
                <a:gridCol w="2775712">
                  <a:extLst>
                    <a:ext uri="{9D8B030D-6E8A-4147-A177-3AD203B41FA5}">
                      <a16:colId xmlns:a16="http://schemas.microsoft.com/office/drawing/2014/main" val="307188120"/>
                    </a:ext>
                  </a:extLst>
                </a:gridCol>
                <a:gridCol w="2775712">
                  <a:extLst>
                    <a:ext uri="{9D8B030D-6E8A-4147-A177-3AD203B41FA5}">
                      <a16:colId xmlns:a16="http://schemas.microsoft.com/office/drawing/2014/main" val="1166825515"/>
                    </a:ext>
                  </a:extLst>
                </a:gridCol>
                <a:gridCol w="2775712">
                  <a:extLst>
                    <a:ext uri="{9D8B030D-6E8A-4147-A177-3AD203B41FA5}">
                      <a16:colId xmlns:a16="http://schemas.microsoft.com/office/drawing/2014/main" val="4291155031"/>
                    </a:ext>
                  </a:extLst>
                </a:gridCol>
              </a:tblGrid>
              <a:tr h="3146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User</a:t>
                      </a:r>
                    </a:p>
                  </a:txBody>
                  <a:tcPr marL="61553" marR="61553" marT="30777" marB="30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3-Schema Level</a:t>
                      </a:r>
                    </a:p>
                  </a:txBody>
                  <a:tcPr marL="61553" marR="61553" marT="30777" marB="30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Why?</a:t>
                      </a:r>
                    </a:p>
                  </a:txBody>
                  <a:tcPr marL="61553" marR="61553" marT="30777" marB="30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160569"/>
                  </a:ext>
                </a:extLst>
              </a:tr>
              <a:tr h="786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End Users</a:t>
                      </a:r>
                      <a:endParaRPr lang="en-IN" sz="1600" dirty="0"/>
                    </a:p>
                  </a:txBody>
                  <a:tcPr marL="61553" marR="61553" marT="30777" marB="30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External Level (View Level)</a:t>
                      </a:r>
                      <a:endParaRPr lang="en-IN" sz="1600"/>
                    </a:p>
                  </a:txBody>
                  <a:tcPr marL="61553" marR="61553" marT="30777" marB="30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They only see the data they are allowed to access.</a:t>
                      </a:r>
                    </a:p>
                  </a:txBody>
                  <a:tcPr marL="61553" marR="61553" marT="30777" marB="30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625061"/>
                  </a:ext>
                </a:extLst>
              </a:tr>
              <a:tr h="786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Application Programmers</a:t>
                      </a:r>
                      <a:endParaRPr lang="en-IN" sz="1600"/>
                    </a:p>
                  </a:txBody>
                  <a:tcPr marL="61553" marR="61553" marT="30777" marB="30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External Level + Conceptual Level</a:t>
                      </a:r>
                      <a:endParaRPr lang="en-IN" sz="1600" dirty="0"/>
                    </a:p>
                  </a:txBody>
                  <a:tcPr marL="61553" marR="61553" marT="30777" marB="30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They develop applications and decide what data each user can access.</a:t>
                      </a:r>
                    </a:p>
                  </a:txBody>
                  <a:tcPr marL="61553" marR="61553" marT="30777" marB="30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739281"/>
                  </a:ext>
                </a:extLst>
              </a:tr>
              <a:tr h="1022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Database Designers</a:t>
                      </a:r>
                      <a:endParaRPr lang="en-IN" sz="1600"/>
                    </a:p>
                  </a:txBody>
                  <a:tcPr marL="61553" marR="61553" marT="30777" marB="30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Conceptual Level</a:t>
                      </a:r>
                      <a:endParaRPr lang="en-IN" sz="1600"/>
                    </a:p>
                  </a:txBody>
                  <a:tcPr marL="61553" marR="61553" marT="30777" marB="30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They design the overall database structure, tables, relationships, and constraints.</a:t>
                      </a:r>
                    </a:p>
                  </a:txBody>
                  <a:tcPr marL="61553" marR="61553" marT="30777" marB="30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530848"/>
                  </a:ext>
                </a:extLst>
              </a:tr>
              <a:tr h="1258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Database Administrator (DBA)</a:t>
                      </a:r>
                      <a:endParaRPr lang="en-IN" sz="1600"/>
                    </a:p>
                  </a:txBody>
                  <a:tcPr marL="61553" marR="61553" marT="30777" marB="30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Conceptual Level + Internal Level</a:t>
                      </a:r>
                      <a:endParaRPr lang="en-IN" sz="1600"/>
                    </a:p>
                  </a:txBody>
                  <a:tcPr marL="61553" marR="61553" marT="30777" marB="30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They manage the database structure, security, storage, backup, indexing, and performance.</a:t>
                      </a:r>
                    </a:p>
                  </a:txBody>
                  <a:tcPr marL="61553" marR="61553" marT="30777" marB="30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219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8289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9" y="320040"/>
            <a:ext cx="7034169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3" name="Text 1"/>
          <p:cNvSpPr/>
          <p:nvPr/>
        </p:nvSpPr>
        <p:spPr>
          <a:xfrm>
            <a:off x="457200" y="365760"/>
            <a:ext cx="5540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Schema, Instance &amp; Users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0F9FB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of database structure. Includes table definitions, attributes, types, and constraints. Does NOT change frequently.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0F9FB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</a:t>
            </a:r>
            <a:endParaRPr lang="en-US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846320" y="18745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data/content in the database at a specific time. Changes frequently with INSERT, UPDATE, DELETE operations.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Users:</a:t>
            </a:r>
            <a:endParaRPr lang="en-US" sz="2000" dirty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9ABECA89-A1BE-F904-FDD2-8E7B55278645}"/>
              </a:ext>
            </a:extLst>
          </p:cNvPr>
          <p:cNvSpPr/>
          <p:nvPr/>
        </p:nvSpPr>
        <p:spPr>
          <a:xfrm>
            <a:off x="457200" y="3730752"/>
            <a:ext cx="2011680" cy="1207008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7A047B46-3FF7-A7DB-9DA0-C91B7180B25D}"/>
              </a:ext>
            </a:extLst>
          </p:cNvPr>
          <p:cNvSpPr/>
          <p:nvPr/>
        </p:nvSpPr>
        <p:spPr>
          <a:xfrm>
            <a:off x="457200" y="384962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👨‍💼</a:t>
            </a:r>
            <a:endParaRPr lang="en-US" sz="280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51F5A3BD-BBD5-5AC1-B6B5-543ACB0D235E}"/>
              </a:ext>
            </a:extLst>
          </p:cNvPr>
          <p:cNvSpPr/>
          <p:nvPr/>
        </p:nvSpPr>
        <p:spPr>
          <a:xfrm>
            <a:off x="548640" y="4274820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</a:t>
            </a:r>
            <a:endParaRPr lang="en-US" sz="120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5D609A62-DD38-82DE-1182-14FAE87F697B}"/>
              </a:ext>
            </a:extLst>
          </p:cNvPr>
          <p:cNvSpPr/>
          <p:nvPr/>
        </p:nvSpPr>
        <p:spPr>
          <a:xfrm>
            <a:off x="548640" y="4539996"/>
            <a:ext cx="18288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schema, security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6E0B17C0-A6A3-3745-3928-6654EF2BB241}"/>
              </a:ext>
            </a:extLst>
          </p:cNvPr>
          <p:cNvSpPr/>
          <p:nvPr/>
        </p:nvSpPr>
        <p:spPr>
          <a:xfrm>
            <a:off x="2560320" y="3730752"/>
            <a:ext cx="2011680" cy="1207008"/>
          </a:xfrm>
          <a:prstGeom prst="roundRect">
            <a:avLst>
              <a:gd name="adj" fmla="val 6667"/>
            </a:avLst>
          </a:prstGeom>
          <a:solidFill>
            <a:srgbClr val="F7B032"/>
          </a:solidFill>
          <a:ln w="25400">
            <a:solidFill>
              <a:srgbClr val="F7B032"/>
            </a:solidFill>
            <a:prstDash val="solid"/>
          </a:ln>
        </p:spPr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80F39FB7-9585-7993-86CB-AF2646B104D0}"/>
              </a:ext>
            </a:extLst>
          </p:cNvPr>
          <p:cNvSpPr/>
          <p:nvPr/>
        </p:nvSpPr>
        <p:spPr>
          <a:xfrm>
            <a:off x="2560320" y="384962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6DEFA7FE-4BA9-347B-DCB9-B63690B8EBBA}"/>
              </a:ext>
            </a:extLst>
          </p:cNvPr>
          <p:cNvSpPr/>
          <p:nvPr/>
        </p:nvSpPr>
        <p:spPr>
          <a:xfrm>
            <a:off x="2651760" y="4274820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</a:t>
            </a:r>
            <a:endParaRPr lang="en-US" sz="120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2347F5FB-BF66-85CB-B7CC-97AB3C6E044C}"/>
              </a:ext>
            </a:extLst>
          </p:cNvPr>
          <p:cNvSpPr/>
          <p:nvPr/>
        </p:nvSpPr>
        <p:spPr>
          <a:xfrm>
            <a:off x="2651760" y="4539996"/>
            <a:ext cx="18288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DF5BD426-8EBE-CAE3-F2D2-0C0ADAADC268}"/>
              </a:ext>
            </a:extLst>
          </p:cNvPr>
          <p:cNvSpPr/>
          <p:nvPr/>
        </p:nvSpPr>
        <p:spPr>
          <a:xfrm>
            <a:off x="4892040" y="3730752"/>
            <a:ext cx="2011680" cy="1207008"/>
          </a:xfrm>
          <a:prstGeom prst="roundRect">
            <a:avLst>
              <a:gd name="adj" fmla="val 6667"/>
            </a:avLst>
          </a:prstGeom>
          <a:solidFill>
            <a:srgbClr val="8E44AD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CFCE64E0-48F8-2AE4-4980-179833590698}"/>
              </a:ext>
            </a:extLst>
          </p:cNvPr>
          <p:cNvSpPr/>
          <p:nvPr/>
        </p:nvSpPr>
        <p:spPr>
          <a:xfrm>
            <a:off x="4663440" y="384962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👨‍💻</a:t>
            </a:r>
            <a:endParaRPr lang="en-US" sz="2800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7BA1CA42-988D-8CE1-3DC4-EE06CEC828A9}"/>
              </a:ext>
            </a:extLst>
          </p:cNvPr>
          <p:cNvSpPr/>
          <p:nvPr/>
        </p:nvSpPr>
        <p:spPr>
          <a:xfrm>
            <a:off x="4754880" y="4274820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Programmer</a:t>
            </a:r>
            <a:endParaRPr lang="en-US" sz="1200" dirty="0"/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BFCB8C02-2A4F-78FC-345A-B2336370BDCB}"/>
              </a:ext>
            </a:extLst>
          </p:cNvPr>
          <p:cNvSpPr/>
          <p:nvPr/>
        </p:nvSpPr>
        <p:spPr>
          <a:xfrm>
            <a:off x="4754880" y="4539996"/>
            <a:ext cx="18288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code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5" name="Shape 23">
            <a:extLst>
              <a:ext uri="{FF2B5EF4-FFF2-40B4-BE49-F238E27FC236}">
                <a16:creationId xmlns:a16="http://schemas.microsoft.com/office/drawing/2014/main" id="{FC13BC6B-5AD9-E3B7-56FD-3F66FB743E64}"/>
              </a:ext>
            </a:extLst>
          </p:cNvPr>
          <p:cNvSpPr/>
          <p:nvPr/>
        </p:nvSpPr>
        <p:spPr>
          <a:xfrm>
            <a:off x="6720840" y="3730752"/>
            <a:ext cx="1828800" cy="1207008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37" name="Text 24">
            <a:extLst>
              <a:ext uri="{FF2B5EF4-FFF2-40B4-BE49-F238E27FC236}">
                <a16:creationId xmlns:a16="http://schemas.microsoft.com/office/drawing/2014/main" id="{E2545067-DBA9-1364-1E91-66DFB1F44422}"/>
              </a:ext>
            </a:extLst>
          </p:cNvPr>
          <p:cNvSpPr/>
          <p:nvPr/>
        </p:nvSpPr>
        <p:spPr>
          <a:xfrm>
            <a:off x="6583680" y="384048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38" name="Text 25">
            <a:extLst>
              <a:ext uri="{FF2B5EF4-FFF2-40B4-BE49-F238E27FC236}">
                <a16:creationId xmlns:a16="http://schemas.microsoft.com/office/drawing/2014/main" id="{BA08F91E-8C63-897A-5F9F-BDBD81947643}"/>
              </a:ext>
            </a:extLst>
          </p:cNvPr>
          <p:cNvSpPr/>
          <p:nvPr/>
        </p:nvSpPr>
        <p:spPr>
          <a:xfrm>
            <a:off x="6675120" y="4265676"/>
            <a:ext cx="1828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User</a:t>
            </a:r>
            <a:endParaRPr lang="en-US" sz="12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0814DDE1-9951-365B-9A93-0D5CCC31ACA5}"/>
              </a:ext>
            </a:extLst>
          </p:cNvPr>
          <p:cNvSpPr/>
          <p:nvPr/>
        </p:nvSpPr>
        <p:spPr>
          <a:xfrm>
            <a:off x="6675120" y="4530852"/>
            <a:ext cx="18288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&amp; update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765721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Data Independence - Concept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: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independence is the ability to change the database schema without affecting the application programs.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Types of Data Independence: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Data Independence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 to change physical storage structures without affecting conceptual schema or application programs.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329184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Data Independence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0" y="37490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 to change conceptual schema without affecting external schemas or application programs.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9" y="365760"/>
            <a:ext cx="6899946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Basic Components of DBMS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DBMS consists of several interconnected components that work together to manage data efficiently: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2011680" cy="394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Processor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023360" y="2057400"/>
            <a:ext cx="2011680" cy="394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Manager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92024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949440" y="2057400"/>
            <a:ext cx="2011680" cy="3700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Manager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97280" y="3246120"/>
            <a:ext cx="2011680" cy="309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Manager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83280" y="310896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023360" y="3246120"/>
            <a:ext cx="2011680" cy="309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Manager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10896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949440" y="3246120"/>
            <a:ext cx="2011680" cy="309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Manager</a:t>
            </a:r>
            <a:endParaRPr lang="en-US" sz="13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1A67A1EF-EC72-47DC-A987-5F0402D3CD79}"/>
              </a:ext>
            </a:extLst>
          </p:cNvPr>
          <p:cNvSpPr/>
          <p:nvPr/>
        </p:nvSpPr>
        <p:spPr>
          <a:xfrm>
            <a:off x="472830" y="2451907"/>
            <a:ext cx="2910450" cy="388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SQL, optimizes, executes queries</a:t>
            </a:r>
            <a:endParaRPr lang="en-US" sz="11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1914DBEC-F101-7D3B-D559-DD446170FA15}"/>
              </a:ext>
            </a:extLst>
          </p:cNvPr>
          <p:cNvSpPr/>
          <p:nvPr/>
        </p:nvSpPr>
        <p:spPr>
          <a:xfrm>
            <a:off x="3566160" y="244902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file organization &amp; indexing</a:t>
            </a:r>
            <a:endParaRPr lang="en-US" sz="110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E2539D1A-F846-7165-C6BA-6874531C6CE6}"/>
              </a:ext>
            </a:extLst>
          </p:cNvPr>
          <p:cNvSpPr/>
          <p:nvPr/>
        </p:nvSpPr>
        <p:spPr>
          <a:xfrm>
            <a:off x="6462542" y="2591947"/>
            <a:ext cx="2681458" cy="3525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ACID properties , uniformity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074EA78E-86FA-FB03-AAB5-C88DA254E705}"/>
              </a:ext>
            </a:extLst>
          </p:cNvPr>
          <p:cNvSpPr/>
          <p:nvPr/>
        </p:nvSpPr>
        <p:spPr>
          <a:xfrm>
            <a:off x="640080" y="3632099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memory buffers &amp; disk I/O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3B73E5DA-B661-9919-761E-C0CB88620790}"/>
              </a:ext>
            </a:extLst>
          </p:cNvPr>
          <p:cNvSpPr/>
          <p:nvPr/>
        </p:nvSpPr>
        <p:spPr>
          <a:xfrm>
            <a:off x="3737316" y="3557185"/>
            <a:ext cx="2263336" cy="4259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authorization</a:t>
            </a:r>
            <a:endParaRPr lang="en-US" sz="1100" dirty="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4336FD7E-D4E3-9DF9-4CF7-312ACBF802E1}"/>
              </a:ext>
            </a:extLst>
          </p:cNvPr>
          <p:cNvSpPr/>
          <p:nvPr/>
        </p:nvSpPr>
        <p:spPr>
          <a:xfrm>
            <a:off x="6537960" y="3562638"/>
            <a:ext cx="232920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Backup, logging &amp; failure recovery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059336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Summary &amp; 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Applications: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systems that use databases to manage structured data for business operations.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Independence: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 to change schema without affecting applications. Two types: Physical and Logical.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Architecture: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Consists of 3 schema levels (External, Conceptual, Physical) with multiple interconnected components.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vs Instance: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is the structure (static), Instance is the data (dynamic, changes over time).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1718</Words>
  <Application>Microsoft Office PowerPoint</Application>
  <PresentationFormat>On-screen Show (16:9)</PresentationFormat>
  <Paragraphs>285</Paragraphs>
  <Slides>15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Arial Narrow</vt:lpstr>
      <vt:lpstr>Baskerville Old Face</vt:lpstr>
      <vt:lpstr>Calibri</vt:lpstr>
      <vt:lpstr>Calibri </vt:lpstr>
      <vt:lpstr>Cambria</vt:lpstr>
      <vt:lpstr>Courier New</vt:lpstr>
      <vt:lpstr>Maiandra GD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Applications &amp; DBMS Architecture</dc:title>
  <dc:subject>PptxGenJS Presentation</dc:subject>
  <dc:creator>Database Systems Faculty</dc:creator>
  <cp:lastModifiedBy>Sierra Learning</cp:lastModifiedBy>
  <cp:revision>188</cp:revision>
  <dcterms:created xsi:type="dcterms:W3CDTF">2026-06-27T05:29:50Z</dcterms:created>
  <dcterms:modified xsi:type="dcterms:W3CDTF">2026-07-16T15:51:40Z</dcterms:modified>
</cp:coreProperties>
</file>