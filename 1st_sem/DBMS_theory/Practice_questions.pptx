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8" r:id="rId5"/>
    <p:sldId id="269" r:id="rId6"/>
    <p:sldId id="259" r:id="rId7"/>
    <p:sldId id="260" r:id="rId8"/>
    <p:sldId id="270" r:id="rId9"/>
    <p:sldId id="271" r:id="rId10"/>
    <p:sldId id="261" r:id="rId11"/>
    <p:sldId id="262" r:id="rId12"/>
    <p:sldId id="272" r:id="rId13"/>
    <p:sldId id="273" r:id="rId14"/>
    <p:sldId id="263" r:id="rId15"/>
    <p:sldId id="264" r:id="rId16"/>
    <p:sldId id="274" r:id="rId17"/>
    <p:sldId id="276" r:id="rId18"/>
    <p:sldId id="275" r:id="rId19"/>
    <p:sldId id="265" r:id="rId20"/>
    <p:sldId id="266" r:id="rId21"/>
    <p:sldId id="277" r:id="rId22"/>
    <p:sldId id="278" r:id="rId23"/>
    <p:sldId id="279" r:id="rId24"/>
    <p:sldId id="280" r:id="rId25"/>
    <p:sldId id="267"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50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4FE97-CEEA-0D62-4996-764BF690F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35C14-D2F1-389B-60E7-0C4239CF9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B75E2-8888-07E4-70CF-ACF96A4AC8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21FE08-5422-1F61-8172-1E2CC3FD7B3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6163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8F93B-7C5F-5457-96FD-909A68F2D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0F8F9-3D01-7E69-1BFC-C0772E629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7B472-DFFA-CB59-4513-ED342EE28E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7A412-7BD7-61BD-6F4B-69ABF0A10A3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43441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823B2-2E70-5ADE-DCCE-3563B936D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30A3E-15BD-07CE-ABE9-91300EF44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41850-6AC1-D85C-B776-2ADFE62D20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90E78E-9432-BE90-9B99-98547158384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71850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021F-85A1-590D-4E8E-E6DA718B0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0A76E-CB36-1FB1-52EB-8993BD837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D796B-A2BF-9FD1-F707-5A1FD1C26E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0DD645-ED33-D0E9-54C6-04E83F66BF3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31863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23A5C-3C6D-8280-467D-79D0D21C4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8A95-5842-A4AD-C56E-029963F16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1187B-8C59-254A-7D48-0324FBF708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3E210E-7F33-1712-4D82-8DE1B298515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27075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33985-5B69-1F46-5D54-2C728396F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595FE-A006-99CF-51FA-FF0FD9DD1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1E275-8992-832F-E947-A26474945A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7E6DC7-B9D7-D0B2-6A82-B9A9A5506A0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704360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8174-43FE-63FA-8A2E-34DB30686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A44FA-96D6-3716-463F-698BE69C9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22A17-60FF-153F-4577-0E4B947A5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76A769-D710-CCDE-FB0B-9ECF6760BA7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09855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34C76-E6EA-2C7C-58A3-52A5252F3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C5621-6F1C-3241-D53E-7D38D4728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E72654-5E36-70A8-CCD0-FF728C7ECF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34A246-EC25-532B-9022-7BE472F8670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93581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E304-31C9-64E1-96D1-B172D6450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93DF0-AB73-216A-E548-67D0DF7C9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C34F1-9B8E-04EE-31DA-EED27309C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4B9681-5CF9-55C5-AC8E-78EEDC40609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91223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0AC89-822E-85B2-5527-7166AF29C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3308A-0FCB-B429-A6F6-1F9CCE96D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1FA2E-00B9-9EF1-D31F-81D73B1EFB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10F948-5D9A-9053-E87E-84FE80AE73D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026357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58792-4C47-1C5D-7038-95C048FAA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6B920-D3E9-F137-9EB4-F7A1971CF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59A80-985E-FC23-82AF-1E8BFC941C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37D40-35C8-7AB0-3773-C60B642F02E9}"/>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122649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B7EBB-714E-08DA-3094-B9BE94C80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B34E2-E04C-642C-43EA-9157C8630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33D8D-0E8C-2FF1-B4C4-1CF57E9BC6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44EDA8-5FCF-C004-2928-E76325CA1D6D}"/>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91860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278FC-890D-5A9F-DBDA-233B48352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3F9CF-C236-D967-024A-C86E4848E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6B5FB-FABD-9989-FFC6-7519452203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18C1DA-D7DB-AD4A-4C05-72283E56488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5158188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marL="0" indent="0" algn="ctr">
              <a:buNone/>
            </a:pPr>
            <a:r>
              <a:rPr lang="en-US" sz="4400" b="1" dirty="0">
                <a:solidFill>
                  <a:srgbClr val="FFFFFF"/>
                </a:solidFill>
              </a:rPr>
              <a:t>SQL Real-Time Scenarios</a:t>
            </a:r>
            <a:endParaRPr lang="en-US" sz="4400" dirty="0"/>
          </a:p>
        </p:txBody>
      </p:sp>
      <p:sp>
        <p:nvSpPr>
          <p:cNvPr id="3" name="Text 1"/>
          <p:cNvSpPr/>
          <p:nvPr/>
        </p:nvSpPr>
        <p:spPr>
          <a:xfrm>
            <a:off x="457200" y="2560320"/>
            <a:ext cx="8229600" cy="548640"/>
          </a:xfrm>
          <a:prstGeom prst="rect">
            <a:avLst/>
          </a:prstGeom>
          <a:noFill/>
          <a:ln/>
        </p:spPr>
        <p:txBody>
          <a:bodyPr wrap="square" rtlCol="0" anchor="ctr"/>
          <a:lstStyle/>
          <a:p>
            <a:pPr marL="0" indent="0" algn="ctr">
              <a:buNone/>
            </a:pPr>
            <a:r>
              <a:rPr lang="en-US" sz="2400" dirty="0">
                <a:solidFill>
                  <a:srgbClr val="3498DB"/>
                </a:solidFill>
              </a:rPr>
              <a:t>For BCA 1st Semester - DDL &amp; DML Commands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498DB"/>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1: Student Management System</a:t>
            </a:r>
            <a:endParaRPr lang="en-US" sz="2600" dirty="0"/>
          </a:p>
        </p:txBody>
      </p:sp>
      <p:sp>
        <p:nvSpPr>
          <p:cNvPr id="4" name="Text 2"/>
          <p:cNvSpPr/>
          <p:nvPr/>
        </p:nvSpPr>
        <p:spPr>
          <a:xfrm>
            <a:off x="457200" y="2044211"/>
            <a:ext cx="8384345" cy="1434905"/>
          </a:xfrm>
          <a:prstGeom prst="rect">
            <a:avLst/>
          </a:prstGeom>
          <a:noFill/>
          <a:ln/>
        </p:spPr>
        <p:txBody>
          <a:bodyPr wrap="square" rtlCol="0" anchor="ctr"/>
          <a:lstStyle/>
          <a:p>
            <a:pPr marL="0" indent="0" algn="l">
              <a:buNone/>
            </a:pPr>
            <a:endParaRPr lang="en-US" sz="1150" dirty="0"/>
          </a:p>
          <a:p>
            <a:pPr marL="0" indent="0" algn="l">
              <a:buNone/>
            </a:pPr>
            <a:r>
              <a:rPr lang="en-US" sz="1150" b="1" dirty="0">
                <a:solidFill>
                  <a:srgbClr val="34495E"/>
                </a:solidFill>
              </a:rPr>
              <a:t>CONTEXT: </a:t>
            </a:r>
            <a:r>
              <a:rPr lang="en-US" sz="1150" dirty="0">
                <a:solidFill>
                  <a:srgbClr val="34495E"/>
                </a:solidFill>
              </a:rPr>
              <a:t>A college needs to manage student records including enrollment, marks, and attendance. Design and implement:</a:t>
            </a:r>
            <a:endParaRPr lang="en-US" sz="1150" dirty="0"/>
          </a:p>
          <a:p>
            <a:pPr marL="0" indent="0" algn="l">
              <a:buNone/>
            </a:pPr>
            <a:endParaRPr lang="en-US" sz="1150" dirty="0"/>
          </a:p>
          <a:p>
            <a:pPr marL="0" indent="0" algn="l">
              <a:buNone/>
            </a:pPr>
            <a:r>
              <a:rPr lang="en-US" sz="1150" b="1" dirty="0">
                <a:solidFill>
                  <a:srgbClr val="34495E"/>
                </a:solidFill>
              </a:rPr>
              <a:t>QUESTIONS:</a:t>
            </a:r>
          </a:p>
          <a:p>
            <a:pPr marL="0" indent="0" algn="l">
              <a:buNone/>
            </a:pPr>
            <a:endParaRPr lang="en-US" sz="1150" b="1" dirty="0"/>
          </a:p>
          <a:p>
            <a:pPr marL="0" indent="0" algn="l">
              <a:buNone/>
            </a:pPr>
            <a:r>
              <a:rPr lang="en-US" sz="1150" dirty="0">
                <a:solidFill>
                  <a:srgbClr val="34495E"/>
                </a:solidFill>
              </a:rPr>
              <a:t>1. Create a STUDENTS table with StudentID, Name, Email, Phone, EnrollmentDate, and Semester. Make StudentID auto-increment primary key, Email unique.</a:t>
            </a:r>
            <a:endParaRPr lang="en-US" sz="1150" dirty="0"/>
          </a:p>
          <a:p>
            <a:pPr marL="0" indent="0" algn="l">
              <a:buNone/>
            </a:pPr>
            <a:endParaRPr lang="en-US" sz="1150" dirty="0"/>
          </a:p>
          <a:p>
            <a:pPr marL="0" indent="0" algn="l">
              <a:buNone/>
            </a:pPr>
            <a:r>
              <a:rPr lang="en-US" sz="1150" dirty="0">
                <a:solidFill>
                  <a:srgbClr val="34495E"/>
                </a:solidFill>
              </a:rPr>
              <a:t>2. Create a COURSES table with CourseID, CourseName, Credits, Instructor, </a:t>
            </a:r>
            <a:endParaRPr lang="en-US" sz="1150" dirty="0"/>
          </a:p>
          <a:p>
            <a:pPr marL="0" indent="0" algn="l">
              <a:buNone/>
            </a:pPr>
            <a:r>
              <a:rPr lang="en-US" sz="1150" dirty="0">
                <a:solidFill>
                  <a:srgbClr val="34495E"/>
                </a:solidFill>
              </a:rPr>
              <a:t>   and MaxStudents. CourseID is primary key.</a:t>
            </a:r>
            <a:endParaRPr lang="en-US" sz="1150" dirty="0"/>
          </a:p>
          <a:p>
            <a:pPr marL="0" indent="0" algn="l">
              <a:buNone/>
            </a:pPr>
            <a:endParaRPr lang="en-US" sz="1150" dirty="0"/>
          </a:p>
          <a:p>
            <a:pPr marL="0" indent="0" algn="l">
              <a:buNone/>
            </a:pPr>
            <a:r>
              <a:rPr lang="en-US" sz="1150" dirty="0">
                <a:solidFill>
                  <a:srgbClr val="34495E"/>
                </a:solidFill>
              </a:rPr>
              <a:t>3. Insert 5 sample students into STUDENTS table.</a:t>
            </a:r>
            <a:endParaRPr lang="en-US" sz="1150" dirty="0"/>
          </a:p>
          <a:p>
            <a:pPr marL="0" indent="0" algn="l">
              <a:buNone/>
            </a:pPr>
            <a:endParaRPr lang="en-US" sz="1150" dirty="0"/>
          </a:p>
          <a:p>
            <a:pPr marL="0" indent="0" algn="l">
              <a:buNone/>
            </a:pPr>
            <a:r>
              <a:rPr lang="en-US" sz="1150" dirty="0">
                <a:solidFill>
                  <a:srgbClr val="34495E"/>
                </a:solidFill>
              </a:rPr>
              <a:t>4. Insert 3 courses into COURSES table.</a:t>
            </a:r>
            <a:endParaRPr lang="en-US" sz="1150" dirty="0"/>
          </a:p>
          <a:p>
            <a:pPr marL="0" indent="0" algn="l">
              <a:buNone/>
            </a:pPr>
            <a:endParaRPr lang="en-US" sz="1150" dirty="0"/>
          </a:p>
          <a:p>
            <a:pPr marL="0" indent="0" algn="l">
              <a:buNone/>
            </a:pPr>
            <a:r>
              <a:rPr lang="en-US" sz="1150" dirty="0">
                <a:solidFill>
                  <a:srgbClr val="34495E"/>
                </a:solidFill>
              </a:rPr>
              <a:t>5. Create a MARKS table linking students to courses with Marks (0-100).</a:t>
            </a:r>
            <a:endParaRPr lang="en-US" sz="1150" dirty="0"/>
          </a:p>
          <a:p>
            <a:pPr marL="0" indent="0" algn="l">
              <a:buNone/>
            </a:pPr>
            <a:endParaRPr lang="en-US" sz="1150" dirty="0"/>
          </a:p>
          <a:p>
            <a:pPr marL="0" indent="0" algn="l">
              <a:buNone/>
            </a:pPr>
            <a:r>
              <a:rPr lang="en-US" sz="1150" dirty="0">
                <a:solidFill>
                  <a:srgbClr val="34495E"/>
                </a:solidFill>
              </a:rPr>
              <a:t>6. Update student "Raj Kumar" email to "raj.new@college.edu"</a:t>
            </a:r>
            <a:endParaRPr lang="en-US" sz="1150" dirty="0"/>
          </a:p>
          <a:p>
            <a:pPr marL="0" indent="0" algn="l">
              <a:buNone/>
            </a:pPr>
            <a:endParaRPr lang="en-US" sz="1150" dirty="0"/>
          </a:p>
          <a:p>
            <a:pPr marL="0" indent="0" algn="l">
              <a:buNone/>
            </a:pPr>
            <a:r>
              <a:rPr lang="en-US" sz="1150" dirty="0">
                <a:solidFill>
                  <a:srgbClr val="34495E"/>
                </a:solidFill>
              </a:rPr>
              <a:t>7. Retrieve all students enrolled in Semester 1, ordered by name.</a:t>
            </a:r>
            <a:endParaRPr lang="en-US" sz="1150" dirty="0"/>
          </a:p>
          <a:p>
            <a:pPr marL="0" indent="0" algn="l">
              <a:buNone/>
            </a:pPr>
            <a:endParaRPr lang="en-US" sz="1150" dirty="0"/>
          </a:p>
          <a:p>
            <a:pPr marL="0" indent="0" algn="l">
              <a:buNone/>
            </a:pPr>
            <a:r>
              <a:rPr lang="en-US" sz="1150" dirty="0">
                <a:solidFill>
                  <a:srgbClr val="34495E"/>
                </a:solidFill>
              </a:rPr>
              <a:t>8. Retrieve courses with credits &gt; 3 and find max student capacity.</a:t>
            </a:r>
            <a:endParaRPr lang="en-US" sz="1150" dirty="0"/>
          </a:p>
          <a:p>
            <a:pPr marL="0" indent="0" algn="l">
              <a:buNone/>
            </a:pPr>
            <a:endParaRPr lang="en-US" sz="1150" dirty="0"/>
          </a:p>
          <a:p>
            <a:pPr marL="0" indent="0" algn="l">
              <a:buNone/>
            </a:pPr>
            <a:r>
              <a:rPr lang="en-US" sz="1150" dirty="0">
                <a:solidFill>
                  <a:srgbClr val="34495E"/>
                </a:solidFill>
              </a:rPr>
              <a:t>9. Delete student with ID 2 from STUDENTS table.</a:t>
            </a:r>
            <a:endParaRPr lang="en-US" sz="1150" dirty="0"/>
          </a:p>
          <a:p>
            <a:pPr marL="0" indent="0" algn="l">
              <a:buNone/>
            </a:pPr>
            <a:endParaRPr lang="en-US" sz="1150" dirty="0"/>
          </a:p>
          <a:p>
            <a:pPr marL="0" indent="0" algn="l">
              <a:buNone/>
            </a:pPr>
            <a:r>
              <a:rPr lang="en-US" sz="1150" dirty="0">
                <a:solidFill>
                  <a:srgbClr val="34495E"/>
                </a:solidFill>
              </a:rPr>
              <a:t>10. Display all courses assigned to each student (using join concept).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ECF0F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7AE60"/>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1: Student Management - Solutions</a:t>
            </a:r>
            <a:endParaRPr lang="en-US" sz="2600" dirty="0"/>
          </a:p>
        </p:txBody>
      </p:sp>
      <p:sp>
        <p:nvSpPr>
          <p:cNvPr id="4" name="Shape 2"/>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p:cNvSpPr/>
          <p:nvPr/>
        </p:nvSpPr>
        <p:spPr>
          <a:xfrm>
            <a:off x="457200" y="1209822"/>
            <a:ext cx="8229600" cy="3636498"/>
          </a:xfrm>
          <a:prstGeom prst="rect">
            <a:avLst/>
          </a:prstGeom>
          <a:noFill/>
          <a:ln/>
        </p:spPr>
        <p:txBody>
          <a:bodyPr wrap="square" rtlCol="0" anchor="ctr"/>
          <a:lstStyle/>
          <a:p>
            <a:pPr marL="0" indent="0" algn="l">
              <a:buNone/>
            </a:pPr>
            <a:r>
              <a:rPr lang="en-US" sz="1000" dirty="0">
                <a:solidFill>
                  <a:srgbClr val="2C3E50"/>
                </a:solidFill>
                <a:latin typeface="Courier New" pitchFamily="34" charset="0"/>
                <a:ea typeface="Courier New" pitchFamily="34" charset="-122"/>
                <a:cs typeface="Courier New" pitchFamily="34" charset="-120"/>
              </a:rPr>
              <a:t>
</a:t>
            </a:r>
            <a:r>
              <a:rPr lang="en-US" sz="1000" b="1" dirty="0">
                <a:solidFill>
                  <a:srgbClr val="2C3E50"/>
                </a:solidFill>
                <a:latin typeface="Courier New" pitchFamily="34" charset="0"/>
                <a:ea typeface="Courier New" pitchFamily="34" charset="-122"/>
                <a:cs typeface="Courier New" pitchFamily="34" charset="-120"/>
              </a:rPr>
              <a:t>-- 1. CREATE STUDENTS TABLE</a:t>
            </a:r>
            <a:r>
              <a:rPr lang="en-US" sz="1000" dirty="0">
                <a:solidFill>
                  <a:srgbClr val="2C3E50"/>
                </a:solidFill>
                <a:latin typeface="Courier New" pitchFamily="34" charset="0"/>
                <a:ea typeface="Courier New" pitchFamily="34" charset="-122"/>
                <a:cs typeface="Courier New" pitchFamily="34" charset="-120"/>
              </a:rPr>
              <a:t>
CREATE TABLE STUDENTS (
  StudentID INT PRIMARY KEY AUTO_INCREMENT,
  Name VARCHAR(100) NOT NULL,
  Email VARCHAR(100) UNIQUE,
  Phone VARCHAR(10),
  EnrollmentDate DATE DEFAULT (CURDATE)
);
</a:t>
            </a:r>
            <a:r>
              <a:rPr lang="en-US" sz="1000" b="1" dirty="0">
                <a:solidFill>
                  <a:srgbClr val="2C3E50"/>
                </a:solidFill>
                <a:latin typeface="Courier New" pitchFamily="34" charset="0"/>
                <a:ea typeface="Courier New" pitchFamily="34" charset="-122"/>
                <a:cs typeface="Courier New" pitchFamily="34" charset="-120"/>
              </a:rPr>
              <a:t>-- 2. CREATE COURSES TABLE</a:t>
            </a:r>
            <a:r>
              <a:rPr lang="en-US" sz="1000" dirty="0">
                <a:solidFill>
                  <a:srgbClr val="2C3E50"/>
                </a:solidFill>
                <a:latin typeface="Courier New" pitchFamily="34" charset="0"/>
                <a:ea typeface="Courier New" pitchFamily="34" charset="-122"/>
                <a:cs typeface="Courier New" pitchFamily="34" charset="-120"/>
              </a:rPr>
              <a:t>
CREATE TABLE COURSES (
  CourseID INT PRIMARY KEY AUTO_INCREMENT,
  CourseName VARCHAR(100) NOT NULL,
  Credits INT,
  Instructor VARCHAR(100),
  MaxStudents INT
);
</a:t>
            </a:r>
            <a:r>
              <a:rPr lang="en-US" sz="1000" b="1" dirty="0">
                <a:solidFill>
                  <a:srgbClr val="2C3E50"/>
                </a:solidFill>
                <a:latin typeface="Courier New" pitchFamily="34" charset="0"/>
                <a:ea typeface="Courier New" pitchFamily="34" charset="-122"/>
                <a:cs typeface="Courier New" pitchFamily="34" charset="-120"/>
              </a:rPr>
              <a:t>-- 3. INSERT STUDENTS (DML)</a:t>
            </a:r>
            <a:r>
              <a:rPr lang="en-US" sz="1000" dirty="0">
                <a:solidFill>
                  <a:srgbClr val="2C3E50"/>
                </a:solidFill>
                <a:latin typeface="Courier New" pitchFamily="34" charset="0"/>
                <a:ea typeface="Courier New" pitchFamily="34" charset="-122"/>
                <a:cs typeface="Courier New" pitchFamily="34" charset="-120"/>
              </a:rPr>
              <a:t>
INSERT INTO STUDENTS (Name, Email, Phone, Semester) VALUES
('Raj Kumar', 'raj@college.edu', '9876543210', 1),
('Priya Singh', 'priya@college.edu', '9876543211', 1),
('Amit Patel', 'amit@college.edu', '9876543212', 1),
('Neha Sharma', 'neha@college.edu', '9876543213', 1),
('Arjun Verma', 'arjun@college.edu', '9876543214', 1);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F907A405-C7AE-6724-63FE-6618F25B95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6E3FF2-E5C5-E609-03AF-163936B221EB}"/>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8BCF614A-4142-E04D-4295-EC750962AFBF}"/>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1: Student Management - Solutions</a:t>
            </a:r>
            <a:endParaRPr lang="en-US" sz="2600" dirty="0"/>
          </a:p>
        </p:txBody>
      </p:sp>
      <p:sp>
        <p:nvSpPr>
          <p:cNvPr id="4" name="Shape 2">
            <a:extLst>
              <a:ext uri="{FF2B5EF4-FFF2-40B4-BE49-F238E27FC236}">
                <a16:creationId xmlns:a16="http://schemas.microsoft.com/office/drawing/2014/main" id="{EFCB3C5C-2B81-567D-F1C0-5BE8B8436852}"/>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EB6B1CD9-1157-534E-DCFE-FD2F4C64914A}"/>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-- 4. INSERT COURSES (DML)</a:t>
            </a:r>
            <a:r>
              <a:rPr lang="en-US" sz="1100" dirty="0">
                <a:solidFill>
                  <a:srgbClr val="2C3E50"/>
                </a:solidFill>
                <a:latin typeface="Courier New" pitchFamily="34" charset="0"/>
                <a:ea typeface="Courier New" pitchFamily="34" charset="-122"/>
                <a:cs typeface="Courier New" pitchFamily="34" charset="-120"/>
              </a:rPr>
              <a:t>
INSERT INTO COURSES (CourseName, Credits, Instructor, MaxStudents) 
VALUES
('Database Systems', 4, 'Dr. Sharma', 50),
('Web Development', 3, 'Mr. Patel', 40),
('Data Structures', 4, 'Dr. Gupta', 45);
</a:t>
            </a:r>
            <a:r>
              <a:rPr lang="en-US" sz="1100" b="1" dirty="0">
                <a:solidFill>
                  <a:srgbClr val="2C3E50"/>
                </a:solidFill>
                <a:latin typeface="Courier New" pitchFamily="34" charset="0"/>
                <a:ea typeface="Courier New" pitchFamily="34" charset="-122"/>
                <a:cs typeface="Courier New" pitchFamily="34" charset="-120"/>
              </a:rPr>
              <a:t>-- 5. CREATE MARKS TABLE</a:t>
            </a:r>
            <a:r>
              <a:rPr lang="en-US" sz="1100" dirty="0">
                <a:solidFill>
                  <a:srgbClr val="2C3E50"/>
                </a:solidFill>
                <a:latin typeface="Courier New" pitchFamily="34" charset="0"/>
                <a:ea typeface="Courier New" pitchFamily="34" charset="-122"/>
                <a:cs typeface="Courier New" pitchFamily="34" charset="-120"/>
              </a:rPr>
              <a:t>
CREATE TABLE MARKS (
  MarkID INT PRIMARY KEY AUTO_INCREMENT,
  StudentID INT,
  CourseID INT,
  Marks INT CHECK (Marks &gt;= 0 AND Marks &lt;= 100),
  FOREIGN KEY (StudentID) REFERENCES STUDENTS(StudentID),
  FOREIGN KEY (CourseID) REFERENCES COURSES(CourseID)
);
</a:t>
            </a:r>
            <a:r>
              <a:rPr lang="en-US" sz="1100" b="1" dirty="0">
                <a:solidFill>
                  <a:srgbClr val="2C3E50"/>
                </a:solidFill>
                <a:latin typeface="Courier New" pitchFamily="34" charset="0"/>
                <a:ea typeface="Courier New" pitchFamily="34" charset="-122"/>
                <a:cs typeface="Courier New" pitchFamily="34" charset="-120"/>
              </a:rPr>
              <a:t>-- 6. UPDATE - Change email</a:t>
            </a:r>
            <a:r>
              <a:rPr lang="en-US" sz="1100" dirty="0">
                <a:solidFill>
                  <a:srgbClr val="2C3E50"/>
                </a:solidFill>
                <a:latin typeface="Courier New" pitchFamily="34" charset="0"/>
                <a:ea typeface="Courier New" pitchFamily="34" charset="-122"/>
                <a:cs typeface="Courier New" pitchFamily="34" charset="-120"/>
              </a:rPr>
              <a:t>
UPDATE STUDENTS 
SET Email = 'raj.new@college.edu' 
WHERE Name = 'Raj Kumar';
</a:t>
            </a:r>
            <a:endParaRPr lang="en-US" sz="1100" dirty="0"/>
          </a:p>
        </p:txBody>
      </p:sp>
    </p:spTree>
    <p:extLst>
      <p:ext uri="{BB962C8B-B14F-4D97-AF65-F5344CB8AC3E}">
        <p14:creationId xmlns:p14="http://schemas.microsoft.com/office/powerpoint/2010/main" val="2980814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69E2F16F-EC92-9A76-B1B3-BD7DE4A232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EE97915-F11A-72D7-79C4-5536C57D29BD}"/>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21AEE522-E4AA-CCDB-52C2-D0F0D401EC75}"/>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1: Student Management - Solutions</a:t>
            </a:r>
            <a:endParaRPr lang="en-US" sz="2600" dirty="0"/>
          </a:p>
        </p:txBody>
      </p:sp>
      <p:sp>
        <p:nvSpPr>
          <p:cNvPr id="4" name="Shape 2">
            <a:extLst>
              <a:ext uri="{FF2B5EF4-FFF2-40B4-BE49-F238E27FC236}">
                <a16:creationId xmlns:a16="http://schemas.microsoft.com/office/drawing/2014/main" id="{D2D47A9A-5824-2289-8D3D-4CB714330AF8}"/>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AD87B0BC-C433-03E0-C5F7-1A98F9DD9102}"/>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-- 7. SELECT - Get Semester 1 students</a:t>
            </a:r>
            <a:r>
              <a:rPr lang="en-US" sz="1100" dirty="0">
                <a:solidFill>
                  <a:srgbClr val="2C3E50"/>
                </a:solidFill>
                <a:latin typeface="Courier New" pitchFamily="34" charset="0"/>
                <a:ea typeface="Courier New" pitchFamily="34" charset="-122"/>
                <a:cs typeface="Courier New" pitchFamily="34" charset="-120"/>
              </a:rPr>
              <a:t>
SELECT * FROM STUDENTS 
WHERE Semester = 1 
ORDER BY Name ASC;
</a:t>
            </a:r>
            <a:r>
              <a:rPr lang="en-US" sz="1100" b="1" dirty="0">
                <a:solidFill>
                  <a:srgbClr val="2C3E50"/>
                </a:solidFill>
                <a:latin typeface="Courier New" pitchFamily="34" charset="0"/>
                <a:ea typeface="Courier New" pitchFamily="34" charset="-122"/>
                <a:cs typeface="Courier New" pitchFamily="34" charset="-120"/>
              </a:rPr>
              <a:t>
-- 8. SELECT - Courses with credits &gt; 3</a:t>
            </a:r>
            <a:r>
              <a:rPr lang="en-US" sz="1100" dirty="0">
                <a:solidFill>
                  <a:srgbClr val="2C3E50"/>
                </a:solidFill>
                <a:latin typeface="Courier New" pitchFamily="34" charset="0"/>
                <a:ea typeface="Courier New" pitchFamily="34" charset="-122"/>
                <a:cs typeface="Courier New" pitchFamily="34" charset="-120"/>
              </a:rPr>
              <a:t>
SELECT CourseName, Credits, MaxStudents 
FROM COURSES 
WHERE Credits &gt; 3 
ORDER BY Credits DESC;
</a:t>
            </a:r>
            <a:r>
              <a:rPr lang="en-US" sz="1100" b="1" dirty="0">
                <a:solidFill>
                  <a:srgbClr val="2C3E50"/>
                </a:solidFill>
                <a:latin typeface="Courier New" pitchFamily="34" charset="0"/>
                <a:ea typeface="Courier New" pitchFamily="34" charset="-122"/>
                <a:cs typeface="Courier New" pitchFamily="34" charset="-120"/>
              </a:rPr>
              <a:t>-- 9. DELETE - Remove student</a:t>
            </a:r>
            <a:r>
              <a:rPr lang="en-US" sz="1100" dirty="0">
                <a:solidFill>
                  <a:srgbClr val="2C3E50"/>
                </a:solidFill>
                <a:latin typeface="Courier New" pitchFamily="34" charset="0"/>
                <a:ea typeface="Courier New" pitchFamily="34" charset="-122"/>
                <a:cs typeface="Courier New" pitchFamily="34" charset="-120"/>
              </a:rPr>
              <a:t>
DELETE FROM STUDENTS 
WHERE StudentID = 2;
</a:t>
            </a:r>
            <a:r>
              <a:rPr lang="en-US" sz="1100" b="1" dirty="0">
                <a:solidFill>
                  <a:srgbClr val="2C3E50"/>
                </a:solidFill>
                <a:latin typeface="Courier New" pitchFamily="34" charset="0"/>
                <a:ea typeface="Courier New" pitchFamily="34" charset="-122"/>
                <a:cs typeface="Courier New" pitchFamily="34" charset="-120"/>
              </a:rPr>
              <a:t>-- 10. SELECT with JOIN - Show student courses</a:t>
            </a:r>
            <a:r>
              <a:rPr lang="en-US" sz="1100" dirty="0">
                <a:solidFill>
                  <a:srgbClr val="2C3E50"/>
                </a:solidFill>
                <a:latin typeface="Courier New" pitchFamily="34" charset="0"/>
                <a:ea typeface="Courier New" pitchFamily="34" charset="-122"/>
                <a:cs typeface="Courier New" pitchFamily="34" charset="-120"/>
              </a:rPr>
              <a:t>
SELECT s.Name, c.CourseName, c.Credits
FROM STUDENTS s, COURSES c
WHERE s.StudentID &lt;= (SELECT MAX(StudentID) FROM STUDENTS)
LIMIT 5;
</a:t>
            </a:r>
            <a:endParaRPr lang="en-US" sz="1100" dirty="0"/>
          </a:p>
        </p:txBody>
      </p:sp>
    </p:spTree>
    <p:extLst>
      <p:ext uri="{BB962C8B-B14F-4D97-AF65-F5344CB8AC3E}">
        <p14:creationId xmlns:p14="http://schemas.microsoft.com/office/powerpoint/2010/main" val="1288583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498DB"/>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2: Employee &amp; Payroll System</a:t>
            </a:r>
            <a:endParaRPr lang="en-US" sz="2600" dirty="0"/>
          </a:p>
        </p:txBody>
      </p:sp>
      <p:sp>
        <p:nvSpPr>
          <p:cNvPr id="4" name="Text 2"/>
          <p:cNvSpPr/>
          <p:nvPr/>
        </p:nvSpPr>
        <p:spPr>
          <a:xfrm>
            <a:off x="457200" y="822960"/>
            <a:ext cx="8229600" cy="4114800"/>
          </a:xfrm>
          <a:prstGeom prst="rect">
            <a:avLst/>
          </a:prstGeom>
          <a:noFill/>
          <a:ln/>
        </p:spPr>
        <p:txBody>
          <a:bodyPr wrap="square" rtlCol="0" anchor="ctr"/>
          <a:lstStyle/>
          <a:p>
            <a:pPr marL="0" indent="0" algn="l">
              <a:buNone/>
            </a:pPr>
            <a:endParaRPr lang="en-US" sz="1100" dirty="0"/>
          </a:p>
          <a:p>
            <a:pPr marL="0" indent="0" algn="l">
              <a:buNone/>
            </a:pPr>
            <a:r>
              <a:rPr lang="en-US" sz="1100" b="1" dirty="0">
                <a:solidFill>
                  <a:srgbClr val="34495E"/>
                </a:solidFill>
              </a:rPr>
              <a:t>CONTEXT: </a:t>
            </a:r>
            <a:r>
              <a:rPr lang="en-US" sz="1100" dirty="0">
                <a:solidFill>
                  <a:srgbClr val="34495E"/>
                </a:solidFill>
              </a:rPr>
              <a:t>HR Department needs to track employees, departments, salaries, </a:t>
            </a:r>
            <a:r>
              <a:rPr lang="en-US" sz="1100" dirty="0"/>
              <a:t> </a:t>
            </a:r>
            <a:r>
              <a:rPr lang="en-US" sz="1100" dirty="0">
                <a:solidFill>
                  <a:srgbClr val="34495E"/>
                </a:solidFill>
              </a:rPr>
              <a:t>and leave records. Implement:</a:t>
            </a:r>
            <a:endParaRPr lang="en-US" sz="1100" dirty="0"/>
          </a:p>
          <a:p>
            <a:pPr marL="0" indent="0" algn="l">
              <a:buNone/>
            </a:pPr>
            <a:endParaRPr lang="en-US" sz="1100" b="1" dirty="0"/>
          </a:p>
          <a:p>
            <a:pPr marL="0" indent="0" algn="l">
              <a:buNone/>
            </a:pPr>
            <a:r>
              <a:rPr lang="en-US" sz="1100" b="1" dirty="0">
                <a:solidFill>
                  <a:srgbClr val="34495E"/>
                </a:solidFill>
              </a:rPr>
              <a:t>QUESTIONS:</a:t>
            </a:r>
            <a:endParaRPr lang="en-US" sz="1100" b="1" dirty="0"/>
          </a:p>
          <a:p>
            <a:pPr marL="0" indent="0" algn="l">
              <a:buNone/>
            </a:pPr>
            <a:r>
              <a:rPr lang="en-US" sz="1100" dirty="0">
                <a:solidFill>
                  <a:srgbClr val="34495E"/>
                </a:solidFill>
              </a:rPr>
              <a:t>1. Create EMPLOYEES table with EmpID, Name, Department, Designation, </a:t>
            </a:r>
            <a:endParaRPr lang="en-US" sz="1100" dirty="0"/>
          </a:p>
          <a:p>
            <a:pPr marL="0" indent="0" algn="l">
              <a:buNone/>
            </a:pPr>
            <a:r>
              <a:rPr lang="en-US" sz="1100" dirty="0">
                <a:solidFill>
                  <a:srgbClr val="34495E"/>
                </a:solidFill>
              </a:rPr>
              <a:t>   Salary, JoinDate. Ensure EmpID is auto-increment and primary key.</a:t>
            </a:r>
            <a:endParaRPr lang="en-US" sz="1100" dirty="0"/>
          </a:p>
          <a:p>
            <a:pPr marL="0" indent="0" algn="l">
              <a:buNone/>
            </a:pPr>
            <a:endParaRPr lang="en-US" sz="1100" dirty="0"/>
          </a:p>
          <a:p>
            <a:pPr marL="0" indent="0" algn="l">
              <a:buNone/>
            </a:pPr>
            <a:r>
              <a:rPr lang="en-US" sz="1100" dirty="0">
                <a:solidFill>
                  <a:srgbClr val="34495E"/>
                </a:solidFill>
              </a:rPr>
              <a:t>2. Create DEPARTMENTS table with DeptID, DeptName, Location, Budget.</a:t>
            </a:r>
            <a:endParaRPr lang="en-US" sz="1100" dirty="0"/>
          </a:p>
          <a:p>
            <a:pPr marL="0" indent="0" algn="l">
              <a:buNone/>
            </a:pPr>
            <a:endParaRPr lang="en-US" sz="1100" dirty="0"/>
          </a:p>
          <a:p>
            <a:pPr marL="0" indent="0" algn="l">
              <a:buNone/>
            </a:pPr>
            <a:r>
              <a:rPr lang="en-US" sz="1100" dirty="0">
                <a:solidFill>
                  <a:srgbClr val="34495E"/>
                </a:solidFill>
              </a:rPr>
              <a:t>3. Insert 6 employees across different departments (IT, HR, Sales, Finance).</a:t>
            </a:r>
            <a:endParaRPr lang="en-US" sz="1100" dirty="0"/>
          </a:p>
          <a:p>
            <a:pPr marL="0" indent="0" algn="l">
              <a:buNone/>
            </a:pPr>
            <a:endParaRPr lang="en-US" sz="1100" dirty="0"/>
          </a:p>
          <a:p>
            <a:pPr marL="0" indent="0" algn="l">
              <a:buNone/>
            </a:pPr>
            <a:r>
              <a:rPr lang="en-US" sz="1100" dirty="0">
                <a:solidFill>
                  <a:srgbClr val="34495E"/>
                </a:solidFill>
              </a:rPr>
              <a:t>4. Insert 4 departments with budgets.</a:t>
            </a:r>
            <a:endParaRPr lang="en-US" sz="1100" dirty="0"/>
          </a:p>
          <a:p>
            <a:pPr marL="0" indent="0" algn="l">
              <a:buNone/>
            </a:pPr>
            <a:endParaRPr lang="en-US" sz="1100" dirty="0"/>
          </a:p>
          <a:p>
            <a:pPr marL="0" indent="0" algn="l">
              <a:buNone/>
            </a:pPr>
            <a:r>
              <a:rPr lang="en-US" sz="1100" dirty="0">
                <a:solidFill>
                  <a:srgbClr val="34495E"/>
                </a:solidFill>
              </a:rPr>
              <a:t>5. Give 15% salary hike to all employees in IT department.</a:t>
            </a:r>
            <a:endParaRPr lang="en-US" sz="1100" dirty="0"/>
          </a:p>
          <a:p>
            <a:pPr marL="0" indent="0" algn="l">
              <a:buNone/>
            </a:pPr>
            <a:endParaRPr lang="en-US" sz="1100" dirty="0"/>
          </a:p>
          <a:p>
            <a:pPr marL="0" indent="0" algn="l">
              <a:buNone/>
            </a:pPr>
            <a:r>
              <a:rPr lang="en-US" sz="1100" dirty="0">
                <a:solidFill>
                  <a:srgbClr val="34495E"/>
                </a:solidFill>
              </a:rPr>
              <a:t>6. Find employees earning more than 70,000.</a:t>
            </a:r>
            <a:endParaRPr lang="en-US" sz="1100" dirty="0"/>
          </a:p>
          <a:p>
            <a:pPr marL="0" indent="0" algn="l">
              <a:buNone/>
            </a:pPr>
            <a:endParaRPr lang="en-US" sz="1100" dirty="0"/>
          </a:p>
          <a:p>
            <a:pPr marL="0" indent="0" algn="l">
              <a:buNone/>
            </a:pPr>
            <a:r>
              <a:rPr lang="en-US" sz="1100" dirty="0">
                <a:solidFill>
                  <a:srgbClr val="34495E"/>
                </a:solidFill>
              </a:rPr>
              <a:t>7. Find department with highest budget allocation.</a:t>
            </a:r>
            <a:endParaRPr lang="en-US" sz="1100" dirty="0"/>
          </a:p>
          <a:p>
            <a:pPr marL="0" indent="0" algn="l">
              <a:buNone/>
            </a:pPr>
            <a:endParaRPr lang="en-US" sz="1100" dirty="0"/>
          </a:p>
          <a:p>
            <a:pPr marL="0" indent="0" algn="l">
              <a:buNone/>
            </a:pPr>
            <a:r>
              <a:rPr lang="en-US" sz="1100" dirty="0">
                <a:solidFill>
                  <a:srgbClr val="34495E"/>
                </a:solidFill>
              </a:rPr>
              <a:t>8. Count total employees in each department.</a:t>
            </a:r>
            <a:endParaRPr lang="en-US" sz="1100" dirty="0"/>
          </a:p>
          <a:p>
            <a:pPr marL="0" indent="0" algn="l">
              <a:buNone/>
            </a:pPr>
            <a:endParaRPr lang="en-US" sz="1100" dirty="0"/>
          </a:p>
          <a:p>
            <a:pPr marL="0" indent="0" algn="l">
              <a:buNone/>
            </a:pPr>
            <a:r>
              <a:rPr lang="en-US" sz="1100" dirty="0">
                <a:solidFill>
                  <a:srgbClr val="34495E"/>
                </a:solidFill>
              </a:rPr>
              <a:t>9. Update designation from 'Manager' to 'Senior Manager' where salary &gt; 80000.</a:t>
            </a:r>
            <a:endParaRPr lang="en-US" sz="1100" dirty="0"/>
          </a:p>
          <a:p>
            <a:pPr marL="0" indent="0" algn="l">
              <a:buNone/>
            </a:pPr>
            <a:endParaRPr lang="en-US" sz="1100" dirty="0"/>
          </a:p>
          <a:p>
            <a:pPr marL="0" indent="0" algn="l">
              <a:buNone/>
            </a:pPr>
            <a:r>
              <a:rPr lang="en-US" sz="1100" dirty="0">
                <a:solidFill>
                  <a:srgbClr val="34495E"/>
                </a:solidFill>
              </a:rPr>
              <a:t>10. Remove all employees with salary &lt; 50000 (considering they resigned).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5">
    <p:bg>
      <p:bgPr>
        <a:solidFill>
          <a:srgbClr val="ECF0F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7AE60"/>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2: Employee &amp; Payroll - Solutions</a:t>
            </a:r>
            <a:endParaRPr lang="en-US" sz="2600" dirty="0"/>
          </a:p>
        </p:txBody>
      </p:sp>
      <p:sp>
        <p:nvSpPr>
          <p:cNvPr id="4" name="Shape 2"/>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p:cNvSpPr/>
          <p:nvPr/>
        </p:nvSpPr>
        <p:spPr>
          <a:xfrm>
            <a:off x="457200" y="914400"/>
            <a:ext cx="8229600" cy="3931920"/>
          </a:xfrm>
          <a:prstGeom prst="rect">
            <a:avLst/>
          </a:prstGeom>
          <a:noFill/>
          <a:ln/>
        </p:spPr>
        <p:txBody>
          <a:bodyPr wrap="square" rtlCol="0" anchor="ctr"/>
          <a:lstStyle/>
          <a:p>
            <a:pPr marL="0" indent="0" algn="l">
              <a:buNone/>
            </a:pPr>
            <a:r>
              <a:rPr lang="en-US" sz="900" dirty="0">
                <a:solidFill>
                  <a:srgbClr val="2C3E50"/>
                </a:solidFill>
                <a:latin typeface="Courier New" pitchFamily="34" charset="0"/>
                <a:ea typeface="Courier New" pitchFamily="34" charset="-122"/>
                <a:cs typeface="Courier New" pitchFamily="34" charset="-120"/>
              </a:rPr>
              <a:t>
</a:t>
            </a:r>
            <a:r>
              <a:rPr lang="en-US" sz="900" b="1" dirty="0">
                <a:solidFill>
                  <a:srgbClr val="2C3E50"/>
                </a:solidFill>
                <a:latin typeface="Courier New" pitchFamily="34" charset="0"/>
                <a:ea typeface="Courier New" pitchFamily="34" charset="-122"/>
                <a:cs typeface="Courier New" pitchFamily="34" charset="-120"/>
              </a:rPr>
              <a:t>-- 1. CREATE EMPLOYEES TABLE</a:t>
            </a:r>
            <a:r>
              <a:rPr lang="en-US" sz="900" dirty="0">
                <a:solidFill>
                  <a:srgbClr val="2C3E50"/>
                </a:solidFill>
                <a:latin typeface="Courier New" pitchFamily="34" charset="0"/>
                <a:ea typeface="Courier New" pitchFamily="34" charset="-122"/>
                <a:cs typeface="Courier New" pitchFamily="34" charset="-120"/>
              </a:rPr>
              <a:t>
CREATE TABLE EMPLOYEES (
  EmpID INT PRIMARY KEY AUTO_INCREMENT,
  Name VARCHAR(100) NOT NULL,
  Department VARCHAR(50),
  Designation VARCHAR(50),
  Salary DECIMAL(10,2),
  JoinDate DATE,
  CHECK (Salary &gt; 0)
);
</a:t>
            </a:r>
            <a:r>
              <a:rPr lang="en-US" sz="900" b="1" dirty="0">
                <a:solidFill>
                  <a:srgbClr val="2C3E50"/>
                </a:solidFill>
                <a:latin typeface="Courier New" pitchFamily="34" charset="0"/>
                <a:ea typeface="Courier New" pitchFamily="34" charset="-122"/>
                <a:cs typeface="Courier New" pitchFamily="34" charset="-120"/>
              </a:rPr>
              <a:t>
-- 2. CREATE DEPARTMENTS TABLE</a:t>
            </a:r>
            <a:r>
              <a:rPr lang="en-US" sz="900" dirty="0">
                <a:solidFill>
                  <a:srgbClr val="2C3E50"/>
                </a:solidFill>
                <a:latin typeface="Courier New" pitchFamily="34" charset="0"/>
                <a:ea typeface="Courier New" pitchFamily="34" charset="-122"/>
                <a:cs typeface="Courier New" pitchFamily="34" charset="-120"/>
              </a:rPr>
              <a:t>
CREATE TABLE DEPARTMENTS (
  DeptID INT PRIMARY KEY AUTO_INCREMENT,
  DeptName VARCHAR(50) UNIQUE NOT NULL,
  Location VARCHAR(100),
  Budget DECIMAL(12,2)
);
</a:t>
            </a:r>
            <a:r>
              <a:rPr lang="en-US" sz="900" b="1" dirty="0">
                <a:solidFill>
                  <a:srgbClr val="2C3E50"/>
                </a:solidFill>
                <a:latin typeface="Courier New" pitchFamily="34" charset="0"/>
                <a:ea typeface="Courier New" pitchFamily="34" charset="-122"/>
                <a:cs typeface="Courier New" pitchFamily="34" charset="-120"/>
              </a:rPr>
              <a:t>-- 3. INSERT EMPLOYEES</a:t>
            </a:r>
            <a:r>
              <a:rPr lang="en-US" sz="900" dirty="0">
                <a:solidFill>
                  <a:srgbClr val="2C3E50"/>
                </a:solidFill>
                <a:latin typeface="Courier New" pitchFamily="34" charset="0"/>
                <a:ea typeface="Courier New" pitchFamily="34" charset="-122"/>
                <a:cs typeface="Courier New" pitchFamily="34" charset="-120"/>
              </a:rPr>
              <a:t>
INSERT INTO EMPLOYEES (Name, Department, Designation, Salary, JoinDate) VALUES
('Raj Kumar', 'IT', 'Developer', 65000, '2020-01-15'),
('Priya Singh', 'HR', 'Manager', 75000, '2019-03-10'),
('Amit Patel', 'IT', 'Senior Developer', 85000, '2018-05-20'),
('Neha Sharma', 'Sales', 'Executive', 55000, '2021-02-08'),
('Arjun Verma', 'Finance', 'Analyst', 60000, '2020-11-12'),
('Zara Khan', 'IT', 'Developer', 62000, '2021-07-05');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FB1B456B-93C9-BE68-894D-09C52325716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5D14D2-4C38-1B5C-B6DD-4C3480B5E4C8}"/>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225EDCE4-A742-B191-548E-18C3522D5E83}"/>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2: Employee &amp; Payroll - Solutions</a:t>
            </a:r>
            <a:endParaRPr lang="en-US" sz="2600" dirty="0"/>
          </a:p>
        </p:txBody>
      </p:sp>
      <p:sp>
        <p:nvSpPr>
          <p:cNvPr id="4" name="Shape 2">
            <a:extLst>
              <a:ext uri="{FF2B5EF4-FFF2-40B4-BE49-F238E27FC236}">
                <a16:creationId xmlns:a16="http://schemas.microsoft.com/office/drawing/2014/main" id="{DC370602-6A9A-BDCE-0995-F8FC40F07C12}"/>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2FA31A95-9496-1F86-4DB4-EDE4BFC2BE3F}"/>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-- 4. INSERT DEPARTMENTS</a:t>
            </a:r>
            <a:r>
              <a:rPr lang="en-US" sz="1100" dirty="0">
                <a:solidFill>
                  <a:srgbClr val="2C3E50"/>
                </a:solidFill>
                <a:latin typeface="Courier New" pitchFamily="34" charset="0"/>
                <a:ea typeface="Courier New" pitchFamily="34" charset="-122"/>
                <a:cs typeface="Courier New" pitchFamily="34" charset="-120"/>
              </a:rPr>
              <a:t>
INSERT INTO DEPARTMENTS (DeptName, Location, Budget) VALUES
('IT', 'Floor 3', 5000000),
('HR', 'Floor 1', 2000000),
('Sales', 'Floor 2', 3000000),
('Finance', 'Floor 4', 2500000);
</a:t>
            </a:r>
            <a:r>
              <a:rPr lang="en-US" sz="1100" b="1" dirty="0">
                <a:solidFill>
                  <a:srgbClr val="2C3E50"/>
                </a:solidFill>
                <a:latin typeface="Courier New" pitchFamily="34" charset="0"/>
                <a:ea typeface="Courier New" pitchFamily="34" charset="-122"/>
                <a:cs typeface="Courier New" pitchFamily="34" charset="-120"/>
              </a:rPr>
              <a:t>-- 5. UPDATE - 15% hike for IT</a:t>
            </a:r>
            <a:r>
              <a:rPr lang="en-US" sz="1100" dirty="0">
                <a:solidFill>
                  <a:srgbClr val="2C3E50"/>
                </a:solidFill>
                <a:latin typeface="Courier New" pitchFamily="34" charset="0"/>
                <a:ea typeface="Courier New" pitchFamily="34" charset="-122"/>
                <a:cs typeface="Courier New" pitchFamily="34" charset="-120"/>
              </a:rPr>
              <a:t>
UPDATE EMPLOYEES 
SET Salary = Salary * 1.15 
WHERE Department = 'IT';
</a:t>
            </a:r>
            <a:r>
              <a:rPr lang="en-US" sz="1100" b="1" dirty="0">
                <a:solidFill>
                  <a:srgbClr val="2C3E50"/>
                </a:solidFill>
                <a:latin typeface="Courier New" pitchFamily="34" charset="0"/>
                <a:ea typeface="Courier New" pitchFamily="34" charset="-122"/>
                <a:cs typeface="Courier New" pitchFamily="34" charset="-120"/>
              </a:rPr>
              <a:t>-- 6. SELECT - Salary &gt; 70000</a:t>
            </a:r>
            <a:r>
              <a:rPr lang="en-US" sz="1100" dirty="0">
                <a:solidFill>
                  <a:srgbClr val="2C3E50"/>
                </a:solidFill>
                <a:latin typeface="Courier New" pitchFamily="34" charset="0"/>
                <a:ea typeface="Courier New" pitchFamily="34" charset="-122"/>
                <a:cs typeface="Courier New" pitchFamily="34" charset="-120"/>
              </a:rPr>
              <a:t>
SELECT Name, Designation, Department, Salary 
FROM EMPLOYEES 
WHERE Salary &gt; 70000 
ORDER BY Salary DESC;
</a:t>
            </a:r>
            <a:r>
              <a:rPr lang="en-US" sz="1100" b="1" dirty="0">
                <a:solidFill>
                  <a:srgbClr val="2C3E50"/>
                </a:solidFill>
                <a:latin typeface="Courier New" pitchFamily="34" charset="0"/>
                <a:ea typeface="Courier New" pitchFamily="34" charset="-122"/>
                <a:cs typeface="Courier New" pitchFamily="34" charset="-120"/>
              </a:rPr>
              <a:t>
-- 7. SELECT - Dept with max budget</a:t>
            </a:r>
            <a:r>
              <a:rPr lang="en-US" sz="1100" dirty="0">
                <a:solidFill>
                  <a:srgbClr val="2C3E50"/>
                </a:solidFill>
                <a:latin typeface="Courier New" pitchFamily="34" charset="0"/>
                <a:ea typeface="Courier New" pitchFamily="34" charset="-122"/>
                <a:cs typeface="Courier New" pitchFamily="34" charset="-120"/>
              </a:rPr>
              <a:t>
SELECT DeptName, Budget 
FROM DEPARTMENTS 
ORDER BY Budget DESC 
LIMIT 1;
</a:t>
            </a:r>
            <a:endParaRPr lang="en-US" sz="1100" dirty="0"/>
          </a:p>
        </p:txBody>
      </p:sp>
    </p:spTree>
    <p:extLst>
      <p:ext uri="{BB962C8B-B14F-4D97-AF65-F5344CB8AC3E}">
        <p14:creationId xmlns:p14="http://schemas.microsoft.com/office/powerpoint/2010/main" val="4292597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3DBE0621-EDE6-0EA8-4F2B-32768F8DC5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FC6FC3-C5E7-22C6-FAF9-CB15576C3F5A}"/>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B3AC92E9-B22D-672F-5067-073936BFE24D}"/>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2: Employee &amp; Payroll - Solutions</a:t>
            </a:r>
            <a:endParaRPr lang="en-US" sz="2600" dirty="0"/>
          </a:p>
        </p:txBody>
      </p:sp>
      <p:sp>
        <p:nvSpPr>
          <p:cNvPr id="4" name="Shape 2">
            <a:extLst>
              <a:ext uri="{FF2B5EF4-FFF2-40B4-BE49-F238E27FC236}">
                <a16:creationId xmlns:a16="http://schemas.microsoft.com/office/drawing/2014/main" id="{CE426F08-C835-7F10-7731-AF3ABEACD2D2}"/>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CFBACB76-590D-9734-DC2D-951A8D13CBA6}"/>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-- 8. SELECT with COUNT - Employees per dept</a:t>
            </a:r>
            <a:r>
              <a:rPr lang="en-US" sz="1100" dirty="0">
                <a:solidFill>
                  <a:srgbClr val="2C3E50"/>
                </a:solidFill>
                <a:latin typeface="Courier New" pitchFamily="34" charset="0"/>
                <a:ea typeface="Courier New" pitchFamily="34" charset="-122"/>
                <a:cs typeface="Courier New" pitchFamily="34" charset="-120"/>
              </a:rPr>
              <a:t>
SELECT Department, COUNT(*) as EmpCount 
FROM EMPLOYEES 
GROUP BY Department 
ORDER BY EmpCount DESC;
</a:t>
            </a:r>
            <a:r>
              <a:rPr lang="en-US" sz="1100" b="1" dirty="0">
                <a:solidFill>
                  <a:srgbClr val="2C3E50"/>
                </a:solidFill>
                <a:latin typeface="Courier New" pitchFamily="34" charset="0"/>
                <a:ea typeface="Courier New" pitchFamily="34" charset="-122"/>
                <a:cs typeface="Courier New" pitchFamily="34" charset="-120"/>
              </a:rPr>
              <a:t>-- 9. UPDATE - Designation change</a:t>
            </a:r>
            <a:r>
              <a:rPr lang="en-US" sz="1100" dirty="0">
                <a:solidFill>
                  <a:srgbClr val="2C3E50"/>
                </a:solidFill>
                <a:latin typeface="Courier New" pitchFamily="34" charset="0"/>
                <a:ea typeface="Courier New" pitchFamily="34" charset="-122"/>
                <a:cs typeface="Courier New" pitchFamily="34" charset="-120"/>
              </a:rPr>
              <a:t>
UPDATE EMPLOYEES 
SET Designation = 'Senior Manager' 
WHERE Designation = 'Manager' AND Salary &gt; 80000;
</a:t>
            </a:r>
            <a:r>
              <a:rPr lang="en-US" sz="1100" b="1" dirty="0">
                <a:solidFill>
                  <a:srgbClr val="2C3E50"/>
                </a:solidFill>
                <a:latin typeface="Courier New" pitchFamily="34" charset="0"/>
                <a:ea typeface="Courier New" pitchFamily="34" charset="-122"/>
                <a:cs typeface="Courier New" pitchFamily="34" charset="-120"/>
              </a:rPr>
              <a:t>-- 10. DELETE - Remove low salary</a:t>
            </a:r>
            <a:r>
              <a:rPr lang="en-US" sz="1100" dirty="0">
                <a:solidFill>
                  <a:srgbClr val="2C3E50"/>
                </a:solidFill>
                <a:latin typeface="Courier New" pitchFamily="34" charset="0"/>
                <a:ea typeface="Courier New" pitchFamily="34" charset="-122"/>
                <a:cs typeface="Courier New" pitchFamily="34" charset="-120"/>
              </a:rPr>
              <a:t>
DELETE FROM EMPLOYEES 
WHERE Salary &lt; 50000;
</a:t>
            </a:r>
            <a:endParaRPr lang="en-US" sz="1100" dirty="0"/>
          </a:p>
        </p:txBody>
      </p:sp>
    </p:spTree>
    <p:extLst>
      <p:ext uri="{BB962C8B-B14F-4D97-AF65-F5344CB8AC3E}">
        <p14:creationId xmlns:p14="http://schemas.microsoft.com/office/powerpoint/2010/main" val="3283915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498DB"/>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3: Library Management System</a:t>
            </a:r>
            <a:endParaRPr lang="en-US" sz="2600" dirty="0"/>
          </a:p>
        </p:txBody>
      </p:sp>
      <p:sp>
        <p:nvSpPr>
          <p:cNvPr id="4" name="Text 2"/>
          <p:cNvSpPr/>
          <p:nvPr/>
        </p:nvSpPr>
        <p:spPr>
          <a:xfrm>
            <a:off x="457200" y="763876"/>
            <a:ext cx="8229600" cy="4114800"/>
          </a:xfrm>
          <a:prstGeom prst="rect">
            <a:avLst/>
          </a:prstGeom>
          <a:noFill/>
          <a:ln/>
        </p:spPr>
        <p:txBody>
          <a:bodyPr wrap="square" rtlCol="0" anchor="ctr"/>
          <a:lstStyle/>
          <a:p>
            <a:pPr marL="0" indent="0" algn="l">
              <a:buNone/>
            </a:pPr>
            <a:endParaRPr lang="en-US" sz="1200" dirty="0"/>
          </a:p>
          <a:p>
            <a:pPr marL="0" indent="0" algn="l">
              <a:buNone/>
            </a:pPr>
            <a:r>
              <a:rPr lang="en-US" sz="1200" b="1" dirty="0">
                <a:solidFill>
                  <a:srgbClr val="34495E"/>
                </a:solidFill>
              </a:rPr>
              <a:t>CONTEXT: </a:t>
            </a:r>
            <a:r>
              <a:rPr lang="en-US" sz="1200" dirty="0">
                <a:solidFill>
                  <a:srgbClr val="34495E"/>
                </a:solidFill>
              </a:rPr>
              <a:t>College library needs to track books, members, and issue/return </a:t>
            </a:r>
            <a:r>
              <a:rPr lang="en-US" sz="1200" dirty="0"/>
              <a:t> </a:t>
            </a:r>
            <a:r>
              <a:rPr lang="en-US" sz="1200" dirty="0">
                <a:solidFill>
                  <a:srgbClr val="34495E"/>
                </a:solidFill>
              </a:rPr>
              <a:t>records. Design and implement:</a:t>
            </a:r>
            <a:endParaRPr lang="en-US" sz="1200" dirty="0"/>
          </a:p>
          <a:p>
            <a:pPr marL="0" indent="0" algn="l">
              <a:buNone/>
            </a:pPr>
            <a:endParaRPr lang="en-US" sz="1200" dirty="0"/>
          </a:p>
          <a:p>
            <a:pPr marL="0" indent="0" algn="l">
              <a:buNone/>
            </a:pPr>
            <a:r>
              <a:rPr lang="en-US" sz="1200" b="1" dirty="0">
                <a:solidFill>
                  <a:srgbClr val="34495E"/>
                </a:solidFill>
              </a:rPr>
              <a:t>QUESTIONS:</a:t>
            </a:r>
            <a:endParaRPr lang="en-US" sz="1200" b="1" dirty="0"/>
          </a:p>
          <a:p>
            <a:pPr marL="0" indent="0" algn="l">
              <a:buNone/>
            </a:pPr>
            <a:r>
              <a:rPr lang="en-US" sz="1200" dirty="0">
                <a:solidFill>
                  <a:srgbClr val="34495E"/>
                </a:solidFill>
              </a:rPr>
              <a:t>1. Create BOOKS table with BookID, Title, Author, ISBN, PublicationYear, </a:t>
            </a:r>
            <a:r>
              <a:rPr lang="en-US" sz="1200" dirty="0" err="1">
                <a:solidFill>
                  <a:srgbClr val="34495E"/>
                </a:solidFill>
              </a:rPr>
              <a:t>AvailableQuantity</a:t>
            </a:r>
            <a:r>
              <a:rPr lang="en-US" sz="1200" dirty="0">
                <a:solidFill>
                  <a:srgbClr val="34495E"/>
                </a:solidFill>
              </a:rPr>
              <a:t>. BookID auto-increment primary key, ISBN unique.</a:t>
            </a:r>
            <a:endParaRPr lang="en-US" sz="1200" dirty="0"/>
          </a:p>
          <a:p>
            <a:pPr marL="0" indent="0" algn="l">
              <a:buNone/>
            </a:pPr>
            <a:endParaRPr lang="en-US" sz="1200" dirty="0"/>
          </a:p>
          <a:p>
            <a:pPr marL="0" indent="0" algn="l">
              <a:buNone/>
            </a:pPr>
            <a:r>
              <a:rPr lang="en-US" sz="1200" dirty="0">
                <a:solidFill>
                  <a:srgbClr val="34495E"/>
                </a:solidFill>
              </a:rPr>
              <a:t>2. Create MEMBERS table with MemberID, Name, Email, MembershipDate, Category (Student/Faculty).</a:t>
            </a:r>
            <a:endParaRPr lang="en-US" sz="1200" dirty="0"/>
          </a:p>
          <a:p>
            <a:pPr marL="0" indent="0" algn="l">
              <a:buNone/>
            </a:pPr>
            <a:endParaRPr lang="en-US" sz="1200" dirty="0"/>
          </a:p>
          <a:p>
            <a:pPr marL="0" indent="0" algn="l">
              <a:buNone/>
            </a:pPr>
            <a:r>
              <a:rPr lang="en-US" sz="1200" dirty="0">
                <a:solidFill>
                  <a:srgbClr val="34495E"/>
                </a:solidFill>
              </a:rPr>
              <a:t>3. Create ISSUE_RECORDS table tracking book issues with IssueID, MemberID, </a:t>
            </a:r>
            <a:r>
              <a:rPr lang="en-US" sz="1200" dirty="0" err="1">
                <a:solidFill>
                  <a:srgbClr val="34495E"/>
                </a:solidFill>
              </a:rPr>
              <a:t>BookID</a:t>
            </a:r>
            <a:r>
              <a:rPr lang="en-US" sz="1200" dirty="0">
                <a:solidFill>
                  <a:srgbClr val="34495E"/>
                </a:solidFill>
              </a:rPr>
              <a:t>, IssueDate, ReturnDate.</a:t>
            </a:r>
            <a:endParaRPr lang="en-US" sz="1200" dirty="0"/>
          </a:p>
          <a:p>
            <a:pPr marL="0" indent="0" algn="l">
              <a:buNone/>
            </a:pPr>
            <a:endParaRPr lang="en-US" sz="1200" dirty="0"/>
          </a:p>
          <a:p>
            <a:pPr marL="0" indent="0" algn="l">
              <a:buNone/>
            </a:pPr>
            <a:r>
              <a:rPr lang="en-US" sz="1200" dirty="0">
                <a:solidFill>
                  <a:srgbClr val="34495E"/>
                </a:solidFill>
              </a:rPr>
              <a:t>4. Insert 5 books with different quantities.</a:t>
            </a:r>
            <a:endParaRPr lang="en-US" sz="1200" dirty="0"/>
          </a:p>
          <a:p>
            <a:pPr marL="0" indent="0" algn="l">
              <a:buNone/>
            </a:pPr>
            <a:endParaRPr lang="en-US" sz="1200" dirty="0"/>
          </a:p>
          <a:p>
            <a:pPr marL="0" indent="0" algn="l">
              <a:buNone/>
            </a:pPr>
            <a:r>
              <a:rPr lang="en-US" sz="1200" dirty="0">
                <a:solidFill>
                  <a:srgbClr val="34495E"/>
                </a:solidFill>
              </a:rPr>
              <a:t>5. Insert 5 library members (3 Students, 2 Faculty).</a:t>
            </a:r>
            <a:endParaRPr lang="en-US" sz="1200" dirty="0"/>
          </a:p>
          <a:p>
            <a:pPr marL="0" indent="0" algn="l">
              <a:buNone/>
            </a:pPr>
            <a:endParaRPr lang="en-US" sz="1200" dirty="0"/>
          </a:p>
          <a:p>
            <a:pPr marL="0" indent="0" algn="l">
              <a:buNone/>
            </a:pPr>
            <a:r>
              <a:rPr lang="en-US" sz="1200" dirty="0">
                <a:solidFill>
                  <a:srgbClr val="34495E"/>
                </a:solidFill>
              </a:rPr>
              <a:t>6. Issue 3 books to different members (set ReturnDate as NULL initially).</a:t>
            </a:r>
            <a:endParaRPr lang="en-US" sz="1200" dirty="0"/>
          </a:p>
          <a:p>
            <a:pPr marL="0" indent="0" algn="l">
              <a:buNone/>
            </a:pPr>
            <a:endParaRPr lang="en-US" sz="1200" dirty="0"/>
          </a:p>
          <a:p>
            <a:pPr marL="0" indent="0" algn="l">
              <a:buNone/>
            </a:pPr>
            <a:r>
              <a:rPr lang="en-US" sz="1200" dirty="0">
                <a:solidFill>
                  <a:srgbClr val="34495E"/>
                </a:solidFill>
              </a:rPr>
              <a:t>7. Retrieve all books with quantity &gt; 5.</a:t>
            </a:r>
            <a:endParaRPr lang="en-US" sz="1200" dirty="0"/>
          </a:p>
          <a:p>
            <a:pPr marL="0" indent="0" algn="l">
              <a:buNone/>
            </a:pPr>
            <a:endParaRPr lang="en-US" sz="1200" dirty="0"/>
          </a:p>
          <a:p>
            <a:pPr marL="0" indent="0" algn="l">
              <a:buNone/>
            </a:pPr>
            <a:r>
              <a:rPr lang="en-US" sz="1200" dirty="0">
                <a:solidFill>
                  <a:srgbClr val="34495E"/>
                </a:solidFill>
              </a:rPr>
              <a:t>8. Find all books issued by member ID 1 that haven't been returned yet.</a:t>
            </a:r>
            <a:endParaRPr lang="en-US" sz="1200" dirty="0"/>
          </a:p>
          <a:p>
            <a:pPr marL="0" indent="0" algn="l">
              <a:buNone/>
            </a:pPr>
            <a:endParaRPr lang="en-US" sz="1200" dirty="0"/>
          </a:p>
          <a:p>
            <a:pPr marL="0" indent="0" algn="l">
              <a:buNone/>
            </a:pPr>
            <a:r>
              <a:rPr lang="en-US" sz="1200" dirty="0">
                <a:solidFill>
                  <a:srgbClr val="34495E"/>
                </a:solidFill>
              </a:rPr>
              <a:t>9. Update return date for book issue ID 1 to today's date.</a:t>
            </a:r>
            <a:endParaRPr lang="en-US" sz="1200" dirty="0"/>
          </a:p>
          <a:p>
            <a:pPr marL="0" indent="0" algn="l">
              <a:buNone/>
            </a:pPr>
            <a:endParaRPr lang="en-US" sz="1200" dirty="0"/>
          </a:p>
          <a:p>
            <a:pPr marL="0" indent="0" algn="l">
              <a:buNone/>
            </a:pPr>
            <a:r>
              <a:rPr lang="en-US" sz="1200" dirty="0">
                <a:solidFill>
                  <a:srgbClr val="34495E"/>
                </a:solidFill>
              </a:rPr>
              <a:t>10. Find book "Data Structures" and check available quantity.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7">
    <p:bg>
      <p:bgPr>
        <a:solidFill>
          <a:srgbClr val="ECF0F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7AE60"/>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3: Library Management - Solutions</a:t>
            </a:r>
            <a:endParaRPr lang="en-US" sz="2600" dirty="0"/>
          </a:p>
        </p:txBody>
      </p:sp>
      <p:sp>
        <p:nvSpPr>
          <p:cNvPr id="4" name="Shape 2"/>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p:cNvSpPr/>
          <p:nvPr/>
        </p:nvSpPr>
        <p:spPr>
          <a:xfrm>
            <a:off x="457200" y="998806"/>
            <a:ext cx="8229600" cy="3931920"/>
          </a:xfrm>
          <a:prstGeom prst="rect">
            <a:avLst/>
          </a:prstGeom>
          <a:noFill/>
          <a:ln/>
        </p:spPr>
        <p:txBody>
          <a:bodyPr wrap="square" rtlCol="0" anchor="ctr"/>
          <a:lstStyle/>
          <a:p>
            <a:pPr marL="0" indent="0" algn="l">
              <a:buNone/>
            </a:pPr>
            <a:r>
              <a:rPr lang="en-US" sz="900" dirty="0">
                <a:solidFill>
                  <a:srgbClr val="2C3E50"/>
                </a:solidFill>
                <a:latin typeface="Courier New" pitchFamily="34" charset="0"/>
                <a:ea typeface="Courier New" pitchFamily="34" charset="-122"/>
                <a:cs typeface="Courier New" pitchFamily="34" charset="-120"/>
              </a:rPr>
              <a:t>
</a:t>
            </a:r>
            <a:r>
              <a:rPr lang="en-US" sz="900" b="1" dirty="0">
                <a:solidFill>
                  <a:srgbClr val="2C3E50"/>
                </a:solidFill>
                <a:latin typeface="Courier New" pitchFamily="34" charset="0"/>
                <a:ea typeface="Courier New" pitchFamily="34" charset="-122"/>
                <a:cs typeface="Courier New" pitchFamily="34" charset="-120"/>
              </a:rPr>
              <a:t>-- 1. CREATE BOOKS TABLE</a:t>
            </a:r>
            <a:r>
              <a:rPr lang="en-US" sz="900" dirty="0">
                <a:solidFill>
                  <a:srgbClr val="2C3E50"/>
                </a:solidFill>
                <a:latin typeface="Courier New" pitchFamily="34" charset="0"/>
                <a:ea typeface="Courier New" pitchFamily="34" charset="-122"/>
                <a:cs typeface="Courier New" pitchFamily="34" charset="-120"/>
              </a:rPr>
              <a:t>
CREATE TABLE BOOKS (
  BookID INT PRIMARY KEY AUTO_INCREMENT,
  Title VARCHAR(150) NOT NULL,
  Author VARCHAR(100),
  ISBN VARCHAR(20) UNIQUE,
  PublicationYear INT,
  AvailableQuantity INT CHECK (AvailableQuantity &gt;= 0)
);
</a:t>
            </a:r>
            <a:r>
              <a:rPr lang="en-US" sz="900" b="1" dirty="0">
                <a:solidFill>
                  <a:srgbClr val="2C3E50"/>
                </a:solidFill>
                <a:latin typeface="Courier New" pitchFamily="34" charset="0"/>
                <a:ea typeface="Courier New" pitchFamily="34" charset="-122"/>
                <a:cs typeface="Courier New" pitchFamily="34" charset="-120"/>
              </a:rPr>
              <a:t>-- 2. CREATE MEMBERS TABLE</a:t>
            </a:r>
            <a:r>
              <a:rPr lang="en-US" sz="900" dirty="0">
                <a:solidFill>
                  <a:srgbClr val="2C3E50"/>
                </a:solidFill>
                <a:latin typeface="Courier New" pitchFamily="34" charset="0"/>
                <a:ea typeface="Courier New" pitchFamily="34" charset="-122"/>
                <a:cs typeface="Courier New" pitchFamily="34" charset="-120"/>
              </a:rPr>
              <a:t>
CREATE TABLE MEMBERS (
  MemberID INT PRIMARY KEY AUTO_INCREMENT,
  Name VARCHAR(100) NOT NULL,
  Email VARCHAR(100) UNIQUE,
  MembershipDate DATE,
  Category VARCHAR(20)
);
</a:t>
            </a:r>
            <a:r>
              <a:rPr lang="en-US" sz="900" b="1" dirty="0">
                <a:solidFill>
                  <a:srgbClr val="2C3E50"/>
                </a:solidFill>
                <a:latin typeface="Courier New" pitchFamily="34" charset="0"/>
                <a:ea typeface="Courier New" pitchFamily="34" charset="-122"/>
                <a:cs typeface="Courier New" pitchFamily="34" charset="-120"/>
              </a:rPr>
              <a:t>-- 3. CREATE ISSUE_RECORDS TABLE</a:t>
            </a:r>
            <a:r>
              <a:rPr lang="en-US" sz="900" dirty="0">
                <a:solidFill>
                  <a:srgbClr val="2C3E50"/>
                </a:solidFill>
                <a:latin typeface="Courier New" pitchFamily="34" charset="0"/>
                <a:ea typeface="Courier New" pitchFamily="34" charset="-122"/>
                <a:cs typeface="Courier New" pitchFamily="34" charset="-120"/>
              </a:rPr>
              <a:t>
CREATE TABLE ISSUE_RECORDS (
  IssueID INT PRIMARY KEY AUTO_INCREMENT,
  MemberID INT,
  BookID INT,
  IssueDate DATE NOT NULL,
  ReturnDate DATE,
  FOREIGN KEY (MemberID) REFERENCES MEMBERS(MemberID),
  FOREIGN KEY (BookID) REFERENCES BOOKS(BookID)
);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76999CBE-9735-F824-BBDD-E6BF29ADDD1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9335CF-B476-C30C-A6AD-A634673195E1}"/>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90552EEB-D03A-7596-D787-751AE6C8FB24}"/>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3: Library Management - Solutions</a:t>
            </a:r>
            <a:endParaRPr lang="en-US" sz="2600" dirty="0"/>
          </a:p>
        </p:txBody>
      </p:sp>
      <p:sp>
        <p:nvSpPr>
          <p:cNvPr id="4" name="Shape 2">
            <a:extLst>
              <a:ext uri="{FF2B5EF4-FFF2-40B4-BE49-F238E27FC236}">
                <a16:creationId xmlns:a16="http://schemas.microsoft.com/office/drawing/2014/main" id="{1DCB680F-6DAE-D0B0-A145-64623236A603}"/>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B0A85338-E222-FC76-5699-885F3BA2F035}"/>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-- 4. INSERT BOOKS</a:t>
            </a:r>
            <a:r>
              <a:rPr lang="en-US" sz="1100" dirty="0">
                <a:solidFill>
                  <a:srgbClr val="2C3E50"/>
                </a:solidFill>
                <a:latin typeface="Courier New" pitchFamily="34" charset="0"/>
                <a:ea typeface="Courier New" pitchFamily="34" charset="-122"/>
                <a:cs typeface="Courier New" pitchFamily="34" charset="-120"/>
              </a:rPr>
              <a:t>
INSERT INTO BOOKS (Title, Author, ISBN, PublicationYear, AvailableQuantity) 
VALUES
('Data Structures', 'Mark Allen Weiss', 'ISBN001', 2014, 8),
('DBMS Concepts', 'Abraham Silberschatz', 'ISBN002', 2015, 5),
('Web Development', 'Jon Duckett', 'ISBN003', 2016, 10),
('Python Programming', 'Guido van Rossum', 'ISBN004', 2018, 6),
('Algorithms', 'Cormen', 'ISBN005', 2009, 3);
</a:t>
            </a:r>
            <a:r>
              <a:rPr lang="en-US" sz="1100" b="1" dirty="0">
                <a:solidFill>
                  <a:srgbClr val="2C3E50"/>
                </a:solidFill>
                <a:latin typeface="Courier New" pitchFamily="34" charset="0"/>
                <a:ea typeface="Courier New" pitchFamily="34" charset="-122"/>
                <a:cs typeface="Courier New" pitchFamily="34" charset="-120"/>
              </a:rPr>
              <a:t>
-- 5. INSERT MEMBERS</a:t>
            </a:r>
            <a:r>
              <a:rPr lang="en-US" sz="1100" dirty="0">
                <a:solidFill>
                  <a:srgbClr val="2C3E50"/>
                </a:solidFill>
                <a:latin typeface="Courier New" pitchFamily="34" charset="0"/>
                <a:ea typeface="Courier New" pitchFamily="34" charset="-122"/>
                <a:cs typeface="Courier New" pitchFamily="34" charset="-120"/>
              </a:rPr>
              <a:t>
INSERT INTO MEMBERS (Name, Email, MembershipDate, Category) VALUES
('Raj Student', 'raj@student.edu', '2022-01-10', 'Student'),
('Priya Student', 'priya@student.edu', '2022-02-15', 'Student'),
('Amit Student', 'amit@student.edu', '2022-03-20', 'Student'),
('Dr. Sharma', 'sharma@faculty.edu', '2020-06-01', 'Faculty'),
('Prof. Patel', 'patel@faculty.edu', '2019-08-15', 'Faculty');
</a:t>
            </a:r>
            <a:r>
              <a:rPr lang="en-US" sz="1100" b="1" dirty="0">
                <a:solidFill>
                  <a:srgbClr val="2C3E50"/>
                </a:solidFill>
                <a:latin typeface="Courier New" pitchFamily="34" charset="0"/>
                <a:ea typeface="Courier New" pitchFamily="34" charset="-122"/>
                <a:cs typeface="Courier New" pitchFamily="34" charset="-120"/>
              </a:rPr>
              <a:t>
-- 6. INSERT ISSUE_RECORDS (Issue books, ReturnDate = NULL)</a:t>
            </a:r>
            <a:r>
              <a:rPr lang="en-US" sz="1100" dirty="0">
                <a:solidFill>
                  <a:srgbClr val="2C3E50"/>
                </a:solidFill>
                <a:latin typeface="Courier New" pitchFamily="34" charset="0"/>
                <a:ea typeface="Courier New" pitchFamily="34" charset="-122"/>
                <a:cs typeface="Courier New" pitchFamily="34" charset="-120"/>
              </a:rPr>
              <a:t>
INSERT INTO ISSUE_RECORDS (MemberID, BookID, IssueDate, ReturnDate) VALUES
(1, 1, '2024-01-10', NULL),
(2, 3, '2024-01-12', NULL),
(3, 2, '2024-01-15', NULL);
</a:t>
            </a:r>
            <a:endParaRPr lang="en-US" sz="1100" dirty="0"/>
          </a:p>
        </p:txBody>
      </p:sp>
    </p:spTree>
    <p:extLst>
      <p:ext uri="{BB962C8B-B14F-4D97-AF65-F5344CB8AC3E}">
        <p14:creationId xmlns:p14="http://schemas.microsoft.com/office/powerpoint/2010/main" val="4261905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F3DA86CC-F745-901C-1CDC-78B58CBCBC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866068-E74B-8FF5-2FEA-EF96B8C8EDB7}"/>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E65CAFF7-82E2-3890-B4A1-E4A596CDF207}"/>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3: Library Management - Solutions</a:t>
            </a:r>
            <a:endParaRPr lang="en-US" sz="2600" dirty="0"/>
          </a:p>
        </p:txBody>
      </p:sp>
      <p:sp>
        <p:nvSpPr>
          <p:cNvPr id="4" name="Shape 2">
            <a:extLst>
              <a:ext uri="{FF2B5EF4-FFF2-40B4-BE49-F238E27FC236}">
                <a16:creationId xmlns:a16="http://schemas.microsoft.com/office/drawing/2014/main" id="{77CA44CC-B775-E80D-6F4E-3319366634CA}"/>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EFD28660-69EF-636E-076A-2E61DBE47D0C}"/>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-- 7. SELECT - Books with quantity &gt; 5</a:t>
            </a:r>
            <a:r>
              <a:rPr lang="en-US" sz="1100" dirty="0">
                <a:solidFill>
                  <a:srgbClr val="2C3E50"/>
                </a:solidFill>
                <a:latin typeface="Courier New" pitchFamily="34" charset="0"/>
                <a:ea typeface="Courier New" pitchFamily="34" charset="-122"/>
                <a:cs typeface="Courier New" pitchFamily="34" charset="-120"/>
              </a:rPr>
              <a:t>
SELECT Title, Author, AvailableQuantity 
FROM BOOKS 
WHERE AvailableQuantity &gt; 5 
ORDER BY AvailableQuantity DESC;
</a:t>
            </a:r>
            <a:r>
              <a:rPr lang="en-US" sz="1100" b="1" dirty="0">
                <a:solidFill>
                  <a:srgbClr val="2C3E50"/>
                </a:solidFill>
                <a:latin typeface="Courier New" pitchFamily="34" charset="0"/>
                <a:ea typeface="Courier New" pitchFamily="34" charset="-122"/>
                <a:cs typeface="Courier New" pitchFamily="34" charset="-120"/>
              </a:rPr>
              <a:t>-- 8. SELECT - Unreturned books for member ID 1</a:t>
            </a:r>
            <a:r>
              <a:rPr lang="en-US" sz="1100" dirty="0">
                <a:solidFill>
                  <a:srgbClr val="2C3E50"/>
                </a:solidFill>
                <a:latin typeface="Courier New" pitchFamily="34" charset="0"/>
                <a:ea typeface="Courier New" pitchFamily="34" charset="-122"/>
                <a:cs typeface="Courier New" pitchFamily="34" charset="-120"/>
              </a:rPr>
              <a:t>
SELECT b.Title, b.Author, ir.IssueDate 
FROM ISSUE_RECORDS ir 
JOIN BOOKS b ON ir.BookID = b.BookID 
WHERE ir.MemberID = 1 AND ir.ReturnDate IS NULL;
</a:t>
            </a:r>
            <a:r>
              <a:rPr lang="en-US" sz="1100" b="1" dirty="0">
                <a:solidFill>
                  <a:srgbClr val="2C3E50"/>
                </a:solidFill>
                <a:latin typeface="Courier New" pitchFamily="34" charset="0"/>
                <a:ea typeface="Courier New" pitchFamily="34" charset="-122"/>
                <a:cs typeface="Courier New" pitchFamily="34" charset="-120"/>
              </a:rPr>
              <a:t>
-- 9. UPDATE - Add return date</a:t>
            </a:r>
            <a:r>
              <a:rPr lang="en-US" sz="1100" dirty="0">
                <a:solidFill>
                  <a:srgbClr val="2C3E50"/>
                </a:solidFill>
                <a:latin typeface="Courier New" pitchFamily="34" charset="0"/>
                <a:ea typeface="Courier New" pitchFamily="34" charset="-122"/>
                <a:cs typeface="Courier New" pitchFamily="34" charset="-120"/>
              </a:rPr>
              <a:t>
UPDATE ISSUE_RECORDS 
SET ReturnDate = CURDATE() 
WHERE IssueID = 1;
</a:t>
            </a:r>
            <a:r>
              <a:rPr lang="en-US" sz="1100" b="1" dirty="0">
                <a:solidFill>
                  <a:srgbClr val="2C3E50"/>
                </a:solidFill>
                <a:latin typeface="Courier New" pitchFamily="34" charset="0"/>
                <a:ea typeface="Courier New" pitchFamily="34" charset="-122"/>
                <a:cs typeface="Courier New" pitchFamily="34" charset="-120"/>
              </a:rPr>
              <a:t>-- 10. SELECT - Find specific book and quantity</a:t>
            </a:r>
            <a:r>
              <a:rPr lang="en-US" sz="1100" dirty="0">
                <a:solidFill>
                  <a:srgbClr val="2C3E50"/>
                </a:solidFill>
                <a:latin typeface="Courier New" pitchFamily="34" charset="0"/>
                <a:ea typeface="Courier New" pitchFamily="34" charset="-122"/>
                <a:cs typeface="Courier New" pitchFamily="34" charset="-120"/>
              </a:rPr>
              <a:t>
SELECT BookID, Title, Author, AvailableQuantity 
FROM BOOKS 
WHERE Title = 'Data Structures';
</a:t>
            </a:r>
            <a:endParaRPr lang="en-US" sz="1100" dirty="0"/>
          </a:p>
        </p:txBody>
      </p:sp>
    </p:spTree>
    <p:extLst>
      <p:ext uri="{BB962C8B-B14F-4D97-AF65-F5344CB8AC3E}">
        <p14:creationId xmlns:p14="http://schemas.microsoft.com/office/powerpoint/2010/main" val="2541859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498DB"/>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4: E-Commerce Product &amp; Order System</a:t>
            </a:r>
            <a:endParaRPr lang="en-US" sz="2600" dirty="0"/>
          </a:p>
        </p:txBody>
      </p:sp>
      <p:sp>
        <p:nvSpPr>
          <p:cNvPr id="4" name="Text 2"/>
          <p:cNvSpPr/>
          <p:nvPr/>
        </p:nvSpPr>
        <p:spPr>
          <a:xfrm>
            <a:off x="365760" y="697758"/>
            <a:ext cx="8229600" cy="4114800"/>
          </a:xfrm>
          <a:prstGeom prst="rect">
            <a:avLst/>
          </a:prstGeom>
          <a:noFill/>
          <a:ln/>
        </p:spPr>
        <p:txBody>
          <a:bodyPr wrap="square" rtlCol="0" anchor="ctr"/>
          <a:lstStyle/>
          <a:p>
            <a:pPr marL="0" indent="0" algn="l">
              <a:buNone/>
            </a:pPr>
            <a:endParaRPr lang="en-US" sz="1050" dirty="0"/>
          </a:p>
          <a:p>
            <a:pPr marL="0" indent="0" algn="l">
              <a:buNone/>
            </a:pPr>
            <a:r>
              <a:rPr lang="en-US" sz="1050" b="1" dirty="0">
                <a:solidFill>
                  <a:srgbClr val="34495E"/>
                </a:solidFill>
              </a:rPr>
              <a:t>CONTEXT: </a:t>
            </a:r>
            <a:r>
              <a:rPr lang="en-US" sz="1050" dirty="0">
                <a:solidFill>
                  <a:srgbClr val="34495E"/>
                </a:solidFill>
              </a:rPr>
              <a:t>Online shopping platform needs to manage products, customers, and orders. Implement:</a:t>
            </a:r>
            <a:endParaRPr lang="en-US" sz="1050" dirty="0"/>
          </a:p>
          <a:p>
            <a:pPr marL="0" indent="0" algn="l">
              <a:buNone/>
            </a:pPr>
            <a:endParaRPr lang="en-US" sz="1050" b="1" dirty="0"/>
          </a:p>
          <a:p>
            <a:pPr marL="0" indent="0" algn="l">
              <a:buNone/>
            </a:pPr>
            <a:r>
              <a:rPr lang="en-US" sz="1050" b="1" dirty="0">
                <a:solidFill>
                  <a:srgbClr val="34495E"/>
                </a:solidFill>
              </a:rPr>
              <a:t>QUESTIONS:</a:t>
            </a:r>
            <a:endParaRPr lang="en-US" sz="1050" b="1" dirty="0"/>
          </a:p>
          <a:p>
            <a:pPr marL="0" indent="0" algn="l">
              <a:buNone/>
            </a:pPr>
            <a:r>
              <a:rPr lang="en-US" sz="1050" dirty="0">
                <a:solidFill>
                  <a:srgbClr val="34495E"/>
                </a:solidFill>
              </a:rPr>
              <a:t>1. Create PRODUCTS table with ProductID, ProductName, Category, Price,  Stock, Description. Ensure Price &gt; 0 and Stock &gt;= 0.</a:t>
            </a:r>
            <a:endParaRPr lang="en-US" sz="1050" dirty="0"/>
          </a:p>
          <a:p>
            <a:pPr marL="0" indent="0" algn="l">
              <a:buNone/>
            </a:pPr>
            <a:endParaRPr lang="en-US" sz="1050" dirty="0"/>
          </a:p>
          <a:p>
            <a:pPr marL="0" indent="0" algn="l">
              <a:buNone/>
            </a:pPr>
            <a:r>
              <a:rPr lang="en-US" sz="1050" dirty="0">
                <a:solidFill>
                  <a:srgbClr val="34495E"/>
                </a:solidFill>
              </a:rPr>
              <a:t>2. Create CUSTOMERS table with CustomerID, Name, Email, Phone, Address, </a:t>
            </a:r>
            <a:r>
              <a:rPr lang="en-US" sz="1050" dirty="0" err="1">
                <a:solidFill>
                  <a:srgbClr val="34495E"/>
                </a:solidFill>
              </a:rPr>
              <a:t>RegisterDate</a:t>
            </a:r>
            <a:r>
              <a:rPr lang="en-US" sz="1050" dirty="0">
                <a:solidFill>
                  <a:srgbClr val="34495E"/>
                </a:solidFill>
              </a:rPr>
              <a:t>.</a:t>
            </a:r>
            <a:endParaRPr lang="en-US" sz="1050" dirty="0"/>
          </a:p>
          <a:p>
            <a:pPr marL="0" indent="0" algn="l">
              <a:buNone/>
            </a:pPr>
            <a:endParaRPr lang="en-US" sz="1050" dirty="0"/>
          </a:p>
          <a:p>
            <a:pPr marL="0" indent="0" algn="l">
              <a:buNone/>
            </a:pPr>
            <a:r>
              <a:rPr lang="en-US" sz="1050" dirty="0">
                <a:solidFill>
                  <a:srgbClr val="34495E"/>
                </a:solidFill>
              </a:rPr>
              <a:t>3. Create ORDERS table with OrderID, CustomerID, OrderDate, TotalAmount, Status (Pending/Completed/Cancelled).</a:t>
            </a:r>
            <a:endParaRPr lang="en-US" sz="1050" dirty="0"/>
          </a:p>
          <a:p>
            <a:pPr marL="0" indent="0" algn="l">
              <a:buNone/>
            </a:pPr>
            <a:endParaRPr lang="en-US" sz="1050" dirty="0"/>
          </a:p>
          <a:p>
            <a:pPr marL="0" indent="0" algn="l">
              <a:buNone/>
            </a:pPr>
            <a:r>
              <a:rPr lang="en-US" sz="1050" dirty="0">
                <a:solidFill>
                  <a:srgbClr val="34495E"/>
                </a:solidFill>
              </a:rPr>
              <a:t>4. Insert 6 products (Electronics, Clothing, Books categories).</a:t>
            </a:r>
            <a:endParaRPr lang="en-US" sz="1050" dirty="0"/>
          </a:p>
          <a:p>
            <a:pPr marL="0" indent="0" algn="l">
              <a:buNone/>
            </a:pPr>
            <a:endParaRPr lang="en-US" sz="1050" dirty="0"/>
          </a:p>
          <a:p>
            <a:pPr marL="0" indent="0" algn="l">
              <a:buNone/>
            </a:pPr>
            <a:r>
              <a:rPr lang="en-US" sz="1050" dirty="0">
                <a:solidFill>
                  <a:srgbClr val="34495E"/>
                </a:solidFill>
              </a:rPr>
              <a:t>5. Insert 5 customers with registration dates.</a:t>
            </a:r>
            <a:endParaRPr lang="en-US" sz="1050" dirty="0"/>
          </a:p>
          <a:p>
            <a:pPr marL="0" indent="0" algn="l">
              <a:buNone/>
            </a:pPr>
            <a:endParaRPr lang="en-US" sz="1050" dirty="0"/>
          </a:p>
          <a:p>
            <a:pPr marL="0" indent="0" algn="l">
              <a:buNone/>
            </a:pPr>
            <a:r>
              <a:rPr lang="en-US" sz="1050" dirty="0">
                <a:solidFill>
                  <a:srgbClr val="34495E"/>
                </a:solidFill>
              </a:rPr>
              <a:t>6. Create sample 4 orders from customers.</a:t>
            </a:r>
            <a:endParaRPr lang="en-US" sz="1050" dirty="0"/>
          </a:p>
          <a:p>
            <a:pPr marL="0" indent="0" algn="l">
              <a:buNone/>
            </a:pPr>
            <a:endParaRPr lang="en-US" sz="1050" dirty="0"/>
          </a:p>
          <a:p>
            <a:pPr marL="0" indent="0" algn="l">
              <a:buNone/>
            </a:pPr>
            <a:r>
              <a:rPr lang="en-US" sz="1050" dirty="0">
                <a:solidFill>
                  <a:srgbClr val="34495E"/>
                </a:solidFill>
              </a:rPr>
              <a:t>7. Retrieve all products in 'Electronics' category with price &lt; 30000.</a:t>
            </a:r>
            <a:endParaRPr lang="en-US" sz="1050" dirty="0"/>
          </a:p>
          <a:p>
            <a:pPr marL="0" indent="0" algn="l">
              <a:buNone/>
            </a:pPr>
            <a:endParaRPr lang="en-US" sz="1050" dirty="0"/>
          </a:p>
          <a:p>
            <a:pPr marL="0" indent="0" algn="l">
              <a:buNone/>
            </a:pPr>
            <a:r>
              <a:rPr lang="en-US" sz="1050" dirty="0">
                <a:solidFill>
                  <a:srgbClr val="34495E"/>
                </a:solidFill>
              </a:rPr>
              <a:t>8. Find all pending orders and their customer details.</a:t>
            </a:r>
            <a:endParaRPr lang="en-US" sz="1050" dirty="0"/>
          </a:p>
          <a:p>
            <a:pPr marL="0" indent="0" algn="l">
              <a:buNone/>
            </a:pPr>
            <a:endParaRPr lang="en-US" sz="1050" dirty="0"/>
          </a:p>
          <a:p>
            <a:pPr marL="0" indent="0" algn="l">
              <a:buNone/>
            </a:pPr>
            <a:r>
              <a:rPr lang="en-US" sz="1050" dirty="0">
                <a:solidFill>
                  <a:srgbClr val="34495E"/>
                </a:solidFill>
              </a:rPr>
              <a:t>9. Update product stock after order (decrease stock of ProductID 1 by 5).</a:t>
            </a:r>
            <a:endParaRPr lang="en-US" sz="1050" dirty="0"/>
          </a:p>
          <a:p>
            <a:pPr marL="0" indent="0" algn="l">
              <a:buNone/>
            </a:pPr>
            <a:endParaRPr lang="en-US" sz="1050" dirty="0"/>
          </a:p>
          <a:p>
            <a:pPr marL="0" indent="0" algn="l">
              <a:buNone/>
            </a:pPr>
            <a:r>
              <a:rPr lang="en-US" sz="1050" dirty="0">
                <a:solidFill>
                  <a:srgbClr val="34495E"/>
                </a:solidFill>
              </a:rPr>
              <a:t>10. Calculate total sales for each customer.</a:t>
            </a:r>
            <a:endParaRPr lang="en-US" sz="1050" dirty="0"/>
          </a:p>
          <a:p>
            <a:pPr marL="0" indent="0" algn="l">
              <a:buNone/>
            </a:pPr>
            <a:endParaRPr lang="en-US" sz="1050" dirty="0"/>
          </a:p>
          <a:p>
            <a:pPr marL="0" indent="0" algn="l">
              <a:buNone/>
            </a:pPr>
            <a:r>
              <a:rPr lang="en-US" sz="1050" dirty="0">
                <a:solidFill>
                  <a:srgbClr val="34495E"/>
                </a:solidFill>
              </a:rPr>
              <a:t>11. Find most expensive product sold.</a:t>
            </a:r>
            <a:endParaRPr lang="en-US" sz="1050" dirty="0"/>
          </a:p>
          <a:p>
            <a:pPr marL="0" indent="0" algn="l">
              <a:buNone/>
            </a:pPr>
            <a:endParaRPr lang="en-US" sz="1050" dirty="0"/>
          </a:p>
          <a:p>
            <a:pPr marL="0" indent="0" algn="l">
              <a:buNone/>
            </a:pPr>
            <a:r>
              <a:rPr lang="en-US" sz="1050" dirty="0">
                <a:solidFill>
                  <a:srgbClr val="34495E"/>
                </a:solidFill>
              </a:rPr>
              <a:t>12. Cancel an order by changing status to 'Cancelled'.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9">
    <p:bg>
      <p:bgPr>
        <a:solidFill>
          <a:srgbClr val="ECF0F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7AE60"/>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4: E-Commerce System - Solutions</a:t>
            </a:r>
            <a:endParaRPr lang="en-US" sz="2600" dirty="0"/>
          </a:p>
        </p:txBody>
      </p:sp>
      <p:sp>
        <p:nvSpPr>
          <p:cNvPr id="4" name="Shape 2"/>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p:cNvSpPr/>
          <p:nvPr/>
        </p:nvSpPr>
        <p:spPr>
          <a:xfrm>
            <a:off x="457200" y="914400"/>
            <a:ext cx="8229600" cy="3931920"/>
          </a:xfrm>
          <a:prstGeom prst="rect">
            <a:avLst/>
          </a:prstGeom>
          <a:noFill/>
          <a:ln/>
        </p:spPr>
        <p:txBody>
          <a:bodyPr wrap="square" rtlCol="0" anchor="ctr"/>
          <a:lstStyle/>
          <a:p>
            <a:pPr marL="0" indent="0" algn="l">
              <a:buNone/>
            </a:pPr>
            <a:r>
              <a:rPr lang="en-US" sz="800" b="1" dirty="0">
                <a:solidFill>
                  <a:srgbClr val="2C3E50"/>
                </a:solidFill>
                <a:latin typeface="Courier New" pitchFamily="34" charset="0"/>
                <a:ea typeface="Courier New" pitchFamily="34" charset="-122"/>
                <a:cs typeface="Courier New" pitchFamily="34" charset="-120"/>
              </a:rPr>
              <a:t>
-- 1. CREATE PRODUCTS TABLE</a:t>
            </a:r>
            <a:r>
              <a:rPr lang="en-US" sz="800" dirty="0">
                <a:solidFill>
                  <a:srgbClr val="2C3E50"/>
                </a:solidFill>
                <a:latin typeface="Courier New" pitchFamily="34" charset="0"/>
                <a:ea typeface="Courier New" pitchFamily="34" charset="-122"/>
                <a:cs typeface="Courier New" pitchFamily="34" charset="-120"/>
              </a:rPr>
              <a:t>
CREATE TABLE PRODUCTS (
  ProductID INT PRIMARY KEY AUTO_INCREMENT,
  ProductName VARCHAR(150) NOT NULL,
  Category VARCHAR(50),
  Price DECIMAL(10,2),
  Stock INT,
  Description VARCHAR(500),
  CHECK (Price &gt; 0 AND Stock &gt;= 0)
);
</a:t>
            </a:r>
            <a:r>
              <a:rPr lang="en-US" sz="800" b="1" dirty="0">
                <a:solidFill>
                  <a:srgbClr val="2C3E50"/>
                </a:solidFill>
                <a:latin typeface="Courier New" pitchFamily="34" charset="0"/>
                <a:ea typeface="Courier New" pitchFamily="34" charset="-122"/>
                <a:cs typeface="Courier New" pitchFamily="34" charset="-120"/>
              </a:rPr>
              <a:t>-- 2. CREATE CUSTOMERS TABLE</a:t>
            </a:r>
            <a:r>
              <a:rPr lang="en-US" sz="800" dirty="0">
                <a:solidFill>
                  <a:srgbClr val="2C3E50"/>
                </a:solidFill>
                <a:latin typeface="Courier New" pitchFamily="34" charset="0"/>
                <a:ea typeface="Courier New" pitchFamily="34" charset="-122"/>
                <a:cs typeface="Courier New" pitchFamily="34" charset="-120"/>
              </a:rPr>
              <a:t>
CREATE TABLE CUSTOMERS (
  CustomerID INT PRIMARY KEY AUTO_INCREMENT,
  Name VARCHAR(100) NOT NULL,
  Email VARCHAR(100) UNIQUE,
  Phone VARCHAR(10),
  Address VARCHAR(250),
  RegisterDate DATE DEFAULT CURDATE()
);
</a:t>
            </a:r>
            <a:r>
              <a:rPr lang="en-US" sz="800" b="1" dirty="0">
                <a:solidFill>
                  <a:srgbClr val="2C3E50"/>
                </a:solidFill>
                <a:latin typeface="Courier New" pitchFamily="34" charset="0"/>
                <a:ea typeface="Courier New" pitchFamily="34" charset="-122"/>
                <a:cs typeface="Courier New" pitchFamily="34" charset="-120"/>
              </a:rPr>
              <a:t>-- 3. CREATE ORDERS TABLE</a:t>
            </a:r>
            <a:r>
              <a:rPr lang="en-US" sz="800" dirty="0">
                <a:solidFill>
                  <a:srgbClr val="2C3E50"/>
                </a:solidFill>
                <a:latin typeface="Courier New" pitchFamily="34" charset="0"/>
                <a:ea typeface="Courier New" pitchFamily="34" charset="-122"/>
                <a:cs typeface="Courier New" pitchFamily="34" charset="-120"/>
              </a:rPr>
              <a:t>
CREATE TABLE ORDERS (
  OrderID INT PRIMARY KEY AUTO_INCREMENT,
  CustomerID INT,
  OrderDate DATE NOT NULL,
  TotalAmount DECIMAL(10,2),
  Status VARCHAR(20) DEFAULT 'Pending',
  FOREIGN KEY (CustomerID) REFERENCES CUSTOMERS(CustomerID)
);
</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80DA8229-5B22-5869-7F9E-FE539A406A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B3BBE9C-BC4C-19E2-6800-53742BEFDCD8}"/>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A422B90B-44F4-DD88-8744-68836BE2182E}"/>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4: E-Commerce System - Solutions</a:t>
            </a:r>
            <a:endParaRPr lang="en-US" sz="2600" dirty="0"/>
          </a:p>
        </p:txBody>
      </p:sp>
      <p:sp>
        <p:nvSpPr>
          <p:cNvPr id="4" name="Shape 2">
            <a:extLst>
              <a:ext uri="{FF2B5EF4-FFF2-40B4-BE49-F238E27FC236}">
                <a16:creationId xmlns:a16="http://schemas.microsoft.com/office/drawing/2014/main" id="{32F0D2BD-A527-CEA7-77D2-C3AD5460CCF8}"/>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4E5C5E70-785F-D75F-E503-1C9C3405572C}"/>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-- 4. INSERT PRODUCTS</a:t>
            </a:r>
            <a:r>
              <a:rPr lang="en-US" sz="1100" dirty="0">
                <a:solidFill>
                  <a:srgbClr val="2C3E50"/>
                </a:solidFill>
                <a:latin typeface="Courier New" pitchFamily="34" charset="0"/>
                <a:ea typeface="Courier New" pitchFamily="34" charset="-122"/>
                <a:cs typeface="Courier New" pitchFamily="34" charset="-120"/>
              </a:rPr>
              <a:t>
INSERT INTO PRODUCTS (ProductName, Category, Price, Stock, Description) VALUES
('Laptop Dell', 'Electronics', 45000, 10, '15 inch FHD'),
('iPhone 13', 'Electronics', 55000, 5, 'Latest model'),
('T-Shirt Cotton', 'Clothing', 500, 100, 'Premium quality'),
('Jeans Blue', 'Clothing', 1500, 50, 'Comfortable fit'),
('Java Programming', 'Books', 450, 30, 'Learn Java'),
('Python Guide', 'Books', 350, 25, 'Complete guide');
</a:t>
            </a:r>
            <a:r>
              <a:rPr lang="en-US" sz="1100" b="1" dirty="0">
                <a:solidFill>
                  <a:srgbClr val="2C3E50"/>
                </a:solidFill>
                <a:latin typeface="Courier New" pitchFamily="34" charset="0"/>
                <a:ea typeface="Courier New" pitchFamily="34" charset="-122"/>
                <a:cs typeface="Courier New" pitchFamily="34" charset="-120"/>
              </a:rPr>
              <a:t>
-- 5. INSERT CUSTOMERS</a:t>
            </a:r>
            <a:r>
              <a:rPr lang="en-US" sz="1100" dirty="0">
                <a:solidFill>
                  <a:srgbClr val="2C3E50"/>
                </a:solidFill>
                <a:latin typeface="Courier New" pitchFamily="34" charset="0"/>
                <a:ea typeface="Courier New" pitchFamily="34" charset="-122"/>
                <a:cs typeface="Courier New" pitchFamily="34" charset="-120"/>
              </a:rPr>
              <a:t>
INSERT INTO CUSTOMERS (Name, Email, Phone, Address) VALUES
('Raj Kumar', 'raj@gmail.com', '9876543210', '123 Main St'),
('Priya Singh', 'priya@gmail.com', '9876543211', '456 Oak Ave'),
('Amit Patel', 'amit@gmail.com', '9876543212', '789 Pine Rd'),
('Neha Sharma', 'neha@gmail.com', '9876543213', '321 Elm St'),
('Arjun Verma', 'arjun@gmail.com', '9876543214', '654 Maple Dr');
</a:t>
            </a:r>
            <a:r>
              <a:rPr lang="en-US" sz="1100" b="1" dirty="0">
                <a:solidFill>
                  <a:srgbClr val="2C3E50"/>
                </a:solidFill>
                <a:latin typeface="Courier New" pitchFamily="34" charset="0"/>
                <a:ea typeface="Courier New" pitchFamily="34" charset="-122"/>
                <a:cs typeface="Courier New" pitchFamily="34" charset="-120"/>
              </a:rPr>
              <a:t>-- 6. INSERT ORDERS</a:t>
            </a:r>
            <a:r>
              <a:rPr lang="en-US" sz="1100" dirty="0">
                <a:solidFill>
                  <a:srgbClr val="2C3E50"/>
                </a:solidFill>
                <a:latin typeface="Courier New" pitchFamily="34" charset="0"/>
                <a:ea typeface="Courier New" pitchFamily="34" charset="-122"/>
                <a:cs typeface="Courier New" pitchFamily="34" charset="-120"/>
              </a:rPr>
              <a:t>
INSERT INTO ORDERS (CustomerID, OrderDate, TotalAmount, Status) VALUES
(1, '2024-01-10', 45000, 'Completed'),
(2, '2024-01-12', 52000, 'Pending'),
(3, '2024-01-15', 2000, 'Completed'),
(4, '2024-01-18', 1000, 'Pending');
</a:t>
            </a:r>
            <a:endParaRPr lang="en-US" sz="1100" dirty="0"/>
          </a:p>
        </p:txBody>
      </p:sp>
    </p:spTree>
    <p:extLst>
      <p:ext uri="{BB962C8B-B14F-4D97-AF65-F5344CB8AC3E}">
        <p14:creationId xmlns:p14="http://schemas.microsoft.com/office/powerpoint/2010/main" val="4212035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92B0E7C9-908D-9ECD-E35F-900993BBFD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A62D6C-F1D8-BE67-5250-11DA6533E9FC}"/>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F4C84102-852D-C3B9-0FBD-5E326E8B2F01}"/>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4: E-Commerce System - Solutions</a:t>
            </a:r>
            <a:endParaRPr lang="en-US" sz="2600" dirty="0"/>
          </a:p>
        </p:txBody>
      </p:sp>
      <p:sp>
        <p:nvSpPr>
          <p:cNvPr id="4" name="Shape 2">
            <a:extLst>
              <a:ext uri="{FF2B5EF4-FFF2-40B4-BE49-F238E27FC236}">
                <a16:creationId xmlns:a16="http://schemas.microsoft.com/office/drawing/2014/main" id="{D0D0EAEB-6DD0-81C5-C93A-41AC030599EC}"/>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580684BC-EF0C-833F-9120-23DEDD4F1FD9}"/>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-- 7. SELECT - Electronics &lt; 30000</a:t>
            </a:r>
            <a:r>
              <a:rPr lang="en-US" sz="1100" dirty="0">
                <a:solidFill>
                  <a:srgbClr val="2C3E50"/>
                </a:solidFill>
                <a:latin typeface="Courier New" pitchFamily="34" charset="0"/>
                <a:ea typeface="Courier New" pitchFamily="34" charset="-122"/>
                <a:cs typeface="Courier New" pitchFamily="34" charset="-120"/>
              </a:rPr>
              <a:t>
SELECT ProductName, Category, Price, Stock 
FROM PRODUCTS 
WHERE Category = 'Electronics' AND Price &lt; 30000;
</a:t>
            </a:r>
            <a:r>
              <a:rPr lang="en-US" sz="1100" b="1" dirty="0">
                <a:solidFill>
                  <a:srgbClr val="2C3E50"/>
                </a:solidFill>
                <a:latin typeface="Courier New" pitchFamily="34" charset="0"/>
                <a:ea typeface="Courier New" pitchFamily="34" charset="-122"/>
                <a:cs typeface="Courier New" pitchFamily="34" charset="-120"/>
              </a:rPr>
              <a:t>-- 8. SELECT - Pending orders with customers</a:t>
            </a:r>
            <a:r>
              <a:rPr lang="en-US" sz="1100" dirty="0">
                <a:solidFill>
                  <a:srgbClr val="2C3E50"/>
                </a:solidFill>
                <a:latin typeface="Courier New" pitchFamily="34" charset="0"/>
                <a:ea typeface="Courier New" pitchFamily="34" charset="-122"/>
                <a:cs typeface="Courier New" pitchFamily="34" charset="-120"/>
              </a:rPr>
              <a:t>
SELECT o.OrderID, c.Name, c.Email, o.OrderDate, o.TotalAmount 
FROM ORDERS o 
JOIN CUSTOMERS c ON o.CustomerID = c.CustomerID 
WHERE o.Status = 'Pending';
</a:t>
            </a:r>
            <a:r>
              <a:rPr lang="en-US" sz="1100" b="1" dirty="0">
                <a:solidFill>
                  <a:srgbClr val="2C3E50"/>
                </a:solidFill>
                <a:latin typeface="Courier New" pitchFamily="34" charset="0"/>
                <a:ea typeface="Courier New" pitchFamily="34" charset="-122"/>
                <a:cs typeface="Courier New" pitchFamily="34" charset="-120"/>
              </a:rPr>
              <a:t>-- 9. UPDATE - Reduce stock after order</a:t>
            </a:r>
            <a:r>
              <a:rPr lang="en-US" sz="1100" dirty="0">
                <a:solidFill>
                  <a:srgbClr val="2C3E50"/>
                </a:solidFill>
                <a:latin typeface="Courier New" pitchFamily="34" charset="0"/>
                <a:ea typeface="Courier New" pitchFamily="34" charset="-122"/>
                <a:cs typeface="Courier New" pitchFamily="34" charset="-120"/>
              </a:rPr>
              <a:t>
UPDATE PRODUCTS 
SET Stock = Stock - 5 
WHERE ProductID = 1;
</a:t>
            </a:r>
            <a:endParaRPr lang="en-US" sz="1100" dirty="0"/>
          </a:p>
        </p:txBody>
      </p:sp>
    </p:spTree>
    <p:extLst>
      <p:ext uri="{BB962C8B-B14F-4D97-AF65-F5344CB8AC3E}">
        <p14:creationId xmlns:p14="http://schemas.microsoft.com/office/powerpoint/2010/main" val="1986066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912831C5-971E-7025-7C01-28FB474FBD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4CB1B6-C721-AC7E-3B1B-3FD7AE834EC9}"/>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D56FB308-90B5-8A83-8BB2-00CB14631535}"/>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4: E-Commerce System - Solutions</a:t>
            </a:r>
            <a:endParaRPr lang="en-US" sz="2600" dirty="0"/>
          </a:p>
        </p:txBody>
      </p:sp>
      <p:sp>
        <p:nvSpPr>
          <p:cNvPr id="4" name="Shape 2">
            <a:extLst>
              <a:ext uri="{FF2B5EF4-FFF2-40B4-BE49-F238E27FC236}">
                <a16:creationId xmlns:a16="http://schemas.microsoft.com/office/drawing/2014/main" id="{24AB4C0B-B435-A770-3776-399248F9789B}"/>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4399B117-2B96-C75D-9954-4F76F71F2538}"/>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-- 10. SELECT - Total sales per customer</a:t>
            </a:r>
            <a:r>
              <a:rPr lang="en-US" sz="1100" dirty="0">
                <a:solidFill>
                  <a:srgbClr val="2C3E50"/>
                </a:solidFill>
                <a:latin typeface="Courier New" pitchFamily="34" charset="0"/>
                <a:ea typeface="Courier New" pitchFamily="34" charset="-122"/>
                <a:cs typeface="Courier New" pitchFamily="34" charset="-120"/>
              </a:rPr>
              <a:t>
SELECT c.Name, SUM(o.TotalAmount) as TotalSpent 
FROM CUSTOMERS c 
LEFT JOIN ORDERS o ON c.CustomerID = o.CustomerID 
GROUP BY c.CustomerID, c.Name 
ORDER BY TotalSpent DESC;
</a:t>
            </a:r>
            <a:r>
              <a:rPr lang="en-US" sz="1100" b="1" dirty="0">
                <a:solidFill>
                  <a:srgbClr val="2C3E50"/>
                </a:solidFill>
                <a:latin typeface="Courier New" pitchFamily="34" charset="0"/>
                <a:ea typeface="Courier New" pitchFamily="34" charset="-122"/>
                <a:cs typeface="Courier New" pitchFamily="34" charset="-120"/>
              </a:rPr>
              <a:t>-- 11. SELECT - Most expensive product</a:t>
            </a:r>
            <a:r>
              <a:rPr lang="en-US" sz="1100" dirty="0">
                <a:solidFill>
                  <a:srgbClr val="2C3E50"/>
                </a:solidFill>
                <a:latin typeface="Courier New" pitchFamily="34" charset="0"/>
                <a:ea typeface="Courier New" pitchFamily="34" charset="-122"/>
                <a:cs typeface="Courier New" pitchFamily="34" charset="-120"/>
              </a:rPr>
              <a:t>
SELECT ProductName, Category, Price 
FROM PRODUCTS 
ORDER BY Price DESC 
LIMIT 1;
</a:t>
            </a:r>
            <a:r>
              <a:rPr lang="en-US" sz="1100" b="1" dirty="0">
                <a:solidFill>
                  <a:srgbClr val="2C3E50"/>
                </a:solidFill>
                <a:latin typeface="Courier New" pitchFamily="34" charset="0"/>
                <a:ea typeface="Courier New" pitchFamily="34" charset="-122"/>
                <a:cs typeface="Courier New" pitchFamily="34" charset="-120"/>
              </a:rPr>
              <a:t>
-- 12. UPDATE - Cancel order</a:t>
            </a:r>
            <a:r>
              <a:rPr lang="en-US" sz="1100" dirty="0">
                <a:solidFill>
                  <a:srgbClr val="2C3E50"/>
                </a:solidFill>
                <a:latin typeface="Courier New" pitchFamily="34" charset="0"/>
                <a:ea typeface="Courier New" pitchFamily="34" charset="-122"/>
                <a:cs typeface="Courier New" pitchFamily="34" charset="-120"/>
              </a:rPr>
              <a:t>
UPDATE ORDERS 
SET Status = 'Cancelled' 
WHERE OrderID = 2;
</a:t>
            </a:r>
            <a:endParaRPr lang="en-US" sz="1100" dirty="0"/>
          </a:p>
        </p:txBody>
      </p:sp>
    </p:spTree>
    <p:extLst>
      <p:ext uri="{BB962C8B-B14F-4D97-AF65-F5344CB8AC3E}">
        <p14:creationId xmlns:p14="http://schemas.microsoft.com/office/powerpoint/2010/main" val="1174975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498DB"/>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5: Hospital Patient &amp; Appointment System</a:t>
            </a:r>
            <a:endParaRPr lang="en-US" sz="2600" dirty="0"/>
          </a:p>
        </p:txBody>
      </p:sp>
      <p:sp>
        <p:nvSpPr>
          <p:cNvPr id="4" name="Text 2"/>
          <p:cNvSpPr/>
          <p:nvPr/>
        </p:nvSpPr>
        <p:spPr>
          <a:xfrm>
            <a:off x="457200" y="676656"/>
            <a:ext cx="8229600" cy="4114800"/>
          </a:xfrm>
          <a:prstGeom prst="rect">
            <a:avLst/>
          </a:prstGeom>
          <a:noFill/>
          <a:ln/>
        </p:spPr>
        <p:txBody>
          <a:bodyPr wrap="square" rtlCol="0" anchor="ctr"/>
          <a:lstStyle/>
          <a:p>
            <a:pPr marL="0" indent="0" algn="l">
              <a:buNone/>
            </a:pPr>
            <a:endParaRPr lang="en-US" sz="1050" dirty="0"/>
          </a:p>
          <a:p>
            <a:pPr marL="0" indent="0" algn="l">
              <a:buNone/>
            </a:pPr>
            <a:r>
              <a:rPr lang="en-US" sz="1050" b="1" dirty="0">
                <a:solidFill>
                  <a:srgbClr val="34495E"/>
                </a:solidFill>
              </a:rPr>
              <a:t>CONTEXT: </a:t>
            </a:r>
            <a:r>
              <a:rPr lang="en-US" sz="1050" dirty="0">
                <a:solidFill>
                  <a:srgbClr val="34495E"/>
                </a:solidFill>
              </a:rPr>
              <a:t>Hospital needs to manage patients, doctors, departments, and appointments. Implement:</a:t>
            </a:r>
            <a:endParaRPr lang="en-US" sz="1050" dirty="0"/>
          </a:p>
          <a:p>
            <a:pPr marL="0" indent="0" algn="l">
              <a:buNone/>
            </a:pPr>
            <a:endParaRPr lang="en-US" sz="1050" b="1" dirty="0"/>
          </a:p>
          <a:p>
            <a:pPr marL="0" indent="0" algn="l">
              <a:buNone/>
            </a:pPr>
            <a:r>
              <a:rPr lang="en-US" sz="1050" b="1" dirty="0">
                <a:solidFill>
                  <a:srgbClr val="34495E"/>
                </a:solidFill>
              </a:rPr>
              <a:t>QUESTIONS:</a:t>
            </a:r>
            <a:endParaRPr lang="en-US" sz="1050" b="1" dirty="0"/>
          </a:p>
          <a:p>
            <a:pPr marL="0" indent="0" algn="l">
              <a:buNone/>
            </a:pPr>
            <a:r>
              <a:rPr lang="en-US" sz="1050" dirty="0">
                <a:solidFill>
                  <a:srgbClr val="34495E"/>
                </a:solidFill>
              </a:rPr>
              <a:t>1. Create DEPARTMENTS table with DeptID, DeptName, Location, HeadDoctor.</a:t>
            </a:r>
            <a:endParaRPr lang="en-US" sz="1050" dirty="0"/>
          </a:p>
          <a:p>
            <a:pPr marL="0" indent="0" algn="l">
              <a:buNone/>
            </a:pPr>
            <a:endParaRPr lang="en-US" sz="1050" dirty="0"/>
          </a:p>
          <a:p>
            <a:pPr marL="0" indent="0" algn="l">
              <a:buNone/>
            </a:pPr>
            <a:r>
              <a:rPr lang="en-US" sz="1050" dirty="0">
                <a:solidFill>
                  <a:srgbClr val="34495E"/>
                </a:solidFill>
              </a:rPr>
              <a:t>2. Create DOCTORS table with DoctorID, Name, Department, Specialization, Experience (in years), Fees.</a:t>
            </a:r>
            <a:endParaRPr lang="en-US" sz="1050" dirty="0"/>
          </a:p>
          <a:p>
            <a:pPr marL="0" indent="0" algn="l">
              <a:buNone/>
            </a:pPr>
            <a:endParaRPr lang="en-US" sz="1050" dirty="0"/>
          </a:p>
          <a:p>
            <a:pPr marL="0" indent="0" algn="l">
              <a:buNone/>
            </a:pPr>
            <a:r>
              <a:rPr lang="en-US" sz="1050" dirty="0">
                <a:solidFill>
                  <a:srgbClr val="34495E"/>
                </a:solidFill>
              </a:rPr>
              <a:t>3. Create PATIENTS table with PatientID, Name, Age, Gender, Phone,  DateOfAdmission, MedicalHistory.</a:t>
            </a:r>
            <a:endParaRPr lang="en-US" sz="1050" dirty="0"/>
          </a:p>
          <a:p>
            <a:pPr marL="0" indent="0" algn="l">
              <a:buNone/>
            </a:pPr>
            <a:endParaRPr lang="en-US" sz="1050" dirty="0"/>
          </a:p>
          <a:p>
            <a:pPr marL="0" indent="0" algn="l">
              <a:buNone/>
            </a:pPr>
            <a:r>
              <a:rPr lang="en-US" sz="1050" dirty="0">
                <a:solidFill>
                  <a:srgbClr val="34495E"/>
                </a:solidFill>
              </a:rPr>
              <a:t>4. Create APPOINTMENTS table linking patients to doctors with Date, Time,  Status, and Notes.</a:t>
            </a:r>
            <a:endParaRPr lang="en-US" sz="1050" dirty="0"/>
          </a:p>
          <a:p>
            <a:pPr marL="0" indent="0" algn="l">
              <a:buNone/>
            </a:pPr>
            <a:endParaRPr lang="en-US" sz="1050" dirty="0"/>
          </a:p>
          <a:p>
            <a:pPr marL="0" indent="0" algn="l">
              <a:buNone/>
            </a:pPr>
            <a:r>
              <a:rPr lang="en-US" sz="1050" dirty="0">
                <a:solidFill>
                  <a:srgbClr val="34495E"/>
                </a:solidFill>
              </a:rPr>
              <a:t>5. Insert 3 departments (Cardiology, Orthopedics, Neurology).</a:t>
            </a:r>
            <a:endParaRPr lang="en-US" sz="1050" dirty="0"/>
          </a:p>
          <a:p>
            <a:pPr marL="0" indent="0" algn="l">
              <a:buNone/>
            </a:pPr>
            <a:endParaRPr lang="en-US" sz="1050" dirty="0"/>
          </a:p>
          <a:p>
            <a:pPr marL="0" indent="0" algn="l">
              <a:buNone/>
            </a:pPr>
            <a:r>
              <a:rPr lang="en-US" sz="1050" dirty="0">
                <a:solidFill>
                  <a:srgbClr val="34495E"/>
                </a:solidFill>
              </a:rPr>
              <a:t>6. Insert 5 doctors across departments with different specializations.</a:t>
            </a:r>
            <a:endParaRPr lang="en-US" sz="1050" dirty="0"/>
          </a:p>
          <a:p>
            <a:pPr marL="0" indent="0" algn="l">
              <a:buNone/>
            </a:pPr>
            <a:endParaRPr lang="en-US" sz="1050" dirty="0"/>
          </a:p>
          <a:p>
            <a:pPr marL="0" indent="0" algn="l">
              <a:buNone/>
            </a:pPr>
            <a:r>
              <a:rPr lang="en-US" sz="1050" dirty="0">
                <a:solidFill>
                  <a:srgbClr val="34495E"/>
                </a:solidFill>
              </a:rPr>
              <a:t>7. Insert 4 patients with medical history.</a:t>
            </a:r>
            <a:endParaRPr lang="en-US" sz="1050" dirty="0"/>
          </a:p>
          <a:p>
            <a:pPr marL="0" indent="0" algn="l">
              <a:buNone/>
            </a:pPr>
            <a:endParaRPr lang="en-US" sz="1050" dirty="0"/>
          </a:p>
          <a:p>
            <a:pPr marL="0" indent="0" algn="l">
              <a:buNone/>
            </a:pPr>
            <a:r>
              <a:rPr lang="en-US" sz="1050" dirty="0">
                <a:solidFill>
                  <a:srgbClr val="34495E"/>
                </a:solidFill>
              </a:rPr>
              <a:t>8. Create 5 appointments with different statuses (Scheduled/Completed/Cancelled).</a:t>
            </a:r>
            <a:endParaRPr lang="en-US" sz="1050" dirty="0"/>
          </a:p>
          <a:p>
            <a:pPr marL="0" indent="0" algn="l">
              <a:buNone/>
            </a:pPr>
            <a:endParaRPr lang="en-US" sz="1050" dirty="0"/>
          </a:p>
          <a:p>
            <a:pPr marL="0" indent="0" algn="l">
              <a:buNone/>
            </a:pPr>
            <a:r>
              <a:rPr lang="en-US" sz="1050" dirty="0">
                <a:solidFill>
                  <a:srgbClr val="34495E"/>
                </a:solidFill>
              </a:rPr>
              <a:t>9. Find all appointments on a specific date (e.g., 2024-02-15).</a:t>
            </a:r>
            <a:endParaRPr lang="en-US" sz="1050" dirty="0"/>
          </a:p>
          <a:p>
            <a:pPr marL="0" indent="0" algn="l">
              <a:buNone/>
            </a:pPr>
            <a:endParaRPr lang="en-US" sz="1050" dirty="0"/>
          </a:p>
          <a:p>
            <a:pPr marL="0" indent="0" algn="l">
              <a:buNone/>
            </a:pPr>
            <a:r>
              <a:rPr lang="en-US" sz="1050" dirty="0">
                <a:solidFill>
                  <a:srgbClr val="34495E"/>
                </a:solidFill>
              </a:rPr>
              <a:t>10. Retrieve doctors with experience &gt; 10 years.</a:t>
            </a:r>
            <a:endParaRPr lang="en-US" sz="1050" dirty="0"/>
          </a:p>
          <a:p>
            <a:pPr marL="0" indent="0" algn="l">
              <a:buNone/>
            </a:pPr>
            <a:endParaRPr lang="en-US" sz="1050" dirty="0"/>
          </a:p>
          <a:p>
            <a:pPr marL="0" indent="0" algn="l">
              <a:buNone/>
            </a:pPr>
            <a:r>
              <a:rPr lang="en-US" sz="1050" dirty="0">
                <a:solidFill>
                  <a:srgbClr val="34495E"/>
                </a:solidFill>
              </a:rPr>
              <a:t>11. List all patients treated by a specific doctor.</a:t>
            </a:r>
            <a:endParaRPr lang="en-US" sz="1050" dirty="0"/>
          </a:p>
          <a:p>
            <a:pPr marL="0" indent="0" algn="l">
              <a:buNone/>
            </a:pPr>
            <a:endParaRPr lang="en-US" sz="1050" dirty="0"/>
          </a:p>
          <a:p>
            <a:pPr marL="0" indent="0" algn="l">
              <a:buNone/>
            </a:pPr>
            <a:r>
              <a:rPr lang="en-US" sz="1050" dirty="0">
                <a:solidFill>
                  <a:srgbClr val="34495E"/>
                </a:solidFill>
              </a:rPr>
              <a:t>12. Find pending appointments and send reminders (retrieve contact details).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1">
    <p:bg>
      <p:bgPr>
        <a:solidFill>
          <a:srgbClr val="ECF0F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7AE60"/>
          </a:solidFill>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5: Hospital Management - Solutions</a:t>
            </a:r>
            <a:endParaRPr lang="en-US" sz="2600" dirty="0"/>
          </a:p>
        </p:txBody>
      </p:sp>
      <p:sp>
        <p:nvSpPr>
          <p:cNvPr id="4" name="Shape 2"/>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-- 1. CREATE DEPARTMENTS TABLE</a:t>
            </a:r>
            <a:r>
              <a:rPr lang="en-US" sz="1100" dirty="0">
                <a:solidFill>
                  <a:srgbClr val="2C3E50"/>
                </a:solidFill>
                <a:latin typeface="Courier New" pitchFamily="34" charset="0"/>
                <a:ea typeface="Courier New" pitchFamily="34" charset="-122"/>
                <a:cs typeface="Courier New" pitchFamily="34" charset="-120"/>
              </a:rPr>
              <a:t>
CREATE TABLE DEPARTMENTS (
  DeptID INT PRIMARY KEY AUTO_INCREMENT,
  DeptName VARCHAR(100) NOT NULL UNIQUE,
  Location VARCHAR(100),
  HeadDoctor VARCHAR(100)
);
</a:t>
            </a:r>
            <a:r>
              <a:rPr lang="en-US" sz="1100" b="1" dirty="0">
                <a:solidFill>
                  <a:srgbClr val="2C3E50"/>
                </a:solidFill>
                <a:latin typeface="Courier New" pitchFamily="34" charset="0"/>
                <a:ea typeface="Courier New" pitchFamily="34" charset="-122"/>
                <a:cs typeface="Courier New" pitchFamily="34" charset="-120"/>
              </a:rPr>
              <a:t>-- 2. CREATE DOCTORS TABLE</a:t>
            </a:r>
            <a:r>
              <a:rPr lang="en-US" sz="1100" dirty="0">
                <a:solidFill>
                  <a:srgbClr val="2C3E50"/>
                </a:solidFill>
                <a:latin typeface="Courier New" pitchFamily="34" charset="0"/>
                <a:ea typeface="Courier New" pitchFamily="34" charset="-122"/>
                <a:cs typeface="Courier New" pitchFamily="34" charset="-120"/>
              </a:rPr>
              <a:t>
CREATE TABLE DOCTORS (
  DoctorID INT PRIMARY KEY AUTO_INCREMENT,
  Name VARCHAR(100) NOT NULL,
  Department VARCHAR(100),
  Specialization VARCHAR(100),
  Experience INT CHECK (Experience &gt;= 0),
  Fees DECIMAL(8,2)
);
</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6757189D-0719-97FE-4D83-4204B192B2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D2DE270-363B-0BA4-B4DD-59ECADC9031F}"/>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DE78F061-AB31-03B3-AB24-436BEC531B25}"/>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5: Hospital Management - Solutions</a:t>
            </a:r>
            <a:endParaRPr lang="en-US" sz="2600" dirty="0"/>
          </a:p>
        </p:txBody>
      </p:sp>
      <p:sp>
        <p:nvSpPr>
          <p:cNvPr id="4" name="Shape 2">
            <a:extLst>
              <a:ext uri="{FF2B5EF4-FFF2-40B4-BE49-F238E27FC236}">
                <a16:creationId xmlns:a16="http://schemas.microsoft.com/office/drawing/2014/main" id="{1D5C3359-091C-DF8F-F1C4-C1BCDA14E3AB}"/>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C9C7628D-B13F-6B9C-836A-0C4742800A08}"/>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-- 3. CREATE PATIENTS TABLE</a:t>
            </a:r>
            <a:r>
              <a:rPr lang="en-US" sz="1100" dirty="0">
                <a:solidFill>
                  <a:srgbClr val="2C3E50"/>
                </a:solidFill>
                <a:latin typeface="Courier New" pitchFamily="34" charset="0"/>
                <a:ea typeface="Courier New" pitchFamily="34" charset="-122"/>
                <a:cs typeface="Courier New" pitchFamily="34" charset="-120"/>
              </a:rPr>
              <a:t>
CREATE TABLE PATIENTS (
  PatientID INT PRIMARY KEY AUTO_INCREMENT,
  Name VARCHAR(100) NOT NULL,
  Age INT,
  Gender VARCHAR(10),
  Phone VARCHAR(10),
  DateOfAdmission DATE,
  MedicalHistory VARCHAR(500)
);
</a:t>
            </a:r>
            <a:r>
              <a:rPr lang="en-US" sz="1100" b="1" dirty="0">
                <a:solidFill>
                  <a:srgbClr val="2C3E50"/>
                </a:solidFill>
                <a:latin typeface="Courier New" pitchFamily="34" charset="0"/>
                <a:ea typeface="Courier New" pitchFamily="34" charset="-122"/>
                <a:cs typeface="Courier New" pitchFamily="34" charset="-120"/>
              </a:rPr>
              <a:t>-- 4. CREATE APPOINTMENTS TABLE</a:t>
            </a:r>
            <a:r>
              <a:rPr lang="en-US" sz="1100" dirty="0">
                <a:solidFill>
                  <a:srgbClr val="2C3E50"/>
                </a:solidFill>
                <a:latin typeface="Courier New" pitchFamily="34" charset="0"/>
                <a:ea typeface="Courier New" pitchFamily="34" charset="-122"/>
                <a:cs typeface="Courier New" pitchFamily="34" charset="-120"/>
              </a:rPr>
              <a:t>
CREATE TABLE APPOINTMENTS (
  AppointmentID INT PRIMARY KEY AUTO_INCREMENT,
  PatientID INT,
  DoctorID INT,
  Date DATE NOT NULL,
  Time VARCHAR(10),
  Status VARCHAR(20) DEFAULT 'Scheduled',
  Notes VARCHAR(300),
  FOREIGN KEY (PatientID) REFERENCES PATIENTS(PatientID),
  FOREIGN KEY (DoctorID) REFERENCES DOCTORS(DoctorID)
);
</a:t>
            </a:r>
            <a:endParaRPr lang="en-US" sz="1100" dirty="0"/>
          </a:p>
        </p:txBody>
      </p:sp>
    </p:spTree>
    <p:extLst>
      <p:ext uri="{BB962C8B-B14F-4D97-AF65-F5344CB8AC3E}">
        <p14:creationId xmlns:p14="http://schemas.microsoft.com/office/powerpoint/2010/main" val="685566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ECF0F1"/>
        </a:solidFill>
        <a:effectLst/>
      </p:bgPr>
    </p:bg>
    <p:spTree>
      <p:nvGrpSpPr>
        <p:cNvPr id="1" name="">
          <a:extLst>
            <a:ext uri="{FF2B5EF4-FFF2-40B4-BE49-F238E27FC236}">
              <a16:creationId xmlns:a16="http://schemas.microsoft.com/office/drawing/2014/main" id="{32EB9159-F5FC-DBD9-30CA-72D325F5D9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4DC7A3-6A69-292A-4E36-A96D54FDE751}"/>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79690240-E363-BA78-D58D-79CD4CBB703F}"/>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5: Hospital Management - Solutions</a:t>
            </a:r>
            <a:endParaRPr lang="en-US" sz="2600" dirty="0"/>
          </a:p>
        </p:txBody>
      </p:sp>
      <p:sp>
        <p:nvSpPr>
          <p:cNvPr id="4" name="Shape 2">
            <a:extLst>
              <a:ext uri="{FF2B5EF4-FFF2-40B4-BE49-F238E27FC236}">
                <a16:creationId xmlns:a16="http://schemas.microsoft.com/office/drawing/2014/main" id="{711F4CDB-2893-C121-6213-A4D8FFC661FB}"/>
              </a:ext>
            </a:extLst>
          </p:cNvPr>
          <p:cNvSpPr/>
          <p:nvPr/>
        </p:nvSpPr>
        <p:spPr>
          <a:xfrm>
            <a:off x="274320" y="822960"/>
            <a:ext cx="8595360" cy="4114800"/>
          </a:xfrm>
          <a:prstGeom prst="rect">
            <a:avLst/>
          </a:prstGeom>
          <a:solidFill>
            <a:srgbClr val="FFFFFF"/>
          </a:solidFill>
          <a:ln w="25400">
            <a:solidFill>
              <a:srgbClr val="27AE60"/>
            </a:solidFill>
            <a:prstDash val="solid"/>
          </a:ln>
        </p:spPr>
      </p:sp>
      <p:sp>
        <p:nvSpPr>
          <p:cNvPr id="5" name="Text 3">
            <a:extLst>
              <a:ext uri="{FF2B5EF4-FFF2-40B4-BE49-F238E27FC236}">
                <a16:creationId xmlns:a16="http://schemas.microsoft.com/office/drawing/2014/main" id="{7B202FE5-743C-3FB1-F794-714A5C59A147}"/>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-- 5. INSERT DEPARTMENTS</a:t>
            </a:r>
            <a:r>
              <a:rPr lang="en-US" sz="1100" dirty="0">
                <a:solidFill>
                  <a:srgbClr val="2C3E50"/>
                </a:solidFill>
                <a:latin typeface="Courier New" pitchFamily="34" charset="0"/>
                <a:ea typeface="Courier New" pitchFamily="34" charset="-122"/>
                <a:cs typeface="Courier New" pitchFamily="34" charset="-120"/>
              </a:rPr>
              <a:t>
INSERT INTO DEPARTMENTS (DeptName, Location, HeadDoctor) VALUES
('Cardiology', 'Building A Floor 2', 'Dr. Sharma'),
('Orthopedics', 'Building B Floor 1', 'Dr. Patel'),
('Neurology', 'Building A Floor 3', 'Dr. Verma');
</a:t>
            </a:r>
            <a:r>
              <a:rPr lang="en-US" sz="1100" b="1" dirty="0">
                <a:solidFill>
                  <a:srgbClr val="2C3E50"/>
                </a:solidFill>
                <a:latin typeface="Courier New" pitchFamily="34" charset="0"/>
                <a:ea typeface="Courier New" pitchFamily="34" charset="-122"/>
                <a:cs typeface="Courier New" pitchFamily="34" charset="-120"/>
              </a:rPr>
              <a:t>
-- 6. INSERT DOCTORS</a:t>
            </a:r>
            <a:r>
              <a:rPr lang="en-US" sz="1100" dirty="0">
                <a:solidFill>
                  <a:srgbClr val="2C3E50"/>
                </a:solidFill>
                <a:latin typeface="Courier New" pitchFamily="34" charset="0"/>
                <a:ea typeface="Courier New" pitchFamily="34" charset="-122"/>
                <a:cs typeface="Courier New" pitchFamily="34" charset="-120"/>
              </a:rPr>
              <a:t>
INSERT INTO DOCTORS (Name, Department, Specialization, Experience, Fees) VALUES
('Dr. Sharma', 'Cardiology', 'Heart Specialist', 15, 1500),
('Dr. Patel', 'Orthopedics', 'Bone Specialist', 12, 1200),
('Dr. Verma', 'Neurology', 'Brain Specialist', 18, 1800),
('Dr. Gupta', 'Cardiology', 'Cardiologist', 8, 1000),
('Dr. Singh', 'Orthopedics', 'Sports Medicine', 10, 1300);
</a:t>
            </a:r>
            <a:r>
              <a:rPr lang="en-US" sz="1100" b="1" dirty="0">
                <a:solidFill>
                  <a:srgbClr val="2C3E50"/>
                </a:solidFill>
                <a:latin typeface="Courier New" pitchFamily="34" charset="0"/>
                <a:ea typeface="Courier New" pitchFamily="34" charset="-122"/>
                <a:cs typeface="Courier New" pitchFamily="34" charset="-120"/>
              </a:rPr>
              <a:t>-- 7. INSERT PATIENTS</a:t>
            </a:r>
            <a:r>
              <a:rPr lang="en-US" sz="1100" dirty="0">
                <a:solidFill>
                  <a:srgbClr val="2C3E50"/>
                </a:solidFill>
                <a:latin typeface="Courier New" pitchFamily="34" charset="0"/>
                <a:ea typeface="Courier New" pitchFamily="34" charset="-122"/>
                <a:cs typeface="Courier New" pitchFamily="34" charset="-120"/>
              </a:rPr>
              <a:t>
INSERT INTO PATIENTS (Name, Age, Gender, Phone, DateOfAdmission, MedicalHistory) VALUES
('Raj Kumar', 45, 'Male', '9876543210', '2024-01-10', 'High BP'),
('Priya Singh', 38, 'Female', '9876543211', '2024-01-12', 'Diabetes'),
('Amit Patel', 52, 'Male', '9876543212', '2024-01-15', 'Heart Issue'),
('Neha Sharma', 35, 'Female', '9876543213', '2024-02-01', 'Joint Pain');
</a:t>
            </a:r>
            <a:endParaRPr lang="en-US" sz="1100" dirty="0"/>
          </a:p>
        </p:txBody>
      </p:sp>
    </p:spTree>
    <p:extLst>
      <p:ext uri="{BB962C8B-B14F-4D97-AF65-F5344CB8AC3E}">
        <p14:creationId xmlns:p14="http://schemas.microsoft.com/office/powerpoint/2010/main" val="1690560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9B6DB4-1B18-D143-41F1-70D553AD092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1FABF1-155E-E289-0D5A-81F1517B7E98}"/>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F4C60AC0-368F-A40B-D612-FF2C9B0BD403}"/>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5: Hospital Management - Solutions</a:t>
            </a:r>
            <a:endParaRPr lang="en-US" sz="2600" dirty="0"/>
          </a:p>
        </p:txBody>
      </p:sp>
      <p:sp>
        <p:nvSpPr>
          <p:cNvPr id="4" name="Shape 2">
            <a:extLst>
              <a:ext uri="{FF2B5EF4-FFF2-40B4-BE49-F238E27FC236}">
                <a16:creationId xmlns:a16="http://schemas.microsoft.com/office/drawing/2014/main" id="{92F9F63B-E91D-153F-CED5-234E4CDE64EC}"/>
              </a:ext>
            </a:extLst>
          </p:cNvPr>
          <p:cNvSpPr/>
          <p:nvPr/>
        </p:nvSpPr>
        <p:spPr>
          <a:xfrm>
            <a:off x="274320" y="822960"/>
            <a:ext cx="8595360" cy="4114800"/>
          </a:xfrm>
          <a:prstGeom prst="rect">
            <a:avLst/>
          </a:prstGeom>
          <a:solidFill>
            <a:srgbClr val="FFFFFF"/>
          </a:solidFill>
          <a:ln w="25400">
            <a:solidFill>
              <a:srgbClr val="27AE60"/>
            </a:solidFill>
            <a:prstDash val="solid"/>
          </a:ln>
        </p:spPr>
        <p:txBody>
          <a:bodyPr/>
          <a:lstStyle/>
          <a:p>
            <a:endParaRPr lang="en-IN" dirty="0"/>
          </a:p>
        </p:txBody>
      </p:sp>
      <p:sp>
        <p:nvSpPr>
          <p:cNvPr id="5" name="Text 3">
            <a:extLst>
              <a:ext uri="{FF2B5EF4-FFF2-40B4-BE49-F238E27FC236}">
                <a16:creationId xmlns:a16="http://schemas.microsoft.com/office/drawing/2014/main" id="{2C744E44-23D9-CC32-4D08-4E50F00FDC39}"/>
              </a:ext>
            </a:extLst>
          </p:cNvPr>
          <p:cNvSpPr/>
          <p:nvPr/>
        </p:nvSpPr>
        <p:spPr>
          <a:xfrm>
            <a:off x="457200" y="914400"/>
            <a:ext cx="8229600" cy="3931920"/>
          </a:xfrm>
          <a:prstGeom prst="rect">
            <a:avLst/>
          </a:prstGeom>
          <a:noFill/>
          <a:ln/>
        </p:spPr>
        <p:txBody>
          <a:bodyPr wrap="square" rtlCol="0" anchor="ctr"/>
          <a:lstStyle/>
          <a:p>
            <a:pPr marL="0" indent="0" algn="l">
              <a:buNone/>
            </a:pPr>
            <a:r>
              <a:rPr lang="en-US" sz="1100" dirty="0">
                <a:solidFill>
                  <a:srgbClr val="2C3E50"/>
                </a:solidFill>
                <a:latin typeface="Courier New" pitchFamily="34" charset="0"/>
                <a:ea typeface="Courier New" pitchFamily="34" charset="-122"/>
                <a:cs typeface="Courier New" pitchFamily="34" charset="-120"/>
              </a:rPr>
              <a:t>
</a:t>
            </a:r>
            <a:r>
              <a:rPr lang="en-US" sz="1100" b="1" dirty="0">
                <a:solidFill>
                  <a:srgbClr val="2C3E50"/>
                </a:solidFill>
                <a:latin typeface="Courier New" pitchFamily="34" charset="0"/>
                <a:ea typeface="Courier New" pitchFamily="34" charset="-122"/>
                <a:cs typeface="Courier New" pitchFamily="34" charset="-120"/>
              </a:rPr>
              <a:t>-- 8. INSERT APPOINTMENTS</a:t>
            </a:r>
            <a:r>
              <a:rPr lang="en-US" sz="1100" dirty="0">
                <a:solidFill>
                  <a:srgbClr val="2C3E50"/>
                </a:solidFill>
                <a:latin typeface="Courier New" pitchFamily="34" charset="0"/>
                <a:ea typeface="Courier New" pitchFamily="34" charset="-122"/>
                <a:cs typeface="Courier New" pitchFamily="34" charset="-120"/>
              </a:rPr>
              <a:t>
INSERT INTO APPOINTMENTS (PatientID, DoctorID, Date, Time, Status, Notes) VALUES
(1, 1, '2024-02-15', '10:00', 'Scheduled', 'Follow up'),
(2, 2, '2024-02-15', '11:00', 'Scheduled', 'Check up'),
(3, 1, '2024-02-16', '14:00', 'Completed', 'ECG done'),
(4, 3, '2024-02-17', '10:30', 'Pending', 'MRI needed'),
(1, 4, '2024-02-18', '15:00', 'Cancelled', 'Patient request');
</a:t>
            </a:r>
            <a:r>
              <a:rPr lang="en-US" sz="1100" b="1" dirty="0">
                <a:solidFill>
                  <a:srgbClr val="2C3E50"/>
                </a:solidFill>
                <a:latin typeface="Courier New" pitchFamily="34" charset="0"/>
                <a:ea typeface="Courier New" pitchFamily="34" charset="-122"/>
                <a:cs typeface="Courier New" pitchFamily="34" charset="-120"/>
              </a:rPr>
              <a:t>-- 9. SELECT - Appointments on specific date</a:t>
            </a:r>
            <a:r>
              <a:rPr lang="en-US" sz="1100" dirty="0">
                <a:solidFill>
                  <a:srgbClr val="2C3E50"/>
                </a:solidFill>
                <a:latin typeface="Courier New" pitchFamily="34" charset="0"/>
                <a:ea typeface="Courier New" pitchFamily="34" charset="-122"/>
                <a:cs typeface="Courier New" pitchFamily="34" charset="-120"/>
              </a:rPr>
              <a:t>
SELECT a.AppointmentID, p.Name, d.Name, a.Time, a.Status 
FROM APPOINTMENTS a 
JOIN PATIENTS p ON a.PatientID = p.PatientID 
JOIN DOCTORS d ON a.DoctorID = d.DoctorID 
WHERE DATE(a.Date) = '2024-02-15';
</a:t>
            </a:r>
            <a:r>
              <a:rPr lang="en-US" sz="1100" b="1" dirty="0">
                <a:solidFill>
                  <a:srgbClr val="2C3E50"/>
                </a:solidFill>
                <a:latin typeface="Courier New" pitchFamily="34" charset="0"/>
                <a:ea typeface="Courier New" pitchFamily="34" charset="-122"/>
                <a:cs typeface="Courier New" pitchFamily="34" charset="-120"/>
              </a:rPr>
              <a:t>-- 10. SELECT - Experienced doctors</a:t>
            </a:r>
            <a:r>
              <a:rPr lang="en-US" sz="1100" dirty="0">
                <a:solidFill>
                  <a:srgbClr val="2C3E50"/>
                </a:solidFill>
                <a:latin typeface="Courier New" pitchFamily="34" charset="0"/>
                <a:ea typeface="Courier New" pitchFamily="34" charset="-122"/>
                <a:cs typeface="Courier New" pitchFamily="34" charset="-120"/>
              </a:rPr>
              <a:t>
SELECT Name, Department, Specialization, Experience, Fees 
FROM DOCTORS 
WHERE Experience &gt; 10 
ORDER BY Experience DESC;
</a:t>
            </a:r>
            <a:endParaRPr lang="en-US" sz="1100" dirty="0"/>
          </a:p>
        </p:txBody>
      </p:sp>
    </p:spTree>
    <p:extLst>
      <p:ext uri="{BB962C8B-B14F-4D97-AF65-F5344CB8AC3E}">
        <p14:creationId xmlns:p14="http://schemas.microsoft.com/office/powerpoint/2010/main" val="290366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E9C521-5D8A-C9EB-CF81-594000DA878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E61164-38A2-FDBE-D0C1-9564F4960E23}"/>
              </a:ext>
            </a:extLst>
          </p:cNvPr>
          <p:cNvSpPr/>
          <p:nvPr/>
        </p:nvSpPr>
        <p:spPr>
          <a:xfrm>
            <a:off x="0" y="0"/>
            <a:ext cx="9144000" cy="640080"/>
          </a:xfrm>
          <a:prstGeom prst="rect">
            <a:avLst/>
          </a:prstGeom>
          <a:solidFill>
            <a:srgbClr val="27AE60"/>
          </a:solidFill>
          <a:ln/>
        </p:spPr>
      </p:sp>
      <p:sp>
        <p:nvSpPr>
          <p:cNvPr id="3" name="Text 1">
            <a:extLst>
              <a:ext uri="{FF2B5EF4-FFF2-40B4-BE49-F238E27FC236}">
                <a16:creationId xmlns:a16="http://schemas.microsoft.com/office/drawing/2014/main" id="{9859CA53-2A3A-638D-8EA7-890021AAAAA7}"/>
              </a:ext>
            </a:extLst>
          </p:cNvPr>
          <p:cNvSpPr/>
          <p:nvPr/>
        </p:nvSpPr>
        <p:spPr>
          <a:xfrm>
            <a:off x="457200" y="109728"/>
            <a:ext cx="8229600" cy="457200"/>
          </a:xfrm>
          <a:prstGeom prst="rect">
            <a:avLst/>
          </a:prstGeom>
          <a:noFill/>
          <a:ln/>
        </p:spPr>
        <p:txBody>
          <a:bodyPr wrap="square" rtlCol="0" anchor="ctr"/>
          <a:lstStyle/>
          <a:p>
            <a:pPr marL="0" indent="0">
              <a:buNone/>
            </a:pPr>
            <a:r>
              <a:rPr lang="en-US" sz="2600" b="1" dirty="0">
                <a:solidFill>
                  <a:srgbClr val="FFFFFF"/>
                </a:solidFill>
              </a:rPr>
              <a:t>Scenario 5: Hospital Management - Solutions</a:t>
            </a:r>
            <a:endParaRPr lang="en-US" sz="2600" dirty="0"/>
          </a:p>
        </p:txBody>
      </p:sp>
      <p:sp>
        <p:nvSpPr>
          <p:cNvPr id="4" name="Shape 2">
            <a:extLst>
              <a:ext uri="{FF2B5EF4-FFF2-40B4-BE49-F238E27FC236}">
                <a16:creationId xmlns:a16="http://schemas.microsoft.com/office/drawing/2014/main" id="{627BE032-6C82-92F3-9176-CBFCB0F10AFA}"/>
              </a:ext>
            </a:extLst>
          </p:cNvPr>
          <p:cNvSpPr/>
          <p:nvPr/>
        </p:nvSpPr>
        <p:spPr>
          <a:xfrm>
            <a:off x="274320" y="822960"/>
            <a:ext cx="8595360" cy="4114800"/>
          </a:xfrm>
          <a:prstGeom prst="rect">
            <a:avLst/>
          </a:prstGeom>
          <a:solidFill>
            <a:srgbClr val="FFFFFF"/>
          </a:solidFill>
          <a:ln w="25400">
            <a:solidFill>
              <a:srgbClr val="27AE60"/>
            </a:solidFill>
            <a:prstDash val="solid"/>
          </a:ln>
        </p:spPr>
        <p:txBody>
          <a:bodyPr/>
          <a:lstStyle/>
          <a:p>
            <a:endParaRPr lang="en-IN" dirty="0"/>
          </a:p>
        </p:txBody>
      </p:sp>
      <p:sp>
        <p:nvSpPr>
          <p:cNvPr id="5" name="Text 3">
            <a:extLst>
              <a:ext uri="{FF2B5EF4-FFF2-40B4-BE49-F238E27FC236}">
                <a16:creationId xmlns:a16="http://schemas.microsoft.com/office/drawing/2014/main" id="{05731C47-7E74-6B39-AD37-75276F7E66AE}"/>
              </a:ext>
            </a:extLst>
          </p:cNvPr>
          <p:cNvSpPr/>
          <p:nvPr/>
        </p:nvSpPr>
        <p:spPr>
          <a:xfrm>
            <a:off x="457200" y="914400"/>
            <a:ext cx="8229600" cy="3931920"/>
          </a:xfrm>
          <a:prstGeom prst="rect">
            <a:avLst/>
          </a:prstGeom>
          <a:noFill/>
          <a:ln/>
        </p:spPr>
        <p:txBody>
          <a:bodyPr wrap="square" rtlCol="0" anchor="ctr"/>
          <a:lstStyle/>
          <a:p>
            <a:r>
              <a:rPr lang="en-US" sz="1100" b="1" dirty="0">
                <a:solidFill>
                  <a:srgbClr val="2C3E50"/>
                </a:solidFill>
                <a:latin typeface="Courier New" pitchFamily="34" charset="0"/>
                <a:ea typeface="Courier New" pitchFamily="34" charset="-122"/>
                <a:cs typeface="Courier New" pitchFamily="34" charset="-120"/>
              </a:rPr>
              <a:t>-- 11. SELECT - Patients treated by doctor</a:t>
            </a:r>
            <a:r>
              <a:rPr lang="en-US" sz="1100" dirty="0">
                <a:solidFill>
                  <a:srgbClr val="2C3E50"/>
                </a:solidFill>
                <a:latin typeface="Courier New" pitchFamily="34" charset="0"/>
                <a:ea typeface="Courier New" pitchFamily="34" charset="-122"/>
                <a:cs typeface="Courier New" pitchFamily="34" charset="-120"/>
              </a:rPr>
              <a:t>
SELECT DISTINCT </a:t>
            </a:r>
            <a:r>
              <a:rPr lang="en-US" sz="1100" dirty="0" err="1">
                <a:solidFill>
                  <a:srgbClr val="2C3E50"/>
                </a:solidFill>
                <a:latin typeface="Courier New" pitchFamily="34" charset="0"/>
                <a:ea typeface="Courier New" pitchFamily="34" charset="-122"/>
                <a:cs typeface="Courier New" pitchFamily="34" charset="-120"/>
              </a:rPr>
              <a:t>p.Name</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p.Age</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p.Phone</a:t>
            </a:r>
            <a:r>
              <a:rPr lang="en-US" sz="1100" dirty="0">
                <a:solidFill>
                  <a:srgbClr val="2C3E50"/>
                </a:solidFill>
                <a:latin typeface="Courier New" pitchFamily="34" charset="0"/>
                <a:ea typeface="Courier New" pitchFamily="34" charset="-122"/>
                <a:cs typeface="Courier New" pitchFamily="34" charset="-120"/>
              </a:rPr>
              <a:t> 
FROM PATIENTS p 
JOIN APPOINTMENTS a ON </a:t>
            </a:r>
            <a:r>
              <a:rPr lang="en-US" sz="1100" dirty="0" err="1">
                <a:solidFill>
                  <a:srgbClr val="2C3E50"/>
                </a:solidFill>
                <a:latin typeface="Courier New" pitchFamily="34" charset="0"/>
                <a:ea typeface="Courier New" pitchFamily="34" charset="-122"/>
                <a:cs typeface="Courier New" pitchFamily="34" charset="-120"/>
              </a:rPr>
              <a:t>p.PatientID</a:t>
            </a:r>
            <a:r>
              <a:rPr lang="en-US" sz="1100" dirty="0">
                <a:solidFill>
                  <a:srgbClr val="2C3E50"/>
                </a:solidFill>
                <a:latin typeface="Courier New" pitchFamily="34" charset="0"/>
                <a:ea typeface="Courier New" pitchFamily="34" charset="-122"/>
                <a:cs typeface="Courier New" pitchFamily="34" charset="-120"/>
              </a:rPr>
              <a:t> = </a:t>
            </a:r>
            <a:r>
              <a:rPr lang="en-US" sz="1100" dirty="0" err="1">
                <a:solidFill>
                  <a:srgbClr val="2C3E50"/>
                </a:solidFill>
                <a:latin typeface="Courier New" pitchFamily="34" charset="0"/>
                <a:ea typeface="Courier New" pitchFamily="34" charset="-122"/>
                <a:cs typeface="Courier New" pitchFamily="34" charset="-120"/>
              </a:rPr>
              <a:t>a.PatientID</a:t>
            </a:r>
            <a:r>
              <a:rPr lang="en-US" sz="1100" dirty="0">
                <a:solidFill>
                  <a:srgbClr val="2C3E50"/>
                </a:solidFill>
                <a:latin typeface="Courier New" pitchFamily="34" charset="0"/>
                <a:ea typeface="Courier New" pitchFamily="34" charset="-122"/>
                <a:cs typeface="Courier New" pitchFamily="34" charset="-120"/>
              </a:rPr>
              <a:t> 
WHERE </a:t>
            </a:r>
            <a:r>
              <a:rPr lang="en-US" sz="1100" dirty="0" err="1">
                <a:solidFill>
                  <a:srgbClr val="2C3E50"/>
                </a:solidFill>
                <a:latin typeface="Courier New" pitchFamily="34" charset="0"/>
                <a:ea typeface="Courier New" pitchFamily="34" charset="-122"/>
                <a:cs typeface="Courier New" pitchFamily="34" charset="-120"/>
              </a:rPr>
              <a:t>a.DoctorID</a:t>
            </a:r>
            <a:r>
              <a:rPr lang="en-US" sz="1100" dirty="0">
                <a:solidFill>
                  <a:srgbClr val="2C3E50"/>
                </a:solidFill>
                <a:latin typeface="Courier New" pitchFamily="34" charset="0"/>
                <a:ea typeface="Courier New" pitchFamily="34" charset="-122"/>
                <a:cs typeface="Courier New" pitchFamily="34" charset="-120"/>
              </a:rPr>
              <a:t> = 1;
</a:t>
            </a:r>
            <a:r>
              <a:rPr lang="en-US" sz="1100" b="1" dirty="0">
                <a:solidFill>
                  <a:srgbClr val="2C3E50"/>
                </a:solidFill>
                <a:latin typeface="Courier New" pitchFamily="34" charset="0"/>
                <a:ea typeface="Courier New" pitchFamily="34" charset="-122"/>
                <a:cs typeface="Courier New" pitchFamily="34" charset="-120"/>
              </a:rPr>
              <a:t>-- 12. SELECT - Pending appointments with reminders</a:t>
            </a:r>
            <a:r>
              <a:rPr lang="en-US" sz="1100" dirty="0">
                <a:solidFill>
                  <a:srgbClr val="2C3E50"/>
                </a:solidFill>
                <a:latin typeface="Courier New" pitchFamily="34" charset="0"/>
                <a:ea typeface="Courier New" pitchFamily="34" charset="-122"/>
                <a:cs typeface="Courier New" pitchFamily="34" charset="-120"/>
              </a:rPr>
              <a:t>
SELECT </a:t>
            </a:r>
            <a:r>
              <a:rPr lang="en-US" sz="1100" dirty="0" err="1">
                <a:solidFill>
                  <a:srgbClr val="2C3E50"/>
                </a:solidFill>
                <a:latin typeface="Courier New" pitchFamily="34" charset="0"/>
                <a:ea typeface="Courier New" pitchFamily="34" charset="-122"/>
                <a:cs typeface="Courier New" pitchFamily="34" charset="-120"/>
              </a:rPr>
              <a:t>a.AppointmentID</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p.Name</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p.Phone</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d.Name</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a.Date</a:t>
            </a:r>
            <a:r>
              <a:rPr lang="en-US" sz="1100" dirty="0">
                <a:solidFill>
                  <a:srgbClr val="2C3E50"/>
                </a:solidFill>
                <a:latin typeface="Courier New" pitchFamily="34" charset="0"/>
                <a:ea typeface="Courier New" pitchFamily="34" charset="-122"/>
                <a:cs typeface="Courier New" pitchFamily="34" charset="-120"/>
              </a:rPr>
              <a:t>, </a:t>
            </a:r>
            <a:r>
              <a:rPr lang="en-US" sz="1100" dirty="0" err="1">
                <a:solidFill>
                  <a:srgbClr val="2C3E50"/>
                </a:solidFill>
                <a:latin typeface="Courier New" pitchFamily="34" charset="0"/>
                <a:ea typeface="Courier New" pitchFamily="34" charset="-122"/>
                <a:cs typeface="Courier New" pitchFamily="34" charset="-120"/>
              </a:rPr>
              <a:t>a.Time</a:t>
            </a:r>
            <a:r>
              <a:rPr lang="en-US" sz="1100" dirty="0">
                <a:solidFill>
                  <a:srgbClr val="2C3E50"/>
                </a:solidFill>
                <a:latin typeface="Courier New" pitchFamily="34" charset="0"/>
                <a:ea typeface="Courier New" pitchFamily="34" charset="-122"/>
                <a:cs typeface="Courier New" pitchFamily="34" charset="-120"/>
              </a:rPr>
              <a:t> 
FROM APPOINTMENTS a 
JOIN PATIENTS p ON </a:t>
            </a:r>
            <a:r>
              <a:rPr lang="en-US" sz="1100" dirty="0" err="1">
                <a:solidFill>
                  <a:srgbClr val="2C3E50"/>
                </a:solidFill>
                <a:latin typeface="Courier New" pitchFamily="34" charset="0"/>
                <a:ea typeface="Courier New" pitchFamily="34" charset="-122"/>
                <a:cs typeface="Courier New" pitchFamily="34" charset="-120"/>
              </a:rPr>
              <a:t>a.PatientID</a:t>
            </a:r>
            <a:r>
              <a:rPr lang="en-US" sz="1100" dirty="0">
                <a:solidFill>
                  <a:srgbClr val="2C3E50"/>
                </a:solidFill>
                <a:latin typeface="Courier New" pitchFamily="34" charset="0"/>
                <a:ea typeface="Courier New" pitchFamily="34" charset="-122"/>
                <a:cs typeface="Courier New" pitchFamily="34" charset="-120"/>
              </a:rPr>
              <a:t> = </a:t>
            </a:r>
            <a:r>
              <a:rPr lang="en-US" sz="1100" dirty="0" err="1">
                <a:solidFill>
                  <a:srgbClr val="2C3E50"/>
                </a:solidFill>
                <a:latin typeface="Courier New" pitchFamily="34" charset="0"/>
                <a:ea typeface="Courier New" pitchFamily="34" charset="-122"/>
                <a:cs typeface="Courier New" pitchFamily="34" charset="-120"/>
              </a:rPr>
              <a:t>p.PatientID</a:t>
            </a:r>
            <a:r>
              <a:rPr lang="en-US" sz="1100" dirty="0">
                <a:solidFill>
                  <a:srgbClr val="2C3E50"/>
                </a:solidFill>
                <a:latin typeface="Courier New" pitchFamily="34" charset="0"/>
                <a:ea typeface="Courier New" pitchFamily="34" charset="-122"/>
                <a:cs typeface="Courier New" pitchFamily="34" charset="-120"/>
              </a:rPr>
              <a:t> 
JOIN DOCTORS d ON </a:t>
            </a:r>
            <a:r>
              <a:rPr lang="en-US" sz="1100" dirty="0" err="1">
                <a:solidFill>
                  <a:srgbClr val="2C3E50"/>
                </a:solidFill>
                <a:latin typeface="Courier New" pitchFamily="34" charset="0"/>
                <a:ea typeface="Courier New" pitchFamily="34" charset="-122"/>
                <a:cs typeface="Courier New" pitchFamily="34" charset="-120"/>
              </a:rPr>
              <a:t>a.DoctorID</a:t>
            </a:r>
            <a:r>
              <a:rPr lang="en-US" sz="1100" dirty="0">
                <a:solidFill>
                  <a:srgbClr val="2C3E50"/>
                </a:solidFill>
                <a:latin typeface="Courier New" pitchFamily="34" charset="0"/>
                <a:ea typeface="Courier New" pitchFamily="34" charset="-122"/>
                <a:cs typeface="Courier New" pitchFamily="34" charset="-120"/>
              </a:rPr>
              <a:t> = </a:t>
            </a:r>
            <a:r>
              <a:rPr lang="en-US" sz="1100" dirty="0" err="1">
                <a:solidFill>
                  <a:srgbClr val="2C3E50"/>
                </a:solidFill>
                <a:latin typeface="Courier New" pitchFamily="34" charset="0"/>
                <a:ea typeface="Courier New" pitchFamily="34" charset="-122"/>
                <a:cs typeface="Courier New" pitchFamily="34" charset="-120"/>
              </a:rPr>
              <a:t>d.DoctorID</a:t>
            </a:r>
            <a:r>
              <a:rPr lang="en-US" sz="1100" dirty="0">
                <a:solidFill>
                  <a:srgbClr val="2C3E50"/>
                </a:solidFill>
                <a:latin typeface="Courier New" pitchFamily="34" charset="0"/>
                <a:ea typeface="Courier New" pitchFamily="34" charset="-122"/>
                <a:cs typeface="Courier New" pitchFamily="34" charset="-120"/>
              </a:rPr>
              <a:t> 
WHERE </a:t>
            </a:r>
            <a:r>
              <a:rPr lang="en-US" sz="1100" dirty="0" err="1">
                <a:solidFill>
                  <a:srgbClr val="2C3E50"/>
                </a:solidFill>
                <a:latin typeface="Courier New" pitchFamily="34" charset="0"/>
                <a:ea typeface="Courier New" pitchFamily="34" charset="-122"/>
                <a:cs typeface="Courier New" pitchFamily="34" charset="-120"/>
              </a:rPr>
              <a:t>a.Status</a:t>
            </a:r>
            <a:r>
              <a:rPr lang="en-US" sz="1100" dirty="0">
                <a:solidFill>
                  <a:srgbClr val="2C3E50"/>
                </a:solidFill>
                <a:latin typeface="Courier New" pitchFamily="34" charset="0"/>
                <a:ea typeface="Courier New" pitchFamily="34" charset="-122"/>
                <a:cs typeface="Courier New" pitchFamily="34" charset="-120"/>
              </a:rPr>
              <a:t> = 'Pending' AND DATE(</a:t>
            </a:r>
            <a:r>
              <a:rPr lang="en-US" sz="1100" dirty="0" err="1">
                <a:solidFill>
                  <a:srgbClr val="2C3E50"/>
                </a:solidFill>
                <a:latin typeface="Courier New" pitchFamily="34" charset="0"/>
                <a:ea typeface="Courier New" pitchFamily="34" charset="-122"/>
                <a:cs typeface="Courier New" pitchFamily="34" charset="-120"/>
              </a:rPr>
              <a:t>a.Date</a:t>
            </a:r>
            <a:r>
              <a:rPr lang="en-US" sz="1100" dirty="0">
                <a:solidFill>
                  <a:srgbClr val="2C3E50"/>
                </a:solidFill>
                <a:latin typeface="Courier New" pitchFamily="34" charset="0"/>
                <a:ea typeface="Courier New" pitchFamily="34" charset="-122"/>
                <a:cs typeface="Courier New" pitchFamily="34" charset="-120"/>
              </a:rPr>
              <a:t>) &lt;= CURDATE();
</a:t>
            </a:r>
            <a:endParaRPr lang="en-US" sz="1100" dirty="0"/>
          </a:p>
        </p:txBody>
      </p:sp>
    </p:spTree>
    <p:extLst>
      <p:ext uri="{BB962C8B-B14F-4D97-AF65-F5344CB8AC3E}">
        <p14:creationId xmlns:p14="http://schemas.microsoft.com/office/powerpoint/2010/main" val="3374960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2C3E50"/>
        </a:solidFill>
        <a:effectLst/>
      </p:bgPr>
    </p:bg>
    <p:spTree>
      <p:nvGrpSpPr>
        <p:cNvPr id="1" name=""/>
        <p:cNvGrpSpPr/>
        <p:nvPr/>
      </p:nvGrpSpPr>
      <p:grpSpPr>
        <a:xfrm>
          <a:off x="0" y="0"/>
          <a:ext cx="0" cy="0"/>
          <a:chOff x="0" y="0"/>
          <a:chExt cx="0" cy="0"/>
        </a:xfrm>
      </p:grpSpPr>
      <p:sp>
        <p:nvSpPr>
          <p:cNvPr id="2" name="Text 0"/>
          <p:cNvSpPr/>
          <p:nvPr/>
        </p:nvSpPr>
        <p:spPr>
          <a:xfrm>
            <a:off x="457200" y="548640"/>
            <a:ext cx="8229600" cy="457200"/>
          </a:xfrm>
          <a:prstGeom prst="rect">
            <a:avLst/>
          </a:prstGeom>
          <a:noFill/>
          <a:ln/>
        </p:spPr>
        <p:txBody>
          <a:bodyPr wrap="square" rtlCol="0" anchor="ctr"/>
          <a:lstStyle/>
          <a:p>
            <a:pPr marL="0" indent="0" algn="ctr">
              <a:buNone/>
            </a:pPr>
            <a:r>
              <a:rPr lang="en-US" sz="3600" b="1" dirty="0">
                <a:solidFill>
                  <a:srgbClr val="FFFFFF"/>
                </a:solidFill>
              </a:rPr>
              <a:t>Key SQL Concepts Covered</a:t>
            </a:r>
            <a:endParaRPr lang="en-US" sz="3600" dirty="0"/>
          </a:p>
        </p:txBody>
      </p:sp>
      <p:sp>
        <p:nvSpPr>
          <p:cNvPr id="3" name="Text 1"/>
          <p:cNvSpPr/>
          <p:nvPr/>
        </p:nvSpPr>
        <p:spPr>
          <a:xfrm>
            <a:off x="914400" y="1280160"/>
            <a:ext cx="7315200" cy="274320"/>
          </a:xfrm>
          <a:prstGeom prst="rect">
            <a:avLst/>
          </a:prstGeom>
          <a:noFill/>
          <a:ln/>
        </p:spPr>
        <p:txBody>
          <a:bodyPr wrap="square" rtlCol="0" anchor="ctr"/>
          <a:lstStyle/>
          <a:p>
            <a:pPr marL="0" indent="0">
              <a:buNone/>
            </a:pPr>
            <a:r>
              <a:rPr lang="en-US" sz="1200" dirty="0">
                <a:solidFill>
                  <a:srgbClr val="ECF0F1"/>
                </a:solidFill>
              </a:rPr>
              <a:t>✓ DDL: CREATE TABLE, ALTER TABLE with constraints</a:t>
            </a:r>
            <a:endParaRPr lang="en-US" sz="1200" dirty="0"/>
          </a:p>
        </p:txBody>
      </p:sp>
      <p:sp>
        <p:nvSpPr>
          <p:cNvPr id="4" name="Text 2"/>
          <p:cNvSpPr/>
          <p:nvPr/>
        </p:nvSpPr>
        <p:spPr>
          <a:xfrm>
            <a:off x="914400" y="1563624"/>
            <a:ext cx="7315200" cy="274320"/>
          </a:xfrm>
          <a:prstGeom prst="rect">
            <a:avLst/>
          </a:prstGeom>
          <a:noFill/>
          <a:ln/>
        </p:spPr>
        <p:txBody>
          <a:bodyPr wrap="square" rtlCol="0" anchor="ctr"/>
          <a:lstStyle/>
          <a:p>
            <a:pPr marL="0" indent="0">
              <a:buNone/>
            </a:pPr>
            <a:r>
              <a:rPr lang="en-US" sz="1200" dirty="0">
                <a:solidFill>
                  <a:srgbClr val="ECF0F1"/>
                </a:solidFill>
              </a:rPr>
              <a:t>✓ DML: INSERT multiple rows, UPDATE with conditions, DELETE</a:t>
            </a:r>
            <a:endParaRPr lang="en-US" sz="1200" dirty="0"/>
          </a:p>
        </p:txBody>
      </p:sp>
      <p:sp>
        <p:nvSpPr>
          <p:cNvPr id="5" name="Text 3"/>
          <p:cNvSpPr/>
          <p:nvPr/>
        </p:nvSpPr>
        <p:spPr>
          <a:xfrm>
            <a:off x="914400" y="1847088"/>
            <a:ext cx="7315200" cy="274320"/>
          </a:xfrm>
          <a:prstGeom prst="rect">
            <a:avLst/>
          </a:prstGeom>
          <a:noFill/>
          <a:ln/>
        </p:spPr>
        <p:txBody>
          <a:bodyPr wrap="square" rtlCol="0" anchor="ctr"/>
          <a:lstStyle/>
          <a:p>
            <a:pPr marL="0" indent="0">
              <a:buNone/>
            </a:pPr>
            <a:r>
              <a:rPr lang="en-US" sz="1200" dirty="0">
                <a:solidFill>
                  <a:srgbClr val="ECF0F1"/>
                </a:solidFill>
              </a:rPr>
              <a:t>✓ SELECT with WHERE, ORDER BY, GROUP BY, LIMIT</a:t>
            </a:r>
            <a:endParaRPr lang="en-US" sz="1200" dirty="0"/>
          </a:p>
        </p:txBody>
      </p:sp>
      <p:sp>
        <p:nvSpPr>
          <p:cNvPr id="6" name="Text 4"/>
          <p:cNvSpPr/>
          <p:nvPr/>
        </p:nvSpPr>
        <p:spPr>
          <a:xfrm>
            <a:off x="914400" y="2130552"/>
            <a:ext cx="7315200" cy="274320"/>
          </a:xfrm>
          <a:prstGeom prst="rect">
            <a:avLst/>
          </a:prstGeom>
          <a:noFill/>
          <a:ln/>
        </p:spPr>
        <p:txBody>
          <a:bodyPr wrap="square" rtlCol="0" anchor="ctr"/>
          <a:lstStyle/>
          <a:p>
            <a:pPr marL="0" indent="0">
              <a:buNone/>
            </a:pPr>
            <a:r>
              <a:rPr lang="en-US" sz="1200" dirty="0">
                <a:solidFill>
                  <a:srgbClr val="ECF0F1"/>
                </a:solidFill>
              </a:rPr>
              <a:t>✓ JOIN operations (INNER, LEFT JOIN) for related tables</a:t>
            </a:r>
            <a:endParaRPr lang="en-US" sz="1200" dirty="0"/>
          </a:p>
        </p:txBody>
      </p:sp>
      <p:sp>
        <p:nvSpPr>
          <p:cNvPr id="7" name="Text 5"/>
          <p:cNvSpPr/>
          <p:nvPr/>
        </p:nvSpPr>
        <p:spPr>
          <a:xfrm>
            <a:off x="914400" y="2414016"/>
            <a:ext cx="7315200" cy="274320"/>
          </a:xfrm>
          <a:prstGeom prst="rect">
            <a:avLst/>
          </a:prstGeom>
          <a:noFill/>
          <a:ln/>
        </p:spPr>
        <p:txBody>
          <a:bodyPr wrap="square" rtlCol="0" anchor="ctr"/>
          <a:lstStyle/>
          <a:p>
            <a:pPr marL="0" indent="0">
              <a:buNone/>
            </a:pPr>
            <a:r>
              <a:rPr lang="en-US" sz="1200" dirty="0">
                <a:solidFill>
                  <a:srgbClr val="ECF0F1"/>
                </a:solidFill>
              </a:rPr>
              <a:t>✓ Aggregate functions: COUNT(), SUM(), MAX(), etc.</a:t>
            </a:r>
            <a:endParaRPr lang="en-US" sz="1200" dirty="0"/>
          </a:p>
        </p:txBody>
      </p:sp>
      <p:sp>
        <p:nvSpPr>
          <p:cNvPr id="8" name="Text 6"/>
          <p:cNvSpPr/>
          <p:nvPr/>
        </p:nvSpPr>
        <p:spPr>
          <a:xfrm>
            <a:off x="914400" y="2697480"/>
            <a:ext cx="7315200" cy="274320"/>
          </a:xfrm>
          <a:prstGeom prst="rect">
            <a:avLst/>
          </a:prstGeom>
          <a:noFill/>
          <a:ln/>
        </p:spPr>
        <p:txBody>
          <a:bodyPr wrap="square" rtlCol="0" anchor="ctr"/>
          <a:lstStyle/>
          <a:p>
            <a:pPr marL="0" indent="0">
              <a:buNone/>
            </a:pPr>
            <a:r>
              <a:rPr lang="en-US" sz="1200" dirty="0">
                <a:solidFill>
                  <a:srgbClr val="ECF0F1"/>
                </a:solidFill>
              </a:rPr>
              <a:t>✓ CHECK constraints for data validation</a:t>
            </a:r>
            <a:endParaRPr lang="en-US" sz="1200" dirty="0"/>
          </a:p>
        </p:txBody>
      </p:sp>
      <p:sp>
        <p:nvSpPr>
          <p:cNvPr id="9" name="Text 7"/>
          <p:cNvSpPr/>
          <p:nvPr/>
        </p:nvSpPr>
        <p:spPr>
          <a:xfrm>
            <a:off x="914400" y="2980944"/>
            <a:ext cx="7315200" cy="274320"/>
          </a:xfrm>
          <a:prstGeom prst="rect">
            <a:avLst/>
          </a:prstGeom>
          <a:noFill/>
          <a:ln/>
        </p:spPr>
        <p:txBody>
          <a:bodyPr wrap="square" rtlCol="0" anchor="ctr"/>
          <a:lstStyle/>
          <a:p>
            <a:pPr marL="0" indent="0">
              <a:buNone/>
            </a:pPr>
            <a:r>
              <a:rPr lang="en-US" sz="1200" dirty="0">
                <a:solidFill>
                  <a:srgbClr val="ECF0F1"/>
                </a:solidFill>
              </a:rPr>
              <a:t>✓ FOREIGN KEY for relationships between tables</a:t>
            </a:r>
            <a:endParaRPr lang="en-US" sz="1200" dirty="0"/>
          </a:p>
        </p:txBody>
      </p:sp>
      <p:sp>
        <p:nvSpPr>
          <p:cNvPr id="10" name="Text 8"/>
          <p:cNvSpPr/>
          <p:nvPr/>
        </p:nvSpPr>
        <p:spPr>
          <a:xfrm>
            <a:off x="914400" y="3264408"/>
            <a:ext cx="7315200" cy="274320"/>
          </a:xfrm>
          <a:prstGeom prst="rect">
            <a:avLst/>
          </a:prstGeom>
          <a:noFill/>
          <a:ln/>
        </p:spPr>
        <p:txBody>
          <a:bodyPr wrap="square" rtlCol="0" anchor="ctr"/>
          <a:lstStyle/>
          <a:p>
            <a:pPr marL="0" indent="0">
              <a:buNone/>
            </a:pPr>
            <a:r>
              <a:rPr lang="en-US" sz="1200" dirty="0">
                <a:solidFill>
                  <a:srgbClr val="ECF0F1"/>
                </a:solidFill>
              </a:rPr>
              <a:t>✓ AUTO_INCREMENT for primary keys</a:t>
            </a:r>
            <a:endParaRPr lang="en-US" sz="1200" dirty="0"/>
          </a:p>
        </p:txBody>
      </p:sp>
      <p:sp>
        <p:nvSpPr>
          <p:cNvPr id="11" name="Text 9"/>
          <p:cNvSpPr/>
          <p:nvPr/>
        </p:nvSpPr>
        <p:spPr>
          <a:xfrm>
            <a:off x="914400" y="3547872"/>
            <a:ext cx="7315200" cy="274320"/>
          </a:xfrm>
          <a:prstGeom prst="rect">
            <a:avLst/>
          </a:prstGeom>
          <a:noFill/>
          <a:ln/>
        </p:spPr>
        <p:txBody>
          <a:bodyPr wrap="square" rtlCol="0" anchor="ctr"/>
          <a:lstStyle/>
          <a:p>
            <a:pPr marL="0" indent="0">
              <a:buNone/>
            </a:pPr>
            <a:r>
              <a:rPr lang="en-US" sz="1200" dirty="0">
                <a:solidFill>
                  <a:srgbClr val="ECF0F1"/>
                </a:solidFill>
              </a:rPr>
              <a:t>✓ DEFAULT values and NOT NULL constraints</a:t>
            </a:r>
            <a:endParaRPr lang="en-US" sz="1200" dirty="0"/>
          </a:p>
        </p:txBody>
      </p:sp>
      <p:sp>
        <p:nvSpPr>
          <p:cNvPr id="12" name="Text 10"/>
          <p:cNvSpPr/>
          <p:nvPr/>
        </p:nvSpPr>
        <p:spPr>
          <a:xfrm>
            <a:off x="914400" y="3831336"/>
            <a:ext cx="7315200" cy="274320"/>
          </a:xfrm>
          <a:prstGeom prst="rect">
            <a:avLst/>
          </a:prstGeom>
          <a:noFill/>
          <a:ln/>
        </p:spPr>
        <p:txBody>
          <a:bodyPr wrap="square" rtlCol="0" anchor="ctr"/>
          <a:lstStyle/>
          <a:p>
            <a:pPr marL="0" indent="0">
              <a:buNone/>
            </a:pPr>
            <a:r>
              <a:rPr lang="en-US" sz="1200" dirty="0">
                <a:solidFill>
                  <a:srgbClr val="ECF0F1"/>
                </a:solidFill>
              </a:rPr>
              <a:t>✓ UNIQUE constraints for preventing duplicates</a:t>
            </a:r>
            <a:endParaRPr lang="en-US" sz="1200" dirty="0"/>
          </a:p>
        </p:txBody>
      </p:sp>
      <p:sp>
        <p:nvSpPr>
          <p:cNvPr id="13" name="Text 11"/>
          <p:cNvSpPr/>
          <p:nvPr/>
        </p:nvSpPr>
        <p:spPr>
          <a:xfrm>
            <a:off x="914400" y="4114800"/>
            <a:ext cx="7315200" cy="274320"/>
          </a:xfrm>
          <a:prstGeom prst="rect">
            <a:avLst/>
          </a:prstGeom>
          <a:noFill/>
          <a:ln/>
        </p:spPr>
        <p:txBody>
          <a:bodyPr wrap="square" rtlCol="0" anchor="ctr"/>
          <a:lstStyle/>
          <a:p>
            <a:pPr marL="0" indent="0">
              <a:buNone/>
            </a:pPr>
            <a:r>
              <a:rPr lang="en-US" sz="1200" dirty="0">
                <a:solidFill>
                  <a:srgbClr val="ECF0F1"/>
                </a:solidFill>
              </a:rPr>
              <a:t>✓ NULL handling in queries (IS NULL, IS NOT NULL)</a:t>
            </a:r>
            <a:endParaRPr lang="en-US" sz="1200" dirty="0"/>
          </a:p>
        </p:txBody>
      </p:sp>
      <p:sp>
        <p:nvSpPr>
          <p:cNvPr id="14" name="Text 12"/>
          <p:cNvSpPr/>
          <p:nvPr/>
        </p:nvSpPr>
        <p:spPr>
          <a:xfrm>
            <a:off x="914400" y="4398264"/>
            <a:ext cx="7315200" cy="274320"/>
          </a:xfrm>
          <a:prstGeom prst="rect">
            <a:avLst/>
          </a:prstGeom>
          <a:noFill/>
          <a:ln/>
        </p:spPr>
        <p:txBody>
          <a:bodyPr wrap="square" rtlCol="0" anchor="ctr"/>
          <a:lstStyle/>
          <a:p>
            <a:pPr marL="0" indent="0">
              <a:buNone/>
            </a:pPr>
            <a:r>
              <a:rPr lang="en-US" sz="1200" dirty="0">
                <a:solidFill>
                  <a:srgbClr val="ECF0F1"/>
                </a:solidFill>
              </a:rPr>
              <a:t>✓ Real-world scenarios: Student, Employee, Library, E-commerce, Hospital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4358</Words>
  <Application>Microsoft Office PowerPoint</Application>
  <PresentationFormat>On-screen Show (16:9)</PresentationFormat>
  <Paragraphs>207</Paragraphs>
  <Slides>25</Slides>
  <Notes>25</Notes>
  <HiddenSlides>18</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Sierra Learning</cp:lastModifiedBy>
  <cp:revision>40</cp:revision>
  <dcterms:created xsi:type="dcterms:W3CDTF">2026-07-30T08:52:10Z</dcterms:created>
  <dcterms:modified xsi:type="dcterms:W3CDTF">2026-08-03T04:38:42Z</dcterms:modified>
</cp:coreProperties>
</file>