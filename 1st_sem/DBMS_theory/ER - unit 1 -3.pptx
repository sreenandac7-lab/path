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3"/>
  </p:notesMasterIdLst>
  <p:sldIdLst>
    <p:sldId id="256" r:id="rId2"/>
    <p:sldId id="293" r:id="rId3"/>
    <p:sldId id="294" r:id="rId4"/>
    <p:sldId id="274" r:id="rId5"/>
    <p:sldId id="275" r:id="rId6"/>
    <p:sldId id="295" r:id="rId7"/>
    <p:sldId id="296" r:id="rId8"/>
    <p:sldId id="301" r:id="rId9"/>
    <p:sldId id="302" r:id="rId10"/>
    <p:sldId id="263" r:id="rId11"/>
    <p:sldId id="278" r:id="rId12"/>
    <p:sldId id="264" r:id="rId13"/>
    <p:sldId id="265" r:id="rId14"/>
    <p:sldId id="266" r:id="rId15"/>
    <p:sldId id="277" r:id="rId16"/>
    <p:sldId id="280" r:id="rId17"/>
    <p:sldId id="267" r:id="rId18"/>
    <p:sldId id="276" r:id="rId19"/>
    <p:sldId id="269" r:id="rId20"/>
    <p:sldId id="270" r:id="rId21"/>
    <p:sldId id="297" r:id="rId22"/>
    <p:sldId id="298" r:id="rId23"/>
    <p:sldId id="308" r:id="rId24"/>
    <p:sldId id="305" r:id="rId25"/>
    <p:sldId id="299" r:id="rId26"/>
    <p:sldId id="307" r:id="rId27"/>
    <p:sldId id="300" r:id="rId28"/>
    <p:sldId id="309" r:id="rId29"/>
    <p:sldId id="306" r:id="rId30"/>
    <p:sldId id="279" r:id="rId31"/>
    <p:sldId id="30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5583" autoAdjust="0"/>
  </p:normalViewPr>
  <p:slideViewPr>
    <p:cSldViewPr snapToGrid="0">
      <p:cViewPr varScale="1">
        <p:scale>
          <a:sx n="70" d="100"/>
          <a:sy n="70" d="100"/>
        </p:scale>
        <p:origin x="11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6D7E8-EF39-489B-9C3F-B5ADADF0F7B2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4AAF9-C1DD-4400-A11D-6BEE7D9D03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86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Data </a:t>
            </a:r>
            <a:r>
              <a:rPr lang="en-IN" dirty="0" err="1"/>
              <a:t>Modeling</a:t>
            </a:r>
            <a:r>
              <a:rPr lang="en-IN" dirty="0"/>
              <a:t> is the process of creating a visual representation</a:t>
            </a:r>
            <a:r>
              <a:rPr lang="en-IN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how data should be organized in a database.</a:t>
            </a:r>
          </a:p>
          <a:p>
            <a:r>
              <a:rPr lang="en-US" sz="1200" b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OR</a:t>
            </a:r>
          </a:p>
          <a:p>
            <a:r>
              <a:rPr lang="en-IN" dirty="0"/>
              <a:t>Data </a:t>
            </a:r>
            <a:r>
              <a:rPr lang="en-IN" dirty="0" err="1"/>
              <a:t>Modeling</a:t>
            </a:r>
            <a:r>
              <a:rPr lang="en-IN" dirty="0"/>
              <a:t> is simply </a:t>
            </a:r>
            <a:r>
              <a:rPr lang="en-IN" b="1" dirty="0"/>
              <a:t>planning a database before creating it.</a:t>
            </a:r>
          </a:p>
          <a:p>
            <a:endParaRPr lang="en-I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/>
              <a:t>It can be drawn by an individual or by a group, depending on the size of the project.</a:t>
            </a:r>
            <a:endParaRPr lang="en-IN" dirty="0"/>
          </a:p>
          <a:p>
            <a:endParaRPr lang="en-US" b="0" dirty="0"/>
          </a:p>
          <a:p>
            <a:r>
              <a:rPr lang="en-IN" dirty="0"/>
              <a:t>one person usually draws it, but the whole team reviews and approves it.</a:t>
            </a:r>
          </a:p>
          <a:p>
            <a:endParaRPr lang="en-IN" b="0" dirty="0"/>
          </a:p>
          <a:p>
            <a:r>
              <a:rPr lang="en-IN" dirty="0"/>
              <a:t>For example:</a:t>
            </a:r>
          </a:p>
          <a:p>
            <a:r>
              <a:rPr lang="en-IN" dirty="0"/>
              <a:t>Team</a:t>
            </a:r>
          </a:p>
          <a:p>
            <a:r>
              <a:rPr lang="en-IN" dirty="0"/>
              <a:t>Database Module</a:t>
            </a:r>
          </a:p>
          <a:p>
            <a:r>
              <a:rPr lang="en-IN" dirty="0"/>
              <a:t>User </a:t>
            </a:r>
            <a:r>
              <a:rPr lang="en-IN" dirty="0" err="1"/>
              <a:t>TeamUser</a:t>
            </a:r>
            <a:r>
              <a:rPr lang="en-IN" dirty="0"/>
              <a:t>, Login, Profile</a:t>
            </a:r>
          </a:p>
          <a:p>
            <a:r>
              <a:rPr lang="en-IN" dirty="0"/>
              <a:t>Shopping </a:t>
            </a:r>
            <a:r>
              <a:rPr lang="en-IN" dirty="0" err="1"/>
              <a:t>TeamProduct</a:t>
            </a:r>
            <a:r>
              <a:rPr lang="en-IN" dirty="0"/>
              <a:t>, Cart, Wishlist</a:t>
            </a:r>
          </a:p>
          <a:p>
            <a:r>
              <a:rPr lang="en-IN" dirty="0"/>
              <a:t>Order </a:t>
            </a:r>
            <a:r>
              <a:rPr lang="en-IN" dirty="0" err="1"/>
              <a:t>TeamOrders</a:t>
            </a:r>
            <a:r>
              <a:rPr lang="en-IN" dirty="0"/>
              <a:t>, Payments</a:t>
            </a:r>
          </a:p>
          <a:p>
            <a:r>
              <a:rPr lang="en-IN" dirty="0"/>
              <a:t>Delivery </a:t>
            </a:r>
            <a:r>
              <a:rPr lang="en-IN" dirty="0" err="1"/>
              <a:t>TeamDelivery</a:t>
            </a:r>
            <a:r>
              <a:rPr lang="en-IN" dirty="0"/>
              <a:t>, Tracking</a:t>
            </a:r>
          </a:p>
          <a:p>
            <a:r>
              <a:rPr lang="en-IN" dirty="0"/>
              <a:t>Support </a:t>
            </a:r>
            <a:r>
              <a:rPr lang="en-IN" dirty="0" err="1"/>
              <a:t>TeamComplaints</a:t>
            </a:r>
            <a:endParaRPr lang="en-IN" dirty="0"/>
          </a:p>
          <a:p>
            <a:r>
              <a:rPr lang="en-IN" dirty="0"/>
              <a:t>Each team designs its own ER diagram.</a:t>
            </a:r>
          </a:p>
          <a:p>
            <a:r>
              <a:rPr lang="en-IN" dirty="0"/>
              <a:t>Later, all the diagrams are combined into one large database design.</a:t>
            </a:r>
          </a:p>
          <a:p>
            <a:endParaRPr lang="en-US" b="0" dirty="0"/>
          </a:p>
          <a:p>
            <a:endParaRPr lang="en-US" b="0" dirty="0"/>
          </a:p>
          <a:p>
            <a:r>
              <a:rPr lang="en-IN" dirty="0"/>
              <a:t>Who Actually Draws It?</a:t>
            </a:r>
          </a:p>
          <a:p>
            <a:r>
              <a:rPr lang="en-IN" b="1" dirty="0"/>
              <a:t>Business Analyst (BA)</a:t>
            </a:r>
            <a:r>
              <a:rPr lang="en-IN" dirty="0"/>
              <a:t> Understands the client's requirements. </a:t>
            </a:r>
          </a:p>
          <a:p>
            <a:r>
              <a:rPr lang="en-IN" dirty="0"/>
              <a:t>Doesn't usually draw the final ER diagram but provides the requirements. </a:t>
            </a:r>
          </a:p>
          <a:p>
            <a:r>
              <a:rPr lang="en-IN" b="1" dirty="0"/>
              <a:t>Database Designer / Database Architect</a:t>
            </a:r>
            <a:r>
              <a:rPr lang="en-IN" dirty="0"/>
              <a:t> Creates the ER diagram. </a:t>
            </a:r>
          </a:p>
          <a:p>
            <a:r>
              <a:rPr lang="en-IN" dirty="0"/>
              <a:t>Decides entities, attributes, relationships, keys, and constraints. </a:t>
            </a:r>
          </a:p>
          <a:p>
            <a:r>
              <a:rPr lang="en-IN" b="1" dirty="0"/>
              <a:t>Developers</a:t>
            </a:r>
            <a:r>
              <a:rPr lang="en-IN" dirty="0"/>
              <a:t> Review the design. </a:t>
            </a:r>
          </a:p>
          <a:p>
            <a:r>
              <a:rPr lang="en-IN" dirty="0"/>
              <a:t>Suggest changes if needed. </a:t>
            </a:r>
          </a:p>
          <a:p>
            <a:r>
              <a:rPr lang="en-IN" b="1" dirty="0"/>
              <a:t>Client / Stakeholders</a:t>
            </a:r>
            <a:r>
              <a:rPr lang="en-IN" dirty="0"/>
              <a:t> Verify that the design meets business needs.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world objects that can be uniquely identified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If the value can be calculated,</a:t>
            </a:r>
          </a:p>
          <a:p>
            <a:r>
              <a:rPr lang="en-IN" dirty="0"/>
              <a:t>it is usually a </a:t>
            </a:r>
            <a:r>
              <a:rPr lang="en-IN" b="1" dirty="0"/>
              <a:t>Derived Attribute</a:t>
            </a:r>
            <a:r>
              <a:rPr lang="en-IN" dirty="0"/>
              <a:t>.</a:t>
            </a:r>
          </a:p>
          <a:p>
            <a:r>
              <a:rPr lang="en-US" dirty="0"/>
              <a:t>Eg : Age from DOB</a:t>
            </a:r>
          </a:p>
          <a:p>
            <a:r>
              <a:rPr lang="en-US" dirty="0"/>
              <a:t>       Percentage from Marks</a:t>
            </a:r>
          </a:p>
          <a:p>
            <a:r>
              <a:rPr lang="en-US" dirty="0"/>
              <a:t>       Total amount from Price + Quantity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0758E-5C94-1758-6135-5129186D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D6348-A4E6-13E7-19B1-35F23919F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440EB-ADBE-1B79-57F3-EA2781E2B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multivalued attribute</a:t>
            </a:r>
            <a:r>
              <a:rPr lang="en-IN" dirty="0"/>
              <a:t> is an attribute that can have </a:t>
            </a:r>
            <a:r>
              <a:rPr lang="en-IN" b="1" dirty="0"/>
              <a:t>more than one value</a:t>
            </a:r>
            <a:r>
              <a:rPr lang="en-IN" dirty="0"/>
              <a:t> for a single entity.</a:t>
            </a:r>
          </a:p>
          <a:p>
            <a:r>
              <a:rPr lang="en-IN" b="1" dirty="0"/>
              <a:t>ER Symbol:</a:t>
            </a:r>
            <a:r>
              <a:rPr lang="en-IN" dirty="0"/>
              <a:t> Double Oval</a:t>
            </a:r>
          </a:p>
          <a:p>
            <a:endParaRPr lang="en-US" dirty="0"/>
          </a:p>
          <a:p>
            <a:r>
              <a:rPr lang="en-US" dirty="0"/>
              <a:t>Eg : student phone number : one stud many number</a:t>
            </a:r>
          </a:p>
          <a:p>
            <a:r>
              <a:rPr lang="en-US" dirty="0"/>
              <a:t>       Hobbies : Many hobbies</a:t>
            </a:r>
          </a:p>
          <a:p>
            <a:r>
              <a:rPr lang="en-US" dirty="0"/>
              <a:t>       Emp skills : </a:t>
            </a:r>
            <a:r>
              <a:rPr lang="en-US" dirty="0" err="1"/>
              <a:t>Java,python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       Customer email id : Many</a:t>
            </a:r>
          </a:p>
          <a:p>
            <a:r>
              <a:rPr lang="en-US" dirty="0"/>
              <a:t>        Language : Multiple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"Not every entity in a database can exist independently.</a:t>
            </a:r>
          </a:p>
          <a:p>
            <a:r>
              <a:rPr lang="en-IN" dirty="0"/>
              <a:t>Some entities depend on another entity for their identity.</a:t>
            </a:r>
          </a:p>
          <a:p>
            <a:r>
              <a:rPr lang="en-IN" dirty="0"/>
              <a:t>To connect such entities, we use something called an </a:t>
            </a:r>
            <a:r>
              <a:rPr lang="en-IN" b="1" dirty="0"/>
              <a:t>Identifying Relationship</a:t>
            </a:r>
            <a:r>
              <a:rPr lang="en-IN" dirty="0"/>
              <a:t>."</a:t>
            </a:r>
          </a:p>
          <a:p>
            <a:endParaRPr lang="en-US" dirty="0"/>
          </a:p>
          <a:p>
            <a:r>
              <a:rPr lang="en-US" dirty="0"/>
              <a:t>Employee -&gt; </a:t>
            </a:r>
            <a:r>
              <a:rPr lang="en-US" dirty="0" err="1"/>
              <a:t>Wife,son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IN" dirty="0"/>
              <a:t>Normal relationship</a:t>
            </a:r>
          </a:p>
          <a:p>
            <a:r>
              <a:rPr lang="en-IN" dirty="0"/>
              <a:t>→ Single Diamond</a:t>
            </a:r>
          </a:p>
          <a:p>
            <a:r>
              <a:rPr lang="en-IN" dirty="0"/>
              <a:t>Identifying Relationship</a:t>
            </a:r>
          </a:p>
          <a:p>
            <a:r>
              <a:rPr lang="en-IN" dirty="0"/>
              <a:t>→ Double Diamond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Weak entity   : </a:t>
            </a:r>
            <a:r>
              <a:rPr lang="en-IN" dirty="0"/>
              <a:t>"Weak means something that cannot stand alone.</a:t>
            </a:r>
          </a:p>
          <a:p>
            <a:r>
              <a:rPr lang="en-IN" dirty="0"/>
              <a:t>Similarly,</a:t>
            </a:r>
          </a:p>
          <a:p>
            <a:r>
              <a:rPr lang="en-IN" dirty="0"/>
              <a:t>a weak entity cannot exist independently."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A weak entity is an entity that cannot be uniquely identified by its own attributes and depends on another entity for its existence.</a:t>
            </a:r>
          </a:p>
          <a:p>
            <a:endParaRPr lang="en-IN" dirty="0"/>
          </a:p>
          <a:p>
            <a:r>
              <a:rPr lang="en-IN" dirty="0"/>
              <a:t>Strong entity : Employee (Has </a:t>
            </a:r>
            <a:r>
              <a:rPr lang="en-IN" dirty="0" err="1"/>
              <a:t>Emp_Id</a:t>
            </a:r>
            <a:r>
              <a:rPr lang="en-IN" dirty="0"/>
              <a:t>)</a:t>
            </a:r>
          </a:p>
          <a:p>
            <a:r>
              <a:rPr lang="en-IN" dirty="0"/>
              <a:t>Weak entity : Dependent</a:t>
            </a:r>
          </a:p>
          <a:p>
            <a:r>
              <a:rPr lang="en-IN" dirty="0" err="1"/>
              <a:t>DependentName</a:t>
            </a:r>
            <a:r>
              <a:rPr lang="en-IN" dirty="0"/>
              <a:t> alone isn't enough.</a:t>
            </a:r>
          </a:p>
          <a:p>
            <a:r>
              <a:rPr lang="en-IN" dirty="0" err="1"/>
              <a:t>EmployeeID</a:t>
            </a:r>
            <a:r>
              <a:rPr lang="en-IN" dirty="0"/>
              <a:t> is also required.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377F4-807E-4E91-7CBD-12187D6F0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90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843C6-8F5C-8D00-072E-320C8092C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E4BB8-AEDE-2F67-7989-856E35863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2D528-0C23-54F5-E046-BC9CF2381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A1519-C196-F29E-F890-E38A47EA2A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96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600" dirty="0"/>
          </a:p>
          <a:p>
            <a:r>
              <a:rPr lang="en-IN" sz="1600" b="1" dirty="0"/>
              <a:t>Relationship tells us </a:t>
            </a:r>
            <a:r>
              <a:rPr lang="en-IN" sz="1600" b="1" i="1" dirty="0"/>
              <a:t>what</a:t>
            </a:r>
            <a:r>
              <a:rPr lang="en-IN" sz="1600" b="1" dirty="0"/>
              <a:t> connects two entities.</a:t>
            </a:r>
            <a:endParaRPr lang="en-IN" sz="1600" dirty="0"/>
          </a:p>
          <a:p>
            <a:r>
              <a:rPr lang="en-IN" sz="1600" dirty="0"/>
              <a:t>	Example: Student </a:t>
            </a:r>
            <a:r>
              <a:rPr lang="en-IN" sz="1600" b="1" dirty="0" err="1"/>
              <a:t>enrolls</a:t>
            </a:r>
            <a:r>
              <a:rPr lang="en-IN" sz="1600" b="1" dirty="0"/>
              <a:t> in</a:t>
            </a:r>
            <a:r>
              <a:rPr lang="en-IN" sz="1600" dirty="0"/>
              <a:t> Course.</a:t>
            </a:r>
          </a:p>
          <a:p>
            <a:r>
              <a:rPr lang="en-IN" sz="1600" b="1" dirty="0"/>
              <a:t>Cardinality tells us </a:t>
            </a:r>
            <a:r>
              <a:rPr lang="en-IN" sz="1600" b="1" i="1" dirty="0"/>
              <a:t>how many</a:t>
            </a:r>
            <a:r>
              <a:rPr lang="en-IN" sz="1600" b="1" dirty="0"/>
              <a:t> instances participate in that relationship.</a:t>
            </a:r>
            <a:endParaRPr lang="en-IN" sz="1600" dirty="0"/>
          </a:p>
          <a:p>
            <a:r>
              <a:rPr lang="en-IN" sz="1600" dirty="0"/>
              <a:t>	Example: One student can </a:t>
            </a:r>
            <a:r>
              <a:rPr lang="en-IN" sz="1600" dirty="0" err="1"/>
              <a:t>enroll</a:t>
            </a:r>
            <a:r>
              <a:rPr lang="en-IN" sz="1600" dirty="0"/>
              <a:t> in many courses, and one course can have many students, so the cardinality is </a:t>
            </a:r>
            <a:r>
              <a:rPr lang="en-IN" sz="1600" b="1" dirty="0"/>
              <a:t>Many-to-Many (M:N)</a:t>
            </a:r>
            <a:r>
              <a:rPr lang="en-IN" sz="1600" dirty="0"/>
              <a:t>.</a:t>
            </a:r>
          </a:p>
          <a:p>
            <a:endParaRPr lang="en-I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658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086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Slide 9: One-to-One</a:t>
            </a:r>
          </a:p>
          <a:p>
            <a:r>
              <a:rPr lang="en-IN" b="1" dirty="0"/>
              <a:t>Example</a:t>
            </a:r>
          </a:p>
          <a:p>
            <a:r>
              <a:rPr lang="en-IN" dirty="0"/>
              <a:t>Person ↔ Passport</a:t>
            </a:r>
          </a:p>
          <a:p>
            <a:r>
              <a:rPr lang="en-IN" dirty="0"/>
              <a:t>One passport</a:t>
            </a:r>
          </a:p>
          <a:p>
            <a:r>
              <a:rPr lang="en-IN" dirty="0"/>
              <a:t>One person</a:t>
            </a:r>
          </a:p>
          <a:p>
            <a:r>
              <a:rPr lang="en-IN" dirty="0"/>
              <a:t>Another example</a:t>
            </a:r>
          </a:p>
          <a:p>
            <a:r>
              <a:rPr lang="en-IN" dirty="0"/>
              <a:t>Vehicle ↔ Engine Number</a:t>
            </a:r>
          </a:p>
          <a:p>
            <a:r>
              <a:rPr lang="en-IN" dirty="0"/>
              <a:t>One engine belongs to one vehicle.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159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One-to-Many</a:t>
            </a:r>
          </a:p>
          <a:p>
            <a:r>
              <a:rPr lang="en-IN" dirty="0"/>
              <a:t>Best example</a:t>
            </a:r>
          </a:p>
          <a:p>
            <a:r>
              <a:rPr lang="en-IN" dirty="0"/>
              <a:t>Department → Students</a:t>
            </a:r>
          </a:p>
          <a:p>
            <a:r>
              <a:rPr lang="en-IN" dirty="0"/>
              <a:t>Computer Science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Rahul</a:t>
            </a:r>
          </a:p>
          <a:p>
            <a:r>
              <a:rPr lang="en-IN" dirty="0"/>
              <a:t>Asha</a:t>
            </a:r>
          </a:p>
          <a:p>
            <a:r>
              <a:rPr lang="en-IN" dirty="0"/>
              <a:t>Vivek</a:t>
            </a:r>
          </a:p>
          <a:p>
            <a:r>
              <a:rPr lang="en-IN" dirty="0"/>
              <a:t>Priya</a:t>
            </a:r>
          </a:p>
          <a:p>
            <a:r>
              <a:rPr lang="en-IN" dirty="0"/>
              <a:t>Many students</a:t>
            </a:r>
          </a:p>
          <a:p>
            <a:r>
              <a:rPr lang="en-IN" dirty="0"/>
              <a:t>One department</a:t>
            </a:r>
          </a:p>
          <a:p>
            <a:r>
              <a:rPr lang="en-IN" dirty="0"/>
              <a:t>Ask</a:t>
            </a:r>
          </a:p>
          <a:p>
            <a:r>
              <a:rPr lang="en-IN" dirty="0"/>
              <a:t>"Can one student belong to two departments?"</a:t>
            </a:r>
          </a:p>
          <a:p>
            <a:r>
              <a:rPr lang="en-IN" dirty="0"/>
              <a:t>Generally No.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911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"Relationship tells WHAT.</a:t>
            </a:r>
          </a:p>
          <a:p>
            <a:r>
              <a:rPr lang="en-IN" dirty="0"/>
              <a:t>Cardinality tells HOW MANY."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Teacher teaches Student.</a:t>
            </a:r>
          </a:p>
          <a:p>
            <a:r>
              <a:rPr lang="en-IN" dirty="0"/>
              <a:t>Relationship</a:t>
            </a:r>
          </a:p>
          <a:p>
            <a:r>
              <a:rPr lang="en-IN" dirty="0"/>
              <a:t>Teaches</a:t>
            </a:r>
          </a:p>
          <a:p>
            <a:r>
              <a:rPr lang="en-IN" dirty="0"/>
              <a:t>Cardinality</a:t>
            </a:r>
          </a:p>
          <a:p>
            <a:r>
              <a:rPr lang="en-IN" dirty="0"/>
              <a:t>One teacher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50 students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927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 ===== Contains =====  ORDER_ITEM</a:t>
            </a:r>
          </a:p>
          <a:p>
            <a:r>
              <a:rPr lang="en-US" dirty="0"/>
              <a:t>  ||                         ||</a:t>
            </a:r>
          </a:p>
          <a:p>
            <a:r>
              <a:rPr lang="en-US" dirty="0"/>
              <a:t>(total)                  (total)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An order </a:t>
            </a:r>
            <a:r>
              <a:rPr lang="en-IN" b="1" dirty="0"/>
              <a:t>cannot exist without at least one order item</a:t>
            </a:r>
            <a:r>
              <a:rPr lang="en-IN" dirty="0"/>
              <a:t>. </a:t>
            </a:r>
          </a:p>
          <a:p>
            <a:r>
              <a:rPr lang="en-IN" dirty="0"/>
              <a:t>An order item </a:t>
            </a:r>
            <a:r>
              <a:rPr lang="en-IN" b="1" dirty="0"/>
              <a:t>cannot exist without belonging to an order</a:t>
            </a:r>
            <a:r>
              <a:rPr lang="en-IN" dirty="0"/>
              <a:t>. </a:t>
            </a:r>
          </a:p>
          <a:p>
            <a:r>
              <a:rPr lang="en-IN" dirty="0"/>
              <a:t>So both sides have total participation.</a:t>
            </a:r>
          </a:p>
          <a:p>
            <a:r>
              <a:rPr lang="en-IN" dirty="0"/>
              <a:t>Cardinality: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 (1)  -------- (M) ORDER_ITEM</a:t>
            </a:r>
          </a:p>
          <a:p>
            <a:endParaRPr lang="en-IN" dirty="0"/>
          </a:p>
          <a:p>
            <a:r>
              <a:rPr lang="en-IN" dirty="0"/>
              <a:t>Participation: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       → Total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ORDER_ITEM  → Total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Every entity must have a relationship = Total participation</a:t>
            </a:r>
          </a:p>
          <a:p>
            <a:r>
              <a:rPr lang="en-IN" dirty="0"/>
              <a:t>Some entities may not have a relationship = Partial participation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54AAF9-C1DD-4400-A11D-6BEE7D9D03D0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602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 your ER diagram, </a:t>
            </a:r>
            <a:r>
              <a:rPr lang="en-IN" b="1" dirty="0"/>
              <a:t>HOLD is </a:t>
            </a:r>
            <a:r>
              <a:rPr lang="en-IN" b="1" dirty="0" err="1"/>
              <a:t>modeled</a:t>
            </a:r>
            <a:r>
              <a:rPr lang="en-IN" b="1" dirty="0"/>
              <a:t> as an entity</a:t>
            </a:r>
            <a:r>
              <a:rPr lang="en-IN" dirty="0"/>
              <a:t>, not just the relationship "holds". That changes the cardinality.</a:t>
            </a:r>
          </a:p>
          <a:p>
            <a:r>
              <a:rPr lang="en-IN" dirty="0"/>
              <a:t>Let's understand it with an example.</a:t>
            </a:r>
          </a:p>
          <a:p>
            <a:r>
              <a:rPr lang="en-IN" b="1" dirty="0"/>
              <a:t>What does HOLD represent?</a:t>
            </a:r>
          </a:p>
          <a:p>
            <a:r>
              <a:rPr lang="en-IN" dirty="0"/>
              <a:t>A </a:t>
            </a:r>
            <a:r>
              <a:rPr lang="en-IN" b="1" dirty="0"/>
              <a:t>Hold</a:t>
            </a:r>
            <a:r>
              <a:rPr lang="en-IN" dirty="0"/>
              <a:t> is a reservation record.</a:t>
            </a:r>
          </a:p>
          <a:p>
            <a:r>
              <a:rPr lang="en-IN" dirty="0"/>
              <a:t>For example:</a:t>
            </a:r>
          </a:p>
          <a:p>
            <a:r>
              <a:rPr lang="en-IN" dirty="0" err="1"/>
              <a:t>Hold_ID</a:t>
            </a:r>
            <a:endParaRPr lang="en-IN" dirty="0"/>
          </a:p>
          <a:p>
            <a:r>
              <a:rPr lang="en-IN" dirty="0" err="1"/>
              <a:t>Member_ID</a:t>
            </a:r>
            <a:endParaRPr lang="en-IN" dirty="0"/>
          </a:p>
          <a:p>
            <a:r>
              <a:rPr lang="en-IN" dirty="0" err="1"/>
              <a:t>Book_ID</a:t>
            </a:r>
            <a:endParaRPr lang="en-IN" dirty="0"/>
          </a:p>
          <a:p>
            <a:r>
              <a:rPr lang="en-IN" dirty="0" err="1"/>
              <a:t>Hold_Date</a:t>
            </a:r>
            <a:endParaRPr lang="en-IN" dirty="0"/>
          </a:p>
          <a:p>
            <a:r>
              <a:rPr lang="en-IN" dirty="0"/>
              <a:t>H101M1B1024-Jul-2026</a:t>
            </a:r>
          </a:p>
          <a:p>
            <a:r>
              <a:rPr lang="en-IN" dirty="0"/>
              <a:t>H102M1B2525-Jul-2026</a:t>
            </a:r>
          </a:p>
          <a:p>
            <a:r>
              <a:rPr lang="en-IN" dirty="0"/>
              <a:t>H103M2B1026-Jul-2026</a:t>
            </a:r>
          </a:p>
          <a:p>
            <a:r>
              <a:rPr lang="en-IN" dirty="0"/>
              <a:t>Notice:</a:t>
            </a:r>
          </a:p>
          <a:p>
            <a:r>
              <a:rPr lang="en-IN" dirty="0"/>
              <a:t>Member </a:t>
            </a:r>
            <a:r>
              <a:rPr lang="en-IN" b="1" dirty="0"/>
              <a:t>M1</a:t>
            </a:r>
            <a:r>
              <a:rPr lang="en-IN" dirty="0"/>
              <a:t> has created </a:t>
            </a:r>
            <a:r>
              <a:rPr lang="en-IN" b="1" dirty="0"/>
              <a:t>2 holds</a:t>
            </a:r>
            <a:r>
              <a:rPr lang="en-IN" dirty="0"/>
              <a:t>. </a:t>
            </a:r>
          </a:p>
          <a:p>
            <a:r>
              <a:rPr lang="en-IN" dirty="0"/>
              <a:t>Member </a:t>
            </a:r>
            <a:r>
              <a:rPr lang="en-IN" b="1" dirty="0"/>
              <a:t>M2</a:t>
            </a:r>
            <a:r>
              <a:rPr lang="en-IN" dirty="0"/>
              <a:t> has created </a:t>
            </a:r>
            <a:r>
              <a:rPr lang="en-IN" b="1" dirty="0"/>
              <a:t>1 hold</a:t>
            </a:r>
            <a:r>
              <a:rPr lang="en-IN" dirty="0"/>
              <a:t>. </a:t>
            </a:r>
          </a:p>
          <a:p>
            <a:r>
              <a:rPr lang="en-IN" dirty="0"/>
              <a:t>Each </a:t>
            </a:r>
            <a:r>
              <a:rPr lang="en-IN" b="1" dirty="0"/>
              <a:t>Hold</a:t>
            </a:r>
            <a:r>
              <a:rPr lang="en-IN" dirty="0"/>
              <a:t> belongs to </a:t>
            </a:r>
            <a:r>
              <a:rPr lang="en-IN" b="1" dirty="0"/>
              <a:t>only one member</a:t>
            </a:r>
            <a:r>
              <a:rPr lang="en-IN" dirty="0"/>
              <a:t>.</a:t>
            </a:r>
          </a:p>
          <a:p>
            <a:r>
              <a:rPr lang="en-IN" dirty="0"/>
              <a:t>So,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MEMBER 1 -------- M HOLD</a:t>
            </a:r>
          </a:p>
          <a:p>
            <a:r>
              <a:rPr lang="en-IN" dirty="0"/>
              <a:t>means</a:t>
            </a:r>
          </a:p>
          <a:p>
            <a:r>
              <a:rPr lang="en-IN" dirty="0"/>
              <a:t>One member can place many holds. </a:t>
            </a:r>
          </a:p>
          <a:p>
            <a:r>
              <a:rPr lang="en-IN" dirty="0"/>
              <a:t>Every hold is placed by exactly one member. </a:t>
            </a:r>
          </a:p>
          <a:p>
            <a:r>
              <a:rPr lang="en-IN" dirty="0"/>
              <a:t>Hence </a:t>
            </a:r>
            <a:r>
              <a:rPr lang="en-IN" b="1" dirty="0"/>
              <a:t>1:M</a:t>
            </a:r>
            <a:r>
              <a:rPr lang="en-IN" dirty="0"/>
              <a:t>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Why not M:M?</a:t>
            </a:r>
          </a:p>
          <a:p>
            <a:r>
              <a:rPr lang="en-IN" dirty="0"/>
              <a:t>If you directly connect </a:t>
            </a:r>
            <a:r>
              <a:rPr lang="en-IN" b="1" dirty="0"/>
              <a:t>MEMBER</a:t>
            </a:r>
            <a:r>
              <a:rPr lang="en-IN" dirty="0"/>
              <a:t> and </a:t>
            </a:r>
            <a:r>
              <a:rPr lang="en-IN" b="1" dirty="0"/>
              <a:t>BOOK</a:t>
            </a:r>
            <a:r>
              <a:rPr lang="en-IN" dirty="0"/>
              <a:t>, then yes, the relationship is naturally </a:t>
            </a:r>
            <a:r>
              <a:rPr lang="en-IN" b="1" dirty="0"/>
              <a:t>Many-to-Many</a:t>
            </a:r>
            <a:r>
              <a:rPr lang="en-IN" dirty="0"/>
              <a:t>.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MEMBER -------- Places Hold -------- BOOK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                            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IN" dirty="0"/>
              <a:t>Example:</a:t>
            </a:r>
          </a:p>
          <a:p>
            <a:r>
              <a:rPr lang="en-IN" dirty="0"/>
              <a:t>One member can reserve many books. </a:t>
            </a:r>
          </a:p>
          <a:p>
            <a:r>
              <a:rPr lang="en-IN" dirty="0"/>
              <a:t>One book can be reserved by many different members (at different times). </a:t>
            </a:r>
          </a:p>
          <a:p>
            <a:r>
              <a:rPr lang="en-IN" dirty="0"/>
              <a:t>This is an </a:t>
            </a:r>
            <a:r>
              <a:rPr lang="en-IN" b="1" dirty="0"/>
              <a:t>M:M relationship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54AAF9-C1DD-4400-A11D-6BEE7D9D03D0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5533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Cardinality → HOW MANY?</a:t>
            </a:r>
          </a:p>
          <a:p>
            <a:r>
              <a:rPr lang="en-IN" dirty="0"/>
              <a:t>Participation → MUST or MAY?</a:t>
            </a:r>
          </a:p>
          <a:p>
            <a:endParaRPr lang="en-IN" dirty="0"/>
          </a:p>
          <a:p>
            <a:r>
              <a:rPr lang="en-IN" dirty="0"/>
              <a:t>Every entity must have a relationship = Total participation</a:t>
            </a:r>
          </a:p>
          <a:p>
            <a:r>
              <a:rPr lang="en-IN" dirty="0"/>
              <a:t>Some entities may not have a relationship = Partial participation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Total Participation (Mandatory)</a:t>
            </a:r>
          </a:p>
          <a:p>
            <a:r>
              <a:rPr lang="en-IN" b="1" dirty="0"/>
              <a:t>Definition</a:t>
            </a:r>
          </a:p>
          <a:p>
            <a:r>
              <a:rPr lang="en-IN" dirty="0"/>
              <a:t>Every entity </a:t>
            </a:r>
            <a:r>
              <a:rPr lang="en-IN" b="1" dirty="0"/>
              <a:t>must</a:t>
            </a:r>
            <a:r>
              <a:rPr lang="en-IN" dirty="0"/>
              <a:t> participate in the relationship.</a:t>
            </a:r>
          </a:p>
          <a:p>
            <a:r>
              <a:rPr lang="en-IN" dirty="0"/>
              <a:t>No record can exist without participating.</a:t>
            </a:r>
          </a:p>
          <a:p>
            <a:r>
              <a:rPr lang="en-IN" b="1" dirty="0"/>
              <a:t>Symbol</a:t>
            </a:r>
          </a:p>
          <a:p>
            <a:r>
              <a:rPr lang="en-IN" dirty="0"/>
              <a:t>Double line in ER Diagram.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 ═════ Belongs To ───── DEPARTMENT</a:t>
            </a:r>
          </a:p>
          <a:p>
            <a:r>
              <a:rPr lang="en-IN" dirty="0"/>
              <a:t>(Double line on Student side)</a:t>
            </a:r>
          </a:p>
          <a:p>
            <a:endParaRPr lang="en-IN" dirty="0"/>
          </a:p>
          <a:p>
            <a:r>
              <a:rPr lang="en-IN" dirty="0"/>
              <a:t>[ </a:t>
            </a:r>
            <a:r>
              <a:rPr lang="en-IN" dirty="0" err="1"/>
              <a:t>DeptID</a:t>
            </a:r>
            <a:r>
              <a:rPr lang="en-IN" dirty="0"/>
              <a:t> INT NOT NULL ]</a:t>
            </a:r>
          </a:p>
          <a:p>
            <a:r>
              <a:rPr lang="en-IN" dirty="0"/>
              <a:t>Since Department is compulsory,</a:t>
            </a:r>
          </a:p>
          <a:p>
            <a:r>
              <a:rPr lang="en-IN" dirty="0"/>
              <a:t>Foreign Key is </a:t>
            </a:r>
            <a:r>
              <a:rPr lang="en-IN" b="1" dirty="0"/>
              <a:t>NOT NULL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Partial Participation (Optional)</a:t>
            </a:r>
          </a:p>
          <a:p>
            <a:r>
              <a:rPr lang="en-IN" b="1" dirty="0"/>
              <a:t>Definition</a:t>
            </a:r>
          </a:p>
          <a:p>
            <a:r>
              <a:rPr lang="en-IN" dirty="0"/>
              <a:t>Participation is </a:t>
            </a:r>
            <a:r>
              <a:rPr lang="en-IN" b="1" dirty="0"/>
              <a:t>optional</a:t>
            </a:r>
            <a:r>
              <a:rPr lang="en-IN" dirty="0"/>
              <a:t>.</a:t>
            </a:r>
          </a:p>
          <a:p>
            <a:r>
              <a:rPr lang="en-IN" dirty="0"/>
              <a:t>Some records may participate.</a:t>
            </a:r>
          </a:p>
          <a:p>
            <a:r>
              <a:rPr lang="en-IN" dirty="0"/>
              <a:t>Some may not.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Symbol</a:t>
            </a:r>
          </a:p>
          <a:p>
            <a:r>
              <a:rPr lang="en-IN" dirty="0"/>
              <a:t>Single line.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 ───── Gets ───── SCHOLARSHIP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Do all students receive scholarships?</a:t>
            </a:r>
          </a:p>
          <a:p>
            <a:r>
              <a:rPr lang="en-IN" dirty="0"/>
              <a:t>No.</a:t>
            </a:r>
          </a:p>
          <a:p>
            <a:r>
              <a:rPr lang="en-IN" dirty="0"/>
              <a:t>Some students receive scholarships.</a:t>
            </a:r>
          </a:p>
          <a:p>
            <a:r>
              <a:rPr lang="en-IN" dirty="0"/>
              <a:t>Some don't.</a:t>
            </a:r>
          </a:p>
          <a:p>
            <a:r>
              <a:rPr lang="en-IN" dirty="0"/>
              <a:t>Therefore,</a:t>
            </a:r>
          </a:p>
          <a:p>
            <a:r>
              <a:rPr lang="en-IN" b="1" dirty="0"/>
              <a:t>STUDENT has Partial Participation.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048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20717-546E-4F2E-687C-A9D73E97D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E4F95E-ADB2-C3F1-AC4C-4A3A4789C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EAEC7-9264-88A1-E2AB-A6B6C64E3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FD30-04CD-4B5F-A577-34A2C646B09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7CC4A-CA9C-1C57-0A87-1F96E0A2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4F3BD-DFAB-2C27-3CC0-E07DBDBA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D837-F02B-41BA-8263-30FD9C4CD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67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B6601-4BAD-4D1B-14F6-8DB92FF8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6D43E-39BC-A947-02CE-26E7EFB0B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578A9-F167-3B7C-AE48-211C40974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FD30-04CD-4B5F-A577-34A2C646B09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6DBEE-F4A1-4652-CA01-8A25D673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BDB79-CAD8-A011-9C92-78A42137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D837-F02B-41BA-8263-30FD9C4CD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70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161-CE2D-5E53-DAAD-9E699F5B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4CB34-9227-5260-D614-E10F84DE4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433B0-0098-DB6C-51DC-727EDDB8E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FD30-04CD-4B5F-A577-34A2C646B09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D95CD-A9CC-BCFE-74DC-33B23483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68E3B-DB59-7EB7-E87B-A0136706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D837-F02B-41BA-8263-30FD9C4CD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26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65D9-E74B-FB34-A26C-7916DF79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934F8-7FAA-F3E6-6CF4-6DD5A7CD7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8D5A3-42A7-76FC-0569-AAE9235EA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412DC-7368-F2E4-001C-83C361E05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FD30-04CD-4B5F-A577-34A2C646B09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5FD5D-92CB-B1FA-D557-B91894F2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01BC7-7070-1830-BFA9-1B74EA6E2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D837-F02B-41BA-8263-30FD9C4CD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020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84325-6278-A5B9-853E-3BFAD998C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9EA3E-5D52-92A7-6A3E-E7CDDB77D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9C5F9-05AC-6639-8471-8DF3BC33D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E1098-4022-9C55-F192-419279480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30638-CDB8-F3DA-76F3-F3D526E80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147326-3518-D95C-F761-159560A03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FD30-04CD-4B5F-A577-34A2C646B09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7807A-DF22-FA27-7A2A-85594F68D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270875-F025-A699-060B-D2EBA8703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D837-F02B-41BA-8263-30FD9C4CD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167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4BCD-33CA-A5F9-D980-55F7DCB0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8C4618-A72E-5914-2D88-15559586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FD30-04CD-4B5F-A577-34A2C646B09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AFF68-61A5-998D-BD28-D8810B94F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FD5F5B-410A-6F9A-BC24-997D9A99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D837-F02B-41BA-8263-30FD9C4CD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427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8ED7A-06B4-C4F6-23ED-958A05F2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FD30-04CD-4B5F-A577-34A2C646B09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6507F-1AA3-E78B-B27A-E1A2AE738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DF285-7B98-685C-3CE6-C586710E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D837-F02B-41BA-8263-30FD9C4CD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914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9F236-8B2C-90C8-49B3-0D94F343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11619-4179-102B-9B04-F11C130B5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4991E-939B-DC04-4196-C6B435AC8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5C124-5862-4770-890B-7A163CAC1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FD30-04CD-4B5F-A577-34A2C646B09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3E484-2D89-2C9C-6902-A32AFE1B9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B4946-901B-782A-035F-D3713FBC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D837-F02B-41BA-8263-30FD9C4CD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19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089E-70EB-6095-47C9-95E7E362E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00A3CE-9EA7-5316-BE14-C7A08A31D2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95F9CE-5AE9-854D-5B30-78110EE3C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46A88-9F83-6CA5-7DA0-02C53EC84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FD30-04CD-4B5F-A577-34A2C646B09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6F494-21DE-5B53-D215-C4CDF56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FE15B-86EC-3939-38E0-66F4FDD0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D837-F02B-41BA-8263-30FD9C4CD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37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7A921-4A2E-4C91-4C7F-C742B7DA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FE607-543F-F19D-010E-C5677DADF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12292-3F91-04B7-D8E6-0DF36C8E9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FD30-04CD-4B5F-A577-34A2C646B09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F6058-8A19-4BAB-2BF0-25DD4647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1D53F-7A54-9B61-B62E-A27B4B27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D837-F02B-41BA-8263-30FD9C4CD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162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6EA3BD-66F1-7B3F-C28B-8A25BEF9A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C4108-C86B-3F20-4D70-CA53B71C3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8900E-BB73-54E5-5792-48B1DB10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FD30-04CD-4B5F-A577-34A2C646B09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B00D1-F573-0FBA-A666-863FD0316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86C6-04D0-14E2-BC95-9239A266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D837-F02B-41BA-8263-30FD9C4CD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99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996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87FCBD-B4F4-B4C6-7861-735B1FB1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EF632-777B-76A1-0185-81D44AB1D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85952-D1D9-F9D2-4AEF-4800CED46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4FD30-04CD-4B5F-A577-34A2C646B098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ADF35-3971-669E-0D25-96EA0909AE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A2985-7BF4-70EB-2C9F-004CAF13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ED837-F02B-41BA-8263-30FD9C4CD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20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1F724-5D80-E4AB-DE14-81423C8C4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9403"/>
            <a:ext cx="9144000" cy="2387600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DATA MODELLING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293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25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What is Data Modeling?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798320" y="1863090"/>
            <a:ext cx="8229600" cy="1083310"/>
          </a:xfrm>
          <a:prstGeom prst="rect">
            <a:avLst/>
          </a:prstGeom>
          <a:solidFill>
            <a:srgbClr val="ECF0F1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8212" y="2000249"/>
            <a:ext cx="7846828" cy="6770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>
              <a:solidFill>
                <a:srgbClr val="2C3E5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modeling </a:t>
            </a:r>
            <a:r>
              <a:rPr lang="en-US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 the process of creating a </a:t>
            </a:r>
            <a:r>
              <a:rPr lang="en-US" b="1" dirty="0">
                <a:solidFill>
                  <a:srgbClr val="2C3E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 representation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data, its structure, relationships, and constraints before implementing the database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98320" y="361061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Data Modeling Important?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981200" y="397637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Helps plan database before creating tables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81200" y="436041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Ensures data organization is logical and efficient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81200" y="474446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Reduces data redundancy and improves data quality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81200" y="512851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Makes communication easier between developers and stakeholders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250"/>
            <a:ext cx="9144000" cy="64008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981200" y="994410"/>
            <a:ext cx="8229600" cy="57607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WHY: Do We Need the ER Model?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02658" y="1863090"/>
            <a:ext cx="4401902" cy="3657600"/>
          </a:xfrm>
          <a:prstGeom prst="rect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46960" y="204597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 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94185" y="2411730"/>
            <a:ext cx="3927495" cy="26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&amp; Chaos: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48465" y="2879250"/>
            <a:ext cx="3927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discuss database design with non-technical people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18965" y="3430450"/>
            <a:ext cx="40553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standard way to represent data structure visually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38626" y="4060308"/>
            <a:ext cx="417330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Misunderstandings between developer and client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48464" y="4391108"/>
            <a:ext cx="4156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 to identify all entities &amp; relationships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48464" y="4828400"/>
            <a:ext cx="3973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visualize relationships before coding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7439" y="1863090"/>
            <a:ext cx="4667373" cy="3657600"/>
          </a:xfrm>
          <a:prstGeom prst="rect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0320" y="204597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 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0320" y="24117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Solution: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6040" y="2731770"/>
            <a:ext cx="47927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 diagram communicates clearly to everyone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6040" y="3255413"/>
            <a:ext cx="43930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symbols understood by all database professionals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19480" y="3833324"/>
            <a:ext cx="44387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understanding prevents costly mistakes later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70320" y="4299668"/>
            <a:ext cx="44387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Systematic way to find all entities &amp; relationships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6040" y="47111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 complete picture before writing any code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25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Entity-Relationship (ER)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64080" y="190881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Entity-Relationship (ER) model is a high-level data model that describes the structure of a database.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75125" y="229743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by Chen (1976)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64080" y="268605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Main Components: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64080" y="3097530"/>
            <a:ext cx="2560320" cy="237744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</p:sp>
      <p:sp>
        <p:nvSpPr>
          <p:cNvPr id="8" name="Shape 6"/>
          <p:cNvSpPr/>
          <p:nvPr/>
        </p:nvSpPr>
        <p:spPr>
          <a:xfrm>
            <a:off x="2438400" y="3280410"/>
            <a:ext cx="2011680" cy="3200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2438400" y="328041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92680" y="373761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thing or object in real world that can be identified uniquely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Student, Teacher, Course, Book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15840" y="3097530"/>
            <a:ext cx="2560320" cy="2377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sp>
      <p:sp>
        <p:nvSpPr>
          <p:cNvPr id="12" name="Shape 10"/>
          <p:cNvSpPr/>
          <p:nvPr/>
        </p:nvSpPr>
        <p:spPr>
          <a:xfrm>
            <a:off x="5090160" y="3280410"/>
            <a:ext cx="201168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5090160" y="328041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ATTRIBUTE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44440" y="373761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or characteristic of an entity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Student has Name, ID, Age, Email, GPA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67600" y="3097530"/>
            <a:ext cx="2560320" cy="237744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sp>
      <p:sp>
        <p:nvSpPr>
          <p:cNvPr id="16" name="Shape 14"/>
          <p:cNvSpPr/>
          <p:nvPr/>
        </p:nvSpPr>
        <p:spPr>
          <a:xfrm>
            <a:off x="7741920" y="3280410"/>
            <a:ext cx="2011680" cy="3200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7741920" y="328041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RELATIONSHIP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96200" y="373761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between two or more entities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Student enrolls in Course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25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Entities and Attributes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64080" y="190881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71484" y="2228850"/>
            <a:ext cx="44245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object that can be uniquely identified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46960" y="254889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(person)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46960" y="286893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 (academic class)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46960" y="318897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 (physical object)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46960" y="350901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Department (organizational)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46960" y="382905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Teacher (person)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70320" y="190881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70320" y="222885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Properties/characteristics that describe an entity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70320" y="254889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Attributes: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7480" y="286893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Simple: Single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7480" y="318897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Composite: Multiple parts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07480" y="350901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Multi-valued: Multiple values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07480" y="382905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Derived: Calculated value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07480" y="414909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Key: Unique identifier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64080" y="433197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Student Entity Attributes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753329"/>
              </p:ext>
            </p:extLst>
          </p:nvPr>
        </p:nvGraphicFramePr>
        <p:xfrm>
          <a:off x="2164080" y="4673698"/>
          <a:ext cx="7863840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2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Rajesh Kumar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Mumbai, Maharashtra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PhoneNumbers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Multi-valued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9876, 9123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250"/>
            <a:ext cx="9144000" cy="64008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981200" y="774954"/>
            <a:ext cx="8229600" cy="77724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WHY: Do We Need ER Diagram Symbols?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07690" y="2320290"/>
            <a:ext cx="4696870" cy="3680460"/>
          </a:xfrm>
          <a:prstGeom prst="rect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01240" y="1944009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 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46960" y="24117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&amp; Chaos: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15845" y="2859586"/>
            <a:ext cx="43601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Drawings look different to different people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15845" y="3393552"/>
            <a:ext cx="43143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person draws entities differently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15845" y="3972176"/>
            <a:ext cx="43601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understand other's diagrams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15845" y="4513765"/>
            <a:ext cx="43601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Communication fails across teams/organizations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15845" y="5113531"/>
            <a:ext cx="43404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standardize database design process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87440" y="2320290"/>
            <a:ext cx="5178650" cy="3680458"/>
          </a:xfrm>
          <a:prstGeom prst="rect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5564" y="190881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 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04385" y="24117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Solution: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6712" y="2731770"/>
            <a:ext cx="49500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symbols = everyone draws same way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66879" y="3371454"/>
            <a:ext cx="49500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Rectangle for entity, oval for attribute, diamond for relationship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16040" y="4000499"/>
            <a:ext cx="47042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DB professional understands the diagram instantly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16039" y="4627111"/>
            <a:ext cx="49008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Teams communicate effectively using same notation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16039" y="5207435"/>
            <a:ext cx="4950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Consistent, professional approach to design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25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ER Diagram Symbols &amp; Notations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64080" y="190881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symbols used to draw ER Diagrams (Chen's Notation)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55520" y="2274570"/>
            <a:ext cx="1371600" cy="36576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55520" y="227457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0" y="236601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represents an entity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392680" y="2823210"/>
            <a:ext cx="1097280" cy="32004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2680" y="282321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0" y="291465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Ellipse/Oval represents an attribute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346960" y="3371850"/>
            <a:ext cx="1280160" cy="365760"/>
          </a:xfrm>
          <a:prstGeom prst="diamond">
            <a:avLst/>
          </a:prstGeom>
          <a:solidFill>
            <a:srgbClr val="2ECC71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46960" y="337185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10000" y="346329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represents a relationship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38400" y="3920490"/>
            <a:ext cx="914400" cy="274320"/>
          </a:xfrm>
          <a:prstGeom prst="ellipse">
            <a:avLst/>
          </a:prstGeom>
          <a:solidFill>
            <a:srgbClr val="F39C12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8400" y="392049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10000" y="401193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with underline = Primary Key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301240" y="4423410"/>
            <a:ext cx="1188720" cy="320040"/>
          </a:xfrm>
          <a:prstGeom prst="ellipse">
            <a:avLst/>
          </a:prstGeom>
          <a:solidFill>
            <a:srgbClr val="9B59B6"/>
          </a:solidFill>
          <a:ln w="25400">
            <a:solidFill>
              <a:srgbClr val="2C3E5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301240" y="442341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0000" y="451485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oval = Derived/Calculated attribute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64080" y="488061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Notations (on relationship lines):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64080" y="520065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(one) | M or N (many) | 0..1 (zero to one) | 1..* (one to many)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8C1EEA-CC9E-A70F-D4A3-FAAC3ECD7FBB}"/>
              </a:ext>
            </a:extLst>
          </p:cNvPr>
          <p:cNvCxnSpPr>
            <a:cxnSpLocks/>
          </p:cNvCxnSpPr>
          <p:nvPr/>
        </p:nvCxnSpPr>
        <p:spPr>
          <a:xfrm>
            <a:off x="2707640" y="4109720"/>
            <a:ext cx="345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273DC-8FB5-B88B-2167-93C65C51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001731-C090-A894-B12E-C9F788F71295}"/>
              </a:ext>
            </a:extLst>
          </p:cNvPr>
          <p:cNvSpPr/>
          <p:nvPr/>
        </p:nvSpPr>
        <p:spPr>
          <a:xfrm>
            <a:off x="1524000" y="85725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CDB7F9-8BA0-3BB5-7182-EB13231610DD}"/>
              </a:ext>
            </a:extLst>
          </p:cNvPr>
          <p:cNvSpPr/>
          <p:nvPr/>
        </p:nvSpPr>
        <p:spPr>
          <a:xfrm>
            <a:off x="1981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ER Diagram Symbols &amp; Notations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7A0CFA-E5AC-6BD7-94DB-87CBBE10AF41}"/>
              </a:ext>
            </a:extLst>
          </p:cNvPr>
          <p:cNvSpPr/>
          <p:nvPr/>
        </p:nvSpPr>
        <p:spPr>
          <a:xfrm>
            <a:off x="2164080" y="190881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symbols used to draw ER Diagrams (Chen's Notation)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60B27C2-4A84-4401-6740-4FA92B073E81}"/>
              </a:ext>
            </a:extLst>
          </p:cNvPr>
          <p:cNvSpPr/>
          <p:nvPr/>
        </p:nvSpPr>
        <p:spPr>
          <a:xfrm>
            <a:off x="3810000" y="250317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Multivalued Attribute</a:t>
            </a:r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A4A8705-8F10-ECE8-6D82-7DF462A7565F}"/>
              </a:ext>
            </a:extLst>
          </p:cNvPr>
          <p:cNvSpPr/>
          <p:nvPr/>
        </p:nvSpPr>
        <p:spPr>
          <a:xfrm>
            <a:off x="2062480" y="2325370"/>
            <a:ext cx="1427480" cy="49784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8EEB02C-E8F4-80B7-F66A-0BE589D7DC21}"/>
              </a:ext>
            </a:extLst>
          </p:cNvPr>
          <p:cNvSpPr/>
          <p:nvPr/>
        </p:nvSpPr>
        <p:spPr>
          <a:xfrm>
            <a:off x="2108200" y="3012440"/>
            <a:ext cx="1427480" cy="816610"/>
          </a:xfrm>
          <a:prstGeom prst="diamond">
            <a:avLst/>
          </a:prstGeom>
          <a:solidFill>
            <a:srgbClr val="2ECC71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08AEA2D-B07E-E552-59D2-01283BAF8779}"/>
              </a:ext>
            </a:extLst>
          </p:cNvPr>
          <p:cNvSpPr/>
          <p:nvPr/>
        </p:nvSpPr>
        <p:spPr>
          <a:xfrm>
            <a:off x="3810000" y="346329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Identifying relationship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9D53C67-96F1-1179-288C-B9EE32E51BDF}"/>
              </a:ext>
            </a:extLst>
          </p:cNvPr>
          <p:cNvSpPr/>
          <p:nvPr/>
        </p:nvSpPr>
        <p:spPr>
          <a:xfrm>
            <a:off x="3891280" y="451485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attribute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5B7FD44-5E4D-D685-F016-B8D92E19375E}"/>
              </a:ext>
            </a:extLst>
          </p:cNvPr>
          <p:cNvSpPr/>
          <p:nvPr/>
        </p:nvSpPr>
        <p:spPr>
          <a:xfrm>
            <a:off x="2164080" y="2397760"/>
            <a:ext cx="1188720" cy="3340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BAC08B47-93E2-44E1-2F95-191740D5BF4B}"/>
              </a:ext>
            </a:extLst>
          </p:cNvPr>
          <p:cNvSpPr/>
          <p:nvPr/>
        </p:nvSpPr>
        <p:spPr>
          <a:xfrm>
            <a:off x="2331720" y="3136582"/>
            <a:ext cx="980440" cy="551815"/>
          </a:xfrm>
          <a:prstGeom prst="diamond">
            <a:avLst/>
          </a:prstGeom>
          <a:solidFill>
            <a:srgbClr val="2ECC71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83BB578-97AE-324B-3CE3-8044E072FC53}"/>
              </a:ext>
            </a:extLst>
          </p:cNvPr>
          <p:cNvSpPr/>
          <p:nvPr/>
        </p:nvSpPr>
        <p:spPr>
          <a:xfrm>
            <a:off x="2357120" y="4765040"/>
            <a:ext cx="111760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607D864-084D-E286-E5DD-3ACA4D02DFC1}"/>
              </a:ext>
            </a:extLst>
          </p:cNvPr>
          <p:cNvSpPr/>
          <p:nvPr/>
        </p:nvSpPr>
        <p:spPr>
          <a:xfrm>
            <a:off x="1239520" y="4033520"/>
            <a:ext cx="1117600" cy="4635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DE25D68-1CA7-194A-0C9B-FB65599612D0}"/>
              </a:ext>
            </a:extLst>
          </p:cNvPr>
          <p:cNvSpPr/>
          <p:nvPr/>
        </p:nvSpPr>
        <p:spPr>
          <a:xfrm>
            <a:off x="2540000" y="3945255"/>
            <a:ext cx="1117600" cy="4635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0DE4D75-5619-44A5-DC75-1258D9F3D031}"/>
              </a:ext>
            </a:extLst>
          </p:cNvPr>
          <p:cNvCxnSpPr>
            <a:cxnSpLocks/>
            <a:stCxn id="28" idx="4"/>
            <a:endCxn id="26" idx="1"/>
          </p:cNvCxnSpPr>
          <p:nvPr/>
        </p:nvCxnSpPr>
        <p:spPr>
          <a:xfrm>
            <a:off x="1798320" y="4497070"/>
            <a:ext cx="722469" cy="361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063B8D-7D63-E7C9-DBC3-349D8BFD6717}"/>
              </a:ext>
            </a:extLst>
          </p:cNvPr>
          <p:cNvCxnSpPr>
            <a:cxnSpLocks/>
            <a:stCxn id="30" idx="4"/>
            <a:endCxn id="26" idx="0"/>
          </p:cNvCxnSpPr>
          <p:nvPr/>
        </p:nvCxnSpPr>
        <p:spPr>
          <a:xfrm flipH="1">
            <a:off x="2915920" y="4408805"/>
            <a:ext cx="182880" cy="35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4A3081D-9B3D-A01B-7563-37D4FCDE1D86}"/>
              </a:ext>
            </a:extLst>
          </p:cNvPr>
          <p:cNvSpPr/>
          <p:nvPr/>
        </p:nvSpPr>
        <p:spPr>
          <a:xfrm>
            <a:off x="2540000" y="5588000"/>
            <a:ext cx="1270000" cy="412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F2B158-241B-DA2B-1AEC-A832B438DC8F}"/>
              </a:ext>
            </a:extLst>
          </p:cNvPr>
          <p:cNvSpPr/>
          <p:nvPr/>
        </p:nvSpPr>
        <p:spPr>
          <a:xfrm>
            <a:off x="2616200" y="5664200"/>
            <a:ext cx="1117600" cy="260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75779CAE-270D-6FB8-E95A-76CD215D6AE3}"/>
              </a:ext>
            </a:extLst>
          </p:cNvPr>
          <p:cNvSpPr/>
          <p:nvPr/>
        </p:nvSpPr>
        <p:spPr>
          <a:xfrm>
            <a:off x="4084320" y="564617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933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E6631-D120-092A-B80E-1986772B4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90A323-EAE3-E24E-F016-4A127D80C852}"/>
              </a:ext>
            </a:extLst>
          </p:cNvPr>
          <p:cNvSpPr/>
          <p:nvPr/>
        </p:nvSpPr>
        <p:spPr>
          <a:xfrm>
            <a:off x="1524000" y="85725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5AD9F6-2681-1212-1F28-FA789FD4DDFE}"/>
              </a:ext>
            </a:extLst>
          </p:cNvPr>
          <p:cNvSpPr/>
          <p:nvPr/>
        </p:nvSpPr>
        <p:spPr>
          <a:xfrm>
            <a:off x="1981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: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D121BD-072A-F545-49D5-A382C1860B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6" t="3801" r="2288" b="3801"/>
          <a:stretch>
            <a:fillRect/>
          </a:stretch>
        </p:blipFill>
        <p:spPr>
          <a:xfrm>
            <a:off x="2583053" y="1910080"/>
            <a:ext cx="6764147" cy="387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361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Relationships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81200" y="1005840"/>
            <a:ext cx="8229600" cy="91440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2164080" y="1097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describes how entities (tables) are connected. It defines how data in one table relates to data in another table through Foreign Keys.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81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B742952-1E03-854F-CB8D-F6CAEE32AE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1"/>
          <a:stretch>
            <a:fillRect/>
          </a:stretch>
        </p:blipFill>
        <p:spPr>
          <a:xfrm>
            <a:off x="2779898" y="2560320"/>
            <a:ext cx="6332294" cy="26456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89760" y="13716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Cardinality Ratios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61160" y="1659606"/>
            <a:ext cx="2834640" cy="4742688"/>
          </a:xfrm>
          <a:prstGeom prst="roundRect">
            <a:avLst/>
          </a:prstGeom>
          <a:solidFill>
            <a:srgbClr val="E6F5E6"/>
          </a:solidFill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TextBox 4"/>
          <p:cNvSpPr txBox="1"/>
          <p:nvPr/>
        </p:nvSpPr>
        <p:spPr>
          <a:xfrm>
            <a:off x="1844040" y="1796766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8B22"/>
                </a:solidFill>
              </a:defRPr>
            </a:pPr>
            <a:r>
              <a:rPr sz="1600"/>
              <a:t>1:1 (One-to-One)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4040" y="2203787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3264"/>
                </a:solidFill>
              </a:defRPr>
            </a:pPr>
            <a:r>
              <a:rPr sz="1600" dirty="0"/>
              <a:t>STUDENT ↔ PASSPORT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4040" y="25996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 dirty="0"/>
              <a:t>Each student has exactly one passport; each passport belongs to exactly one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4040" y="3877776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28B22"/>
                </a:solidFill>
              </a:defRPr>
            </a:pPr>
            <a:r>
              <a:rPr sz="1600" dirty="0"/>
              <a:t>Real-world Example: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4040" y="4353490"/>
            <a:ext cx="2468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 dirty="0"/>
              <a:t>PERSON ↔ DRIVER_LICENSE</a:t>
            </a:r>
            <a:br>
              <a:rPr sz="1600" dirty="0"/>
            </a:br>
            <a:br>
              <a:rPr sz="1600" dirty="0"/>
            </a:br>
            <a:r>
              <a:rPr sz="1600" dirty="0"/>
              <a:t>One person has one driver's license</a:t>
            </a:r>
            <a:br>
              <a:rPr sz="1600" dirty="0"/>
            </a:br>
            <a:r>
              <a:rPr sz="1600" dirty="0"/>
              <a:t>One license is for one person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78680" y="1671798"/>
            <a:ext cx="2834640" cy="4742688"/>
          </a:xfrm>
          <a:prstGeom prst="roundRect">
            <a:avLst/>
          </a:prstGeom>
          <a:solidFill>
            <a:srgbClr val="E6F0FA"/>
          </a:solidFill>
          <a:ln w="3175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4861560" y="1808958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169E1"/>
                </a:solidFill>
              </a:defRPr>
            </a:pPr>
            <a:r>
              <a:rPr sz="1600"/>
              <a:t>1:N (One-to-Many)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1560" y="2238191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3264"/>
                </a:solidFill>
              </a:defRPr>
            </a:pPr>
            <a:r>
              <a:rPr sz="1600" dirty="0"/>
              <a:t>DEPARTMENT → 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1560" y="2628529"/>
            <a:ext cx="2468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 dirty="0"/>
              <a:t>One department has many students; each student belongs to one 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1560" y="3924316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169E1"/>
                </a:solidFill>
              </a:defRPr>
            </a:pPr>
            <a:r>
              <a:rPr sz="1600" dirty="0"/>
              <a:t>Real-world Example: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280" y="4525369"/>
            <a:ext cx="24688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 dirty="0"/>
              <a:t>UNIVERSITY ↔ STUDENT</a:t>
            </a:r>
            <a:br>
              <a:rPr sz="1600" dirty="0"/>
            </a:br>
            <a:br>
              <a:rPr sz="1600" dirty="0"/>
            </a:br>
            <a:r>
              <a:rPr sz="1600" dirty="0"/>
              <a:t>One university has many students</a:t>
            </a:r>
            <a:br>
              <a:rPr sz="1600" dirty="0"/>
            </a:br>
            <a:r>
              <a:rPr sz="1600" dirty="0"/>
              <a:t>Each student attends one university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6200" y="1635222"/>
            <a:ext cx="2834640" cy="4852416"/>
          </a:xfrm>
          <a:prstGeom prst="roundRect">
            <a:avLst/>
          </a:prstGeom>
          <a:solidFill>
            <a:srgbClr val="FFF0F0"/>
          </a:solidFill>
          <a:ln w="3175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7879080" y="1772382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143C"/>
                </a:solidFill>
              </a:defRPr>
            </a:pPr>
            <a:r>
              <a:rPr sz="1600"/>
              <a:t>M:N (Many-to-Many)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9080" y="2213455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3264"/>
                </a:solidFill>
              </a:defRPr>
            </a:pPr>
            <a:r>
              <a:rPr sz="1600" dirty="0"/>
              <a:t>STUDENT ↔ COURSE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9080" y="2591952"/>
            <a:ext cx="2468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/>
              <a:t>Many students enroll in many courses (requires junction table)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9080" y="3917203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143C"/>
                </a:solidFill>
              </a:defRPr>
            </a:pPr>
            <a:r>
              <a:rPr sz="1600" dirty="0"/>
              <a:t>Real-world Example: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9765" y="4568892"/>
            <a:ext cx="24688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 dirty="0"/>
              <a:t>EMPLOYEE ↔ PROJECT</a:t>
            </a:r>
            <a:br>
              <a:rPr sz="1600" dirty="0"/>
            </a:br>
            <a:br>
              <a:rPr sz="1600" dirty="0"/>
            </a:br>
            <a:r>
              <a:rPr sz="1600" dirty="0"/>
              <a:t>Many employees work on many projects</a:t>
            </a:r>
            <a:br>
              <a:rPr sz="1600" dirty="0"/>
            </a:br>
            <a:r>
              <a:rPr sz="1600" dirty="0"/>
              <a:t>Many projects have many employees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7D367D-1570-2781-4DAB-4C2A6A3C641B}"/>
              </a:ext>
            </a:extLst>
          </p:cNvPr>
          <p:cNvSpPr txBox="1"/>
          <p:nvPr/>
        </p:nvSpPr>
        <p:spPr>
          <a:xfrm>
            <a:off x="1901952" y="831574"/>
            <a:ext cx="5977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sz="4000" dirty="0">
                <a:solidFill>
                  <a:schemeClr val="accent6"/>
                </a:solidFill>
              </a:rPr>
              <a:t>Three Cardinality Ratios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(1:1) Relationships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981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6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in one table corresponds to exactly one record in another table.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895600" y="1554480"/>
            <a:ext cx="182880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8704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4400" y="1828800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15840" y="1600200"/>
            <a:ext cx="548640" cy="228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38800" y="1568302"/>
            <a:ext cx="182880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0240" y="163688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81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Implement (Method 1: FK in STUDENT table):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1981200" y="2697480"/>
          <a:ext cx="6666614" cy="914400"/>
        </p:xfrm>
        <a:graphic>
          <a:graphicData uri="http://schemas.openxmlformats.org/drawingml/2006/table">
            <a:tbl>
              <a:tblPr/>
              <a:tblGrid>
                <a:gridCol w="185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4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0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StudentID (PK)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PassportID (FK, UK)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Amit Kumar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P001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Priya Sharma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P002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1981200" y="3749040"/>
          <a:ext cx="6666614" cy="914400"/>
        </p:xfrm>
        <a:graphic>
          <a:graphicData uri="http://schemas.openxmlformats.org/drawingml/2006/table">
            <a:tbl>
              <a:tblPr/>
              <a:tblGrid>
                <a:gridCol w="185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4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0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PassportID (PK)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PassportNumber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ExpiryDate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P001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AB12345678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2025-06-15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P002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CD87654321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2026-12-20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2164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PassportID is UNIQUE in STUDENT table to enforce 1:1 relationship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(1:N) Relationships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981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6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in table A can relate to many records in table B, but each record in B relates to only one record in 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895600" y="1645920"/>
            <a:ext cx="201168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06A7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8704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07280" y="1920240"/>
            <a:ext cx="1463040" cy="0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81600" y="1691641"/>
            <a:ext cx="731520" cy="1828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70320" y="1645920"/>
            <a:ext cx="201168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06A7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176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81200" y="2423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Table (Parent):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1981200" y="2743200"/>
          <a:ext cx="3674962" cy="914400"/>
        </p:xfrm>
        <a:graphic>
          <a:graphicData uri="http://schemas.openxmlformats.org/drawingml/2006/table">
            <a:tbl>
              <a:tblPr/>
              <a:tblGrid>
                <a:gridCol w="1538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DeptID (PK)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DeptName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Computer Science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D02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Business Admin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278880" y="2423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Table (Child):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/>
        </p:nvGraphicFramePr>
        <p:xfrm>
          <a:off x="6278880" y="2743200"/>
          <a:ext cx="4251960" cy="1219200"/>
        </p:xfrm>
        <a:graphic>
          <a:graphicData uri="http://schemas.openxmlformats.org/drawingml/2006/table">
            <a:tbl>
              <a:tblPr/>
              <a:tblGrid>
                <a:gridCol w="1444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4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StudentID (PK)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DeptID (FK)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Amit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Priya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Rajesh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D02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1981200" y="4023360"/>
            <a:ext cx="8549640" cy="777240"/>
          </a:xfrm>
          <a:prstGeom prst="rect">
            <a:avLst/>
          </a:prstGeom>
          <a:solidFill>
            <a:srgbClr val="21295C">
              <a:alpha val="9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2164080" y="4114800"/>
            <a:ext cx="828400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Foreign Key (DeptID) is placed in the CHILD table (STUDENT). This allows multiple students to have the same DeptID.</a:t>
            </a:r>
            <a:endParaRPr lang="en-US" sz="1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(M:N) Relationships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81200" y="876288"/>
            <a:ext cx="8229600" cy="586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records in table A can relate to many records in table B. Requires a junction/bridge table to implement.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926851" y="1611751"/>
            <a:ext cx="1828800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8291" y="1703191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flipV="1">
            <a:off x="4753337" y="1882128"/>
            <a:ext cx="2152891" cy="2964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98720" y="1691640"/>
            <a:ext cx="1371600" cy="1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06228" y="1645920"/>
            <a:ext cx="2024412" cy="548640"/>
          </a:xfrm>
          <a:prstGeom prst="rect">
            <a:avLst/>
          </a:prstGeom>
          <a:solidFill>
            <a:srgbClr val="E8F4F8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95474" y="17153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1011" y="220685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Tables Needed: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581279" y="2501075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015211" y="2744807"/>
          <a:ext cx="2349149" cy="914400"/>
        </p:xfrm>
        <a:graphic>
          <a:graphicData uri="http://schemas.openxmlformats.org/drawingml/2006/table">
            <a:tbl>
              <a:tblPr/>
              <a:tblGrid>
                <a:gridCol w="130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StudentID (PK)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Amit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Priya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892811" y="2520231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(Junction):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/>
        </p:nvGraphicFramePr>
        <p:xfrm>
          <a:off x="4586178" y="2772065"/>
          <a:ext cx="3136603" cy="1280160"/>
        </p:xfrm>
        <a:graphic>
          <a:graphicData uri="http://schemas.openxmlformats.org/drawingml/2006/table">
            <a:tbl>
              <a:tblPr/>
              <a:tblGrid>
                <a:gridCol w="1245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StudentID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(FK)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CourseID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(FK)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S001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C01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A+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S001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C02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B+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S002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C01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7964154" y="2577381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6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/>
        </p:nvGraphicFramePr>
        <p:xfrm>
          <a:off x="7918434" y="2821113"/>
          <a:ext cx="2258356" cy="822960"/>
        </p:xfrm>
        <a:graphic>
          <a:graphicData uri="http://schemas.openxmlformats.org/drawingml/2006/table">
            <a:tbl>
              <a:tblPr/>
              <a:tblGrid>
                <a:gridCol w="1254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CourseID (PK)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C01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Database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C02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Java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1558725" y="4216159"/>
            <a:ext cx="9062977" cy="9144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8" name="Text 13"/>
          <p:cNvSpPr/>
          <p:nvPr/>
        </p:nvSpPr>
        <p:spPr>
          <a:xfrm>
            <a:off x="1639747" y="4417117"/>
            <a:ext cx="890093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</a:t>
            </a:r>
            <a:r>
              <a:rPr lang="en-US" sz="16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ENROLLMENT table is a junction/bridge table that resolves the M:N relationship.</a:t>
            </a:r>
          </a:p>
          <a:p>
            <a:r>
              <a:rPr lang="en-US" sz="16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It has TWO Foreign Keys (StudentID and CourseID) and optional attributes (Grade, EnrollDate, etc.).        	These two FKs together form the Primary Key.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5439" y="271136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199" y="408297"/>
            <a:ext cx="850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bg1"/>
                </a:solidFill>
              </a:rPr>
              <a:t>Relationship vs. Cardinality: Key Difference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9760" y="1835396"/>
            <a:ext cx="4114800" cy="4229729"/>
          </a:xfrm>
          <a:prstGeom prst="roundRect">
            <a:avLst/>
          </a:prstGeom>
          <a:solidFill>
            <a:srgbClr val="E1EBFF"/>
          </a:solidFill>
          <a:ln w="381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66870" y="1938696"/>
            <a:ext cx="20328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169E1"/>
                </a:solidFill>
              </a:defRPr>
            </a:pPr>
            <a:r>
              <a:rPr sz="2000" dirty="0"/>
              <a:t>RELATIONSHIP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4081" y="2715936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169E1"/>
                </a:solidFill>
              </a:defRPr>
            </a:pPr>
            <a:r>
              <a:rPr sz="1600" dirty="0"/>
              <a:t>WHAT connection exists?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4080" y="3218737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 dirty="0"/>
              <a:t>▸ Describes HOW entities</a:t>
            </a:r>
            <a:br>
              <a:rPr sz="1600" dirty="0"/>
            </a:br>
            <a:r>
              <a:rPr sz="1600" dirty="0"/>
              <a:t>are connected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5519" y="4476351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 dirty="0"/>
              <a:t>▸ Example: Student</a:t>
            </a:r>
            <a:br>
              <a:rPr sz="1600" dirty="0"/>
            </a:br>
            <a:r>
              <a:rPr sz="1600" dirty="0"/>
              <a:t>ENROLLS-IN Course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439" y="1849696"/>
            <a:ext cx="4114800" cy="4229729"/>
          </a:xfrm>
          <a:prstGeom prst="roundRect">
            <a:avLst/>
          </a:prstGeom>
          <a:solidFill>
            <a:srgbClr val="FFF0F0"/>
          </a:solidFill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00478" y="1933519"/>
            <a:ext cx="1843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143C"/>
                </a:solidFill>
              </a:defRPr>
            </a:pPr>
            <a:r>
              <a:rPr sz="2000" dirty="0"/>
              <a:t>CARDINALITY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761" y="2715936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143C"/>
                </a:solidFill>
              </a:defRPr>
            </a:pPr>
            <a:r>
              <a:rPr sz="1600"/>
              <a:t>HOW MANY participate?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760" y="3127417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/>
              <a:t>▸ Quantitative ratio:</a:t>
            </a:r>
            <a:br>
              <a:rPr sz="1600"/>
            </a:br>
            <a:r>
              <a:rPr sz="1600"/>
              <a:t>1:1, 1:N, M:N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760" y="3813217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/>
              <a:t>▸ Specifies NUMBER of</a:t>
            </a:r>
            <a:br>
              <a:rPr sz="1600"/>
            </a:br>
            <a:r>
              <a:rPr sz="1600"/>
              <a:t>instances in relationship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760" y="4499017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/>
              <a:t>▸ Example: One Student</a:t>
            </a:r>
            <a:br>
              <a:rPr sz="1600"/>
            </a:br>
            <a:r>
              <a:rPr sz="1600"/>
              <a:t>enrolls in MANY Courses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498A67-2716-2AE2-385D-3BD82A0C2EEA}"/>
              </a:ext>
            </a:extLst>
          </p:cNvPr>
          <p:cNvSpPr txBox="1"/>
          <p:nvPr/>
        </p:nvSpPr>
        <p:spPr>
          <a:xfrm>
            <a:off x="2255519" y="3813217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 dirty="0"/>
              <a:t>▸ </a:t>
            </a:r>
            <a:r>
              <a:rPr lang="en-US" sz="1600" dirty="0"/>
              <a:t>Specifies the relationship between entities</a:t>
            </a:r>
            <a:endParaRPr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89760" y="137160"/>
            <a:ext cx="8229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sz="3800"/>
              <a:t>Cardinality Notation: Chen's 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1088" y="1261394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3264"/>
                </a:solidFill>
              </a:defRPr>
            </a:pPr>
            <a:r>
              <a:rPr sz="1600" dirty="0"/>
              <a:t>Mathematical Notation (Elmasri &amp; Navathe, 2016):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1950720"/>
            <a:ext cx="914400" cy="365760"/>
          </a:xfrm>
          <a:prstGeom prst="rect">
            <a:avLst/>
          </a:prstGeom>
          <a:solidFill>
            <a:srgbClr val="4169E1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2118360" y="1962912"/>
            <a:ext cx="822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600"/>
              <a:t>(1,1)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9920" y="1917192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169E1"/>
                </a:solidFill>
              </a:defRPr>
            </a:pPr>
            <a:r>
              <a:rPr sz="1600"/>
              <a:t>Exactly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1520" y="1950720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/>
              <a:t>Each student has EXACTLY one StudentID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200" y="2819400"/>
            <a:ext cx="914400" cy="365760"/>
          </a:xfrm>
          <a:prstGeom prst="rect">
            <a:avLst/>
          </a:prstGeom>
          <a:solidFill>
            <a:srgbClr val="4169E1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2118360" y="2831591"/>
            <a:ext cx="822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600"/>
              <a:t>(0,1)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9920" y="2785872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169E1"/>
                </a:solidFill>
              </a:defRPr>
            </a:pPr>
            <a:r>
              <a:rPr sz="1600"/>
              <a:t>Zero or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520" y="2819400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/>
              <a:t>A student may have ZERO or ONE scholarship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200" y="3688080"/>
            <a:ext cx="914400" cy="365760"/>
          </a:xfrm>
          <a:prstGeom prst="rect">
            <a:avLst/>
          </a:prstGeom>
          <a:solidFill>
            <a:srgbClr val="4169E1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2118360" y="3700272"/>
            <a:ext cx="822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600"/>
              <a:t>(1,N)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9920" y="3654552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169E1"/>
                </a:solidFill>
              </a:defRPr>
            </a:pPr>
            <a:r>
              <a:rPr sz="1600"/>
              <a:t>One or more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1520" y="3688080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/>
              <a:t>A department has AT LEAST ONE student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1200" y="4556760"/>
            <a:ext cx="914400" cy="365760"/>
          </a:xfrm>
          <a:prstGeom prst="rect">
            <a:avLst/>
          </a:prstGeom>
          <a:solidFill>
            <a:srgbClr val="4169E1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2118360" y="4568952"/>
            <a:ext cx="822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sz="1600"/>
              <a:t>(0,N)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9920" y="4523232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169E1"/>
                </a:solidFill>
              </a:defRPr>
            </a:pPr>
            <a:r>
              <a:rPr sz="1600"/>
              <a:t>Zero or more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520" y="4556760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/>
              <a:t>A student enrolls in ZERO or MORE courses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Cardinality: The Heart of Relationships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981200" y="777240"/>
            <a:ext cx="8229600" cy="73152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2164080" y="868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specifies the NUMBER of records from one entity that can be associated with records from another entity. It defines the ratio of records in a relationship.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81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Notations: (Min to Max)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981200" y="2057400"/>
            <a:ext cx="8046720" cy="64008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2118360" y="2103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07080" y="2103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90160" y="21031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has exactly 1 ID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81200" y="2834640"/>
            <a:ext cx="8046720" cy="64008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2118360" y="2880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*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07080" y="2880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 More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9016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may have 0 or many students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81200" y="3611880"/>
            <a:ext cx="8046720" cy="64008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2118360" y="3657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07080" y="3657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 One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90160" y="36576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may have 0 or 1 scholarship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981200" y="4389120"/>
            <a:ext cx="8046720" cy="64008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2118360" y="4434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07080" y="4434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90160" y="4434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takes at least 1 course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89760" y="137160"/>
            <a:ext cx="8229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sz="3800"/>
              <a:t>ER Diagrams: Design &amp;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9760" y="1097280"/>
            <a:ext cx="8412480" cy="981759"/>
          </a:xfrm>
          <a:prstGeom prst="roundRect">
            <a:avLst/>
          </a:prstGeom>
          <a:solidFill>
            <a:srgbClr val="E6F0FA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TextBox 4"/>
          <p:cNvSpPr txBox="1"/>
          <p:nvPr/>
        </p:nvSpPr>
        <p:spPr>
          <a:xfrm>
            <a:off x="2072640" y="1188721"/>
            <a:ext cx="8046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A3264"/>
                </a:solidFill>
              </a:defRPr>
            </a:pPr>
            <a:r>
              <a:rPr sz="1600" dirty="0"/>
              <a:t>What is </a:t>
            </a:r>
            <a:r>
              <a:rPr sz="1600" b="1" dirty="0"/>
              <a:t>ER Diagram</a:t>
            </a:r>
            <a:r>
              <a:rPr sz="1600" dirty="0"/>
              <a:t>? </a:t>
            </a:r>
            <a:endParaRPr lang="en-US" sz="1600" dirty="0"/>
          </a:p>
          <a:p>
            <a:pPr>
              <a:defRPr sz="1000" b="0">
                <a:solidFill>
                  <a:srgbClr val="0A3264"/>
                </a:solidFill>
              </a:defRPr>
            </a:pPr>
            <a:r>
              <a:rPr lang="en-GB" sz="1600" dirty="0"/>
              <a:t>	</a:t>
            </a:r>
            <a:r>
              <a:rPr sz="1600" dirty="0"/>
              <a:t>Visual representation of entities (tables), attributes (columns), and relationships between them using boxes, diamonds, and connecting lines.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233573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3264"/>
                </a:solidFill>
              </a:defRPr>
            </a:pPr>
            <a:r>
              <a:rPr sz="1600"/>
              <a:t>Who Refers to ER Diagrams?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55520" y="2761714"/>
            <a:ext cx="22214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169E1"/>
                </a:solidFill>
              </a:defRPr>
            </a:pPr>
            <a:r>
              <a:rPr sz="1600" dirty="0"/>
              <a:t>Database Designers: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632" y="2790035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 dirty="0"/>
              <a:t>Plan database structure before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5520" y="3264634"/>
            <a:ext cx="1645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169E1"/>
                </a:solidFill>
              </a:defRPr>
            </a:pPr>
            <a:r>
              <a:rPr sz="1600"/>
              <a:t>Developers: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999" y="3264634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/>
              <a:t>Understand table relationships and write correct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5520" y="3767554"/>
            <a:ext cx="2221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169E1"/>
                </a:solidFill>
              </a:defRPr>
            </a:pPr>
            <a:r>
              <a:rPr sz="1600" dirty="0"/>
              <a:t>Business Analysts: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999" y="374013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 dirty="0"/>
              <a:t>Document requirements and data structures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5520" y="4270474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169E1"/>
                </a:solidFill>
              </a:defRPr>
            </a:pPr>
            <a:r>
              <a:rPr sz="1600" dirty="0"/>
              <a:t>Database Administrators: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999" y="4270474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/>
              <a:t>Manage, optimize, and maintain databases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5520" y="4773394"/>
            <a:ext cx="1645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169E1"/>
                </a:solidFill>
              </a:defRPr>
            </a:pPr>
            <a:r>
              <a:rPr sz="1600"/>
              <a:t>Project Teams: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999" y="475711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600"/>
              <a:t>Communication and documentation across teams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200" y="213360"/>
            <a:ext cx="84741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Diagram: Cardinality &amp; Participation Notation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8914" y="8969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ER Diagrams: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8914" y="12508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DEPARTMENT → STUDENT (1:N)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29263" y="1847514"/>
            <a:ext cx="1427952" cy="4572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6070" y="1898217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57215" y="2076113"/>
            <a:ext cx="691825" cy="5697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0095" y="184751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04699" y="1798014"/>
            <a:ext cx="1150325" cy="4572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8504" y="18536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71897" y="2079499"/>
            <a:ext cx="1111537" cy="98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98008" y="183204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53714" y="2434459"/>
            <a:ext cx="5148599" cy="28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line = Total participation (every department has students)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1520" y="2451629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line = Partial participation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8914" y="3063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STUDENT ↔ COURSE (M:N)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21234" y="3447307"/>
            <a:ext cx="1340175" cy="457200"/>
          </a:xfrm>
          <a:prstGeom prst="rect">
            <a:avLst/>
          </a:prstGeom>
          <a:solidFill>
            <a:srgbClr val="E8F4F8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2817" y="3482519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 flipV="1">
            <a:off x="2861410" y="3674528"/>
            <a:ext cx="732690" cy="1379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1449" y="344730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7770" y="3412514"/>
            <a:ext cx="1086175" cy="457200"/>
          </a:xfrm>
          <a:prstGeom prst="rect">
            <a:avLst/>
          </a:prstGeom>
          <a:solidFill>
            <a:srgbClr val="E8F4F8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02344" y="34625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13739" y="338646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73495" y="4240947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are double-lined = Both entities have total participation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2309" y="474386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STUDENT ↔ PASSPORT (1:1)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8914" y="6019952"/>
            <a:ext cx="8855568" cy="658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Each customer has exactly one driving license and every driving license is associated with exactly one customer.</a:t>
            </a:r>
            <a:endParaRPr lang="en-US" sz="140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2D4178BA-1107-8AC6-35BF-26DEC107F9C7}"/>
              </a:ext>
            </a:extLst>
          </p:cNvPr>
          <p:cNvSpPr/>
          <p:nvPr/>
        </p:nvSpPr>
        <p:spPr>
          <a:xfrm flipV="1">
            <a:off x="2861410" y="3707907"/>
            <a:ext cx="755550" cy="4195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1A43A31B-98A9-A65B-9578-A27F7710516D}"/>
              </a:ext>
            </a:extLst>
          </p:cNvPr>
          <p:cNvSpPr/>
          <p:nvPr/>
        </p:nvSpPr>
        <p:spPr>
          <a:xfrm>
            <a:off x="4775625" y="3698767"/>
            <a:ext cx="712145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15B13982-4DDE-D679-08B7-F9E245C5C8FF}"/>
              </a:ext>
            </a:extLst>
          </p:cNvPr>
          <p:cNvSpPr/>
          <p:nvPr/>
        </p:nvSpPr>
        <p:spPr>
          <a:xfrm>
            <a:off x="3749040" y="1691063"/>
            <a:ext cx="1122857" cy="79411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Has</a:t>
            </a:r>
            <a:endParaRPr lang="en-IN" sz="1400" dirty="0"/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07FDA96F-1A3A-B6C8-7751-E6F9B45C8263}"/>
              </a:ext>
            </a:extLst>
          </p:cNvPr>
          <p:cNvSpPr/>
          <p:nvPr/>
        </p:nvSpPr>
        <p:spPr>
          <a:xfrm>
            <a:off x="3573554" y="3385086"/>
            <a:ext cx="1202070" cy="58950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45945CC3-965D-6FD5-6E10-2C7434ADCF7F}"/>
              </a:ext>
            </a:extLst>
          </p:cNvPr>
          <p:cNvSpPr/>
          <p:nvPr/>
        </p:nvSpPr>
        <p:spPr>
          <a:xfrm>
            <a:off x="4823139" y="2127061"/>
            <a:ext cx="1181560" cy="5673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95612CE9-C6FE-8096-4777-B179CDDC1731}"/>
              </a:ext>
            </a:extLst>
          </p:cNvPr>
          <p:cNvSpPr/>
          <p:nvPr/>
        </p:nvSpPr>
        <p:spPr>
          <a:xfrm>
            <a:off x="1246688" y="5315403"/>
            <a:ext cx="1427952" cy="4572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A04A75F7-035F-9AC1-860D-53B172DCDE15}"/>
              </a:ext>
            </a:extLst>
          </p:cNvPr>
          <p:cNvSpPr/>
          <p:nvPr/>
        </p:nvSpPr>
        <p:spPr>
          <a:xfrm>
            <a:off x="1073495" y="53661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12B06E41-EF5D-FC87-07AD-ABCFB7CC085C}"/>
              </a:ext>
            </a:extLst>
          </p:cNvPr>
          <p:cNvSpPr/>
          <p:nvPr/>
        </p:nvSpPr>
        <p:spPr>
          <a:xfrm>
            <a:off x="2674640" y="5544003"/>
            <a:ext cx="1214575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A9B93B7D-C30E-3D24-68FD-8FEB79FA00E7}"/>
              </a:ext>
            </a:extLst>
          </p:cNvPr>
          <p:cNvSpPr/>
          <p:nvPr/>
        </p:nvSpPr>
        <p:spPr>
          <a:xfrm>
            <a:off x="2857520" y="531540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CB26B96F-1832-1979-5690-E1BA77B16FC4}"/>
              </a:ext>
            </a:extLst>
          </p:cNvPr>
          <p:cNvSpPr/>
          <p:nvPr/>
        </p:nvSpPr>
        <p:spPr>
          <a:xfrm>
            <a:off x="3244054" y="5133993"/>
            <a:ext cx="1122857" cy="79411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Has</a:t>
            </a:r>
            <a:endParaRPr lang="en-IN" sz="1400" dirty="0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2EA06710-0002-5F76-C6F3-4D7946B06D58}"/>
              </a:ext>
            </a:extLst>
          </p:cNvPr>
          <p:cNvSpPr/>
          <p:nvPr/>
        </p:nvSpPr>
        <p:spPr>
          <a:xfrm>
            <a:off x="4899781" y="5339499"/>
            <a:ext cx="1150325" cy="4572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CDECD896-2138-14E8-8DE4-BAF7C64E2317}"/>
              </a:ext>
            </a:extLst>
          </p:cNvPr>
          <p:cNvSpPr/>
          <p:nvPr/>
        </p:nvSpPr>
        <p:spPr>
          <a:xfrm>
            <a:off x="4621719" y="538282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1400" dirty="0"/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7A343163-889D-8EA6-B76B-C5C453C95E63}"/>
              </a:ext>
            </a:extLst>
          </p:cNvPr>
          <p:cNvSpPr/>
          <p:nvPr/>
        </p:nvSpPr>
        <p:spPr>
          <a:xfrm>
            <a:off x="4340490" y="5523774"/>
            <a:ext cx="559291" cy="3359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C0FF02E7-4E66-360D-00C3-6860E2A9392A}"/>
              </a:ext>
            </a:extLst>
          </p:cNvPr>
          <p:cNvSpPr/>
          <p:nvPr/>
        </p:nvSpPr>
        <p:spPr>
          <a:xfrm>
            <a:off x="4492789" y="5293779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College Database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981200" y="960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Concepts Combined: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78336" y="1371600"/>
            <a:ext cx="1410938" cy="9144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2485" y="1508760"/>
            <a:ext cx="134242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DeptID(PK)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DeptName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48437" y="1371600"/>
            <a:ext cx="847418" cy="914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77248" y="1508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StudentID(PK)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DeptID(FK)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89205" y="1325880"/>
            <a:ext cx="883564" cy="914400"/>
          </a:xfrm>
          <a:prstGeom prst="rect">
            <a:avLst/>
          </a:prstGeom>
          <a:solidFill>
            <a:srgbClr val="E8F4F8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8680" y="14630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CourseID(PK)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CourseName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93280" y="1371600"/>
            <a:ext cx="1645920" cy="91440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30440" y="15087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StudentID(FK)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CourseID(FK)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22080" y="1371600"/>
            <a:ext cx="1463040" cy="9144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A7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59240" y="15087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InstructorID(PK)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DeptID(FK)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31583" y="1828800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760633" y="1828799"/>
            <a:ext cx="365760" cy="1"/>
          </a:xfrm>
          <a:prstGeom prst="line">
            <a:avLst/>
          </a:prstGeom>
          <a:noFill/>
          <a:ln w="50800">
            <a:solidFill>
              <a:srgbClr val="065A82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6354" y="1645920"/>
            <a:ext cx="86648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 flipV="1">
            <a:off x="4395856" y="1828798"/>
            <a:ext cx="502920" cy="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5772770" y="1589578"/>
            <a:ext cx="506110" cy="239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21736" y="1828800"/>
            <a:ext cx="1471545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3200" y="1645920"/>
            <a:ext cx="494415" cy="137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1706" y="1645920"/>
            <a:ext cx="71716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81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in this Model: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64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 (1:N) STUDENT: Every student must belong to a department (total participation)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64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(M:N) COURSE: via ENROLLMENT table (both optional)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64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 (1:N) INSTRUCTOR: One department has many instructors (total on DEPT side)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64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StudentID NOT NULL, Email UNIQUE in STUDENT table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64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DeptID is Foreign Key in both STUDENT and INSTRUCTOR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25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Real Example: College Information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46760" y="172593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Database Entities: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18640" y="2057400"/>
            <a:ext cx="2174240" cy="1371600"/>
          </a:xfrm>
          <a:prstGeom prst="rect">
            <a:avLst/>
          </a:prstGeom>
          <a:solidFill>
            <a:srgbClr val="3498DB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81200" y="2092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68500" y="257175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StudentID (PK)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GPA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DeptID (FK)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73320" y="2023110"/>
            <a:ext cx="2174240" cy="1405890"/>
          </a:xfrm>
          <a:prstGeom prst="rect">
            <a:avLst/>
          </a:prstGeom>
          <a:solidFill>
            <a:srgbClr val="E74C3C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000" y="203835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10480" y="2366010"/>
            <a:ext cx="189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DeptID (PK)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DeptName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0" y="2011680"/>
            <a:ext cx="2174240" cy="1416050"/>
          </a:xfrm>
          <a:prstGeom prst="rect">
            <a:avLst/>
          </a:prstGeom>
          <a:solidFill>
            <a:srgbClr val="2ECC71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2160" y="204851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34680" y="2559685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CourseID (PK)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CourseName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Credits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TeacherID (FK)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6760" y="366903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8080" y="4000500"/>
            <a:ext cx="976376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"enrolls-in" Course (M:M) 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student can take many courses, a course can have many students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8080" y="4446270"/>
            <a:ext cx="8742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"belongs-to" Department (M:1) 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Many students belong to one department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8080" y="4834890"/>
            <a:ext cx="8742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"taught-by" Teacher (M:1) 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Many courses can be taught by one teacher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8080" y="5200650"/>
            <a:ext cx="874268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"has" Teacher (1:M) 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One department has many teachers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250"/>
            <a:ext cx="9144000" cy="6400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Exercise 1: Library Management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64080" y="190881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64080" y="2183130"/>
            <a:ext cx="786384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01240" y="232029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needs to maintain information about Books, Authors, and Members. Members can borrow multiple books, and books can be written by multiple authors. Each member can place holds on books.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64080" y="337185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01240" y="369189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all entities needed for this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01240" y="405765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List attributes for each entity (including primary keys)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01240" y="442341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Define relationships between entities with cardinality (1:1, 1:M, M:M)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01240" y="490347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Draw the ER diagram using rectangles for entities, ovals for attributes, and diamonds for relationships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64080" y="5565140"/>
            <a:ext cx="7863840" cy="7772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3" name="Text 11"/>
          <p:cNvSpPr/>
          <p:nvPr/>
        </p:nvSpPr>
        <p:spPr>
          <a:xfrm>
            <a:off x="2301240" y="556641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Entities: Book, Author, Member, Hold | Relationships: Written-by (M:M), Borrows (M:M), Places (1:M)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9EDDD3-9237-4AE1-E8F6-0CA7D1EB1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6" y="1066800"/>
            <a:ext cx="10489915" cy="39395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6362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R Diagram for Library Management System | ER Diagram | TechnonTechTV">
            <a:extLst>
              <a:ext uri="{FF2B5EF4-FFF2-40B4-BE49-F238E27FC236}">
                <a16:creationId xmlns:a16="http://schemas.microsoft.com/office/drawing/2014/main" id="{47CE3DF9-18EE-34B9-C51F-596AA1B95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4157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250"/>
            <a:ext cx="9144000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Exercise 2: Hospital Management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64080" y="190881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64080" y="2183130"/>
            <a:ext cx="786384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01240" y="232029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manages Patients, Doctors, and Departments. Each patient is assigned to a doctor. Doctors work in departments. Patients may have multiple medical records and visits.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64080" y="337185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01240" y="369189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entities (Patient, Doctor, Department, MedicalRecord, Visit, etc.)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01240" y="405765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Define attributes with data types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01240" y="442341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 primary and foreign keys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01240" y="478917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Determine cardinality ratios for all relationships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01240" y="515493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Specify participation constraints (Total vs Partial)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64080" y="5764530"/>
            <a:ext cx="7863840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2301240" y="585597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Patient (M:1) Doctor, Doctor (M:1) Department, Patient (1:M) MedicalRecord, Patient (1:M) Visit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13C7AE-B540-C428-60F4-81242B6359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2"/>
          <a:stretch>
            <a:fillRect/>
          </a:stretch>
        </p:blipFill>
        <p:spPr>
          <a:xfrm>
            <a:off x="594150" y="827314"/>
            <a:ext cx="10718164" cy="4343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7097A66-EBA0-3B9B-CE4E-B628CD3BCA26}"/>
              </a:ext>
            </a:extLst>
          </p:cNvPr>
          <p:cNvSpPr/>
          <p:nvPr/>
        </p:nvSpPr>
        <p:spPr>
          <a:xfrm>
            <a:off x="3254827" y="3320143"/>
            <a:ext cx="685801" cy="18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Makes</a:t>
            </a:r>
            <a:endParaRPr lang="en-IN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568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857250"/>
            <a:ext cx="9144000" cy="6400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1981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Exercise 3: E-Commerce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64080" y="190881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64080" y="2183130"/>
            <a:ext cx="786384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01240" y="232029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shopping platform has Customers, Orders, Products, and Categories. Each order contains multiple products. Products belong to categories. Customers can place multiple orders.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64080" y="337185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01240" y="369189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List all required entities and their attributes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01240" y="405765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Define all primary keys and candidate keys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01240" y="442341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 foreign keys and relationships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01240" y="478917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Determine M:M relationships that need bridge tables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01240" y="515493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Create complete ER diagram with proper notation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64080" y="5612130"/>
            <a:ext cx="7863840" cy="7772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2301240" y="570357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Customer (1:M) Order, Product (M:1) Category, Order (M:M) Product (via OrderItem bridge table)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760C03-D6DC-9BE6-64DC-31BFCAB41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88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D4F0D6A0-9E76-494A-6CDD-527470DC7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EB7EE2-0D16-18D3-CC69-ECC2046EB7E1}"/>
              </a:ext>
            </a:extLst>
          </p:cNvPr>
          <p:cNvSpPr/>
          <p:nvPr/>
        </p:nvSpPr>
        <p:spPr>
          <a:xfrm>
            <a:off x="3322320" y="3802380"/>
            <a:ext cx="944880" cy="121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Makes</a:t>
            </a:r>
            <a:endParaRPr lang="en-IN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816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89760" y="137161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sz="2400" dirty="0"/>
              <a:t>Participation Constraints: TOTAL vs PARTIAL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9760" y="2403764"/>
            <a:ext cx="4114800" cy="4271356"/>
          </a:xfrm>
          <a:prstGeom prst="roundRect">
            <a:avLst/>
          </a:prstGeom>
          <a:solidFill>
            <a:srgbClr val="E1FFE1"/>
          </a:solidFill>
          <a:ln w="317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83707" y="1993293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8B22"/>
                </a:solidFill>
              </a:defRPr>
            </a:pPr>
            <a:r>
              <a:rPr sz="1600" dirty="0"/>
              <a:t>TOTAL (Mandatory)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4082" y="2886153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8B22"/>
                </a:solidFill>
              </a:defRPr>
            </a:pPr>
            <a:r>
              <a:rPr sz="1600" dirty="0"/>
              <a:t>ALL records must participate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55521" y="3251914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 dirty="0"/>
              <a:t>✓ Every STUDENT must enroll in</a:t>
            </a:r>
            <a:br>
              <a:rPr sz="1600" dirty="0"/>
            </a:br>
            <a:r>
              <a:rPr sz="1600" dirty="0"/>
              <a:t>at least one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5521" y="4074874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/>
              <a:t>✓ Every EMPLOYEE must work for</a:t>
            </a:r>
            <a:br>
              <a:rPr sz="1600"/>
            </a:br>
            <a:r>
              <a:rPr sz="1600"/>
              <a:t>a DEPARTMENT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5521" y="4897834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 dirty="0"/>
              <a:t>✓ Foreign Key = NOT NULL</a:t>
            </a:r>
            <a:br>
              <a:rPr sz="1600" dirty="0"/>
            </a:br>
            <a:r>
              <a:rPr sz="1600" dirty="0"/>
              <a:t>(enforces mandatory participation)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521" y="5720793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/>
              <a:t>✓ Double line in ER diagram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440" y="2400175"/>
            <a:ext cx="4114800" cy="4251959"/>
          </a:xfrm>
          <a:prstGeom prst="roundRect">
            <a:avLst/>
          </a:prstGeom>
          <a:solidFill>
            <a:srgbClr val="FFF0F0"/>
          </a:solidFill>
          <a:ln w="3175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6043" y="1965514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143C"/>
                </a:solidFill>
              </a:defRPr>
            </a:pPr>
            <a:r>
              <a:rPr sz="1600" dirty="0"/>
              <a:t>PARTIAL (Optional)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2" y="2849118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143C"/>
                </a:solidFill>
              </a:defRPr>
            </a:pPr>
            <a:r>
              <a:rPr sz="1600" dirty="0"/>
              <a:t>SOME records may participate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1" y="3305891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 dirty="0"/>
              <a:t>◇ Some STUDENTS may NOT have</a:t>
            </a:r>
            <a:br>
              <a:rPr sz="1600" dirty="0"/>
            </a:br>
            <a:r>
              <a:rPr sz="1600" dirty="0"/>
              <a:t>SCHOLARSHIPS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1" y="4007630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 dirty="0"/>
              <a:t>◇ Some EMPLOYEES may NOT</a:t>
            </a:r>
            <a:br>
              <a:rPr sz="1600" dirty="0"/>
            </a:br>
            <a:r>
              <a:rPr sz="1600" dirty="0"/>
              <a:t>supervise anyone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1" y="4809739"/>
            <a:ext cx="356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 dirty="0"/>
              <a:t>◇ Foreign Key can be NULL</a:t>
            </a:r>
            <a:br>
              <a:rPr sz="1600" dirty="0"/>
            </a:br>
            <a:r>
              <a:rPr sz="1600" dirty="0"/>
              <a:t>(allows optional participation)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1" y="5611621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1600" dirty="0"/>
              <a:t>◇ Single line in ER diagram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3CF4D08F-17D2-80BA-8804-AA697FAF15A9}"/>
              </a:ext>
            </a:extLst>
          </p:cNvPr>
          <p:cNvSpPr/>
          <p:nvPr/>
        </p:nvSpPr>
        <p:spPr>
          <a:xfrm>
            <a:off x="1981200" y="112637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specifies whether ALL instances of an entity must participate in a relationship or only SOME can participate.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C7D0-4074-BB9A-52BD-1B9F90B9FC66}"/>
              </a:ext>
            </a:extLst>
          </p:cNvPr>
          <p:cNvSpPr txBox="1">
            <a:spLocks/>
          </p:cNvSpPr>
          <p:nvPr/>
        </p:nvSpPr>
        <p:spPr>
          <a:xfrm>
            <a:off x="629920" y="1513840"/>
            <a:ext cx="10068560" cy="3581083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300000"/>
              </a:lnSpc>
            </a:pPr>
            <a:r>
              <a:rPr lang="en-US" dirty="0">
                <a:solidFill>
                  <a:schemeClr val="bg1"/>
                </a:solidFill>
              </a:rPr>
              <a:t>THANK YOU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561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</TotalTime>
  <Words>3217</Words>
  <Application>Microsoft Office PowerPoint</Application>
  <PresentationFormat>Widescreen</PresentationFormat>
  <Paragraphs>613</Paragraphs>
  <Slides>31</Slides>
  <Notes>20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Office Theme</vt:lpstr>
      <vt:lpstr>DATA MODELLING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Sierra Learning</dc:creator>
  <cp:lastModifiedBy>Sierra Learning</cp:lastModifiedBy>
  <cp:revision>107</cp:revision>
  <dcterms:created xsi:type="dcterms:W3CDTF">2026-07-17T05:28:21Z</dcterms:created>
  <dcterms:modified xsi:type="dcterms:W3CDTF">2026-07-24T08:28:16Z</dcterms:modified>
</cp:coreProperties>
</file>