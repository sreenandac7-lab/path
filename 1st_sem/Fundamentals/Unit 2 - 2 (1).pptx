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10"/>
  </p:normalViewPr>
  <p:slideViewPr>
    <p:cSldViewPr snapToGrid="0" snapToObjects="1">
      <p:cViewPr varScale="1">
        <p:scale>
          <a:sx n="103" d="100"/>
          <a:sy n="103" d="100"/>
        </p:scale>
        <p:origin x="874"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67320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presentation covers practical Command Line Interface skills, process monitoring, and fundamental troubleshooting techniques for operating systems. Textbook Reference: William Stallings, Computer Organization and Architecture, Pearson Education, 10th Edition, 2016.</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Ask students:</a:t>
            </a:r>
          </a:p>
          <a:p>
            <a:r>
              <a:rPr lang="en-IN" b="1" dirty="0"/>
              <a:t>“When you want to open a folder called </a:t>
            </a:r>
            <a:r>
              <a:rPr lang="en-IN" sz="1200" b="1" kern="1200" dirty="0">
                <a:solidFill>
                  <a:schemeClr val="tx1"/>
                </a:solidFill>
                <a:latin typeface="+mn-lt"/>
                <a:ea typeface="+mn-ea"/>
                <a:cs typeface="+mn-cs"/>
              </a:rPr>
              <a:t>Documents</a:t>
            </a:r>
            <a:r>
              <a:rPr lang="en-IN" b="1" dirty="0"/>
              <a:t>, what do you normally do?”</a:t>
            </a:r>
            <a:endParaRPr lang="en-IN" dirty="0"/>
          </a:p>
          <a:p>
            <a:r>
              <a:rPr lang="en-IN" dirty="0"/>
              <a:t>They will probably say:</a:t>
            </a:r>
          </a:p>
          <a:p>
            <a:r>
              <a:rPr lang="en-IN" dirty="0"/>
              <a:t>“I double-click the folder.”</a:t>
            </a:r>
          </a:p>
          <a:p>
            <a:r>
              <a:rPr lang="en-IN" dirty="0"/>
              <a:t>Then ask:</a:t>
            </a:r>
          </a:p>
          <a:p>
            <a:r>
              <a:rPr lang="en-IN" b="1" dirty="0"/>
              <a:t>“Can I tell the computer to open that folder by typing a command instead of clicking?”</a:t>
            </a:r>
            <a:endParaRPr lang="en-IN" dirty="0"/>
          </a:p>
          <a:p>
            <a:r>
              <a:rPr lang="en-IN" dirty="0"/>
              <a:t>Yes!</a:t>
            </a:r>
          </a:p>
          <a:p>
            <a:r>
              <a:rPr lang="en-IN" dirty="0"/>
              <a:t>That's the basic idea behind a </a:t>
            </a:r>
            <a:r>
              <a:rPr lang="en-IN" b="1" dirty="0"/>
              <a:t>Command Line Interface</a:t>
            </a:r>
            <a:r>
              <a:rPr lang="en-IN" dirty="0"/>
              <a:t>.</a:t>
            </a:r>
          </a:p>
          <a:p>
            <a:br>
              <a:rPr lang="en-IN" dirty="0"/>
            </a:br>
            <a:endParaRPr lang="en-IN" dirty="0"/>
          </a:p>
          <a:p>
            <a:r>
              <a:rPr lang="en-IN" b="1" dirty="0"/>
              <a:t>1. What is an Interface?</a:t>
            </a:r>
          </a:p>
          <a:p>
            <a:r>
              <a:rPr lang="en-IN" dirty="0"/>
              <a:t>Before explaining CLI, explain the word </a:t>
            </a:r>
            <a:r>
              <a:rPr lang="en-IN" b="1" dirty="0"/>
              <a:t>interface</a:t>
            </a:r>
            <a:r>
              <a:rPr lang="en-IN" dirty="0"/>
              <a:t>.</a:t>
            </a:r>
          </a:p>
          <a:p>
            <a:r>
              <a:rPr lang="en-IN" dirty="0"/>
              <a:t>Tell them:</a:t>
            </a:r>
          </a:p>
          <a:p>
            <a:r>
              <a:rPr lang="en-IN" b="1" dirty="0"/>
              <a:t>An interface is a way for humans to communicate with a computer.</a:t>
            </a:r>
            <a:endParaRPr lang="en-IN" dirty="0"/>
          </a:p>
          <a:p>
            <a:r>
              <a:rPr lang="en-IN" dirty="0"/>
              <a:t>For example, when you use:</a:t>
            </a:r>
          </a:p>
          <a:p>
            <a:pPr lvl="0"/>
            <a:r>
              <a:rPr lang="en-IN" dirty="0"/>
              <a:t>Mouse 🖱️ </a:t>
            </a:r>
          </a:p>
          <a:p>
            <a:pPr lvl="0"/>
            <a:r>
              <a:rPr lang="en-IN" dirty="0"/>
              <a:t>Keyboard ⌨️ </a:t>
            </a:r>
          </a:p>
          <a:p>
            <a:pPr lvl="0"/>
            <a:r>
              <a:rPr lang="en-IN" dirty="0"/>
              <a:t>Touchscreen 📱 </a:t>
            </a:r>
          </a:p>
          <a:p>
            <a:pPr lvl="0"/>
            <a:r>
              <a:rPr lang="en-IN" dirty="0"/>
              <a:t>Buttons </a:t>
            </a:r>
          </a:p>
          <a:p>
            <a:pPr lvl="0"/>
            <a:r>
              <a:rPr lang="en-IN" dirty="0"/>
              <a:t>Icons </a:t>
            </a:r>
          </a:p>
          <a:p>
            <a:pPr lvl="0"/>
            <a:r>
              <a:rPr lang="en-IN" dirty="0"/>
              <a:t>Commands </a:t>
            </a:r>
          </a:p>
          <a:p>
            <a:r>
              <a:rPr lang="en-IN" dirty="0"/>
              <a:t>you are interacting with the computer through an </a:t>
            </a:r>
            <a:r>
              <a:rPr lang="en-IN" b="1" dirty="0"/>
              <a:t>interface</a:t>
            </a:r>
            <a:r>
              <a:rPr lang="en-IN" dirty="0"/>
              <a: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"dir /S" lists all files including subdirectories. "/S" is an option modifying the dir command behavior.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scenario: Student downloads files to Downloads folder but needs to organize them in Documents. Uses: cd Downloads, then dir to see files, then move them to Documents folder.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Backing up important documents. Use: copy important.docx D:\Backup\ to create a copy on external drive or backup location.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Troubleshooting example: Internet not working? Use ipconfig to check if computer has IP address. Use ping 8.8.8.8 to test connection. If no response, network issue exists.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Linux file "/home/student/Documents/report.txt" is not same as "/home/student/Documents/Report.txt" (capital R). This is common source of errors for beginners.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scenario: User downloads code repository to home directory. Commands: cd ~, mkdir projects, cd projects, ls -la to verify folder structure and file permissions.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Caution: rm -r /var/data/ deletes entire directory including hidden files. No undo! Always double-check before using rm, especially with sudo (administrator) privileges.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use case: Developer has 1000 lines log file after application crash. Uses: grep "error" app.log to find error lines. Then grep "port" app.log to check if port issue exists.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Log file has 10000 lines. Command: grep "ERROR" error.log &gt; errors_only.txt creates new file with only error lines. Then: grep -i "database" errors_only.txt finds database errors.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Browser becomes unresponsive after hours of use (memory leak). Open Task Manager, find browser process, check memory usage (3GB!), terminate it. Without monitoring, would need restart.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Hands-on: Open Task Manager, sort by Memory. See which apps use most RAM. Excel with 1000 rows spreadsheet using 500MB. Close it. Now Excel uses 50MB. Demonstrates memory impact.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Server running slow. Admin runs: top, presses P to sort by CPU, finds Python script using 99% CPU, notes PID (1234), runs: kill -9 1234 to terminate. Server returns to normal.</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scenario: Web server becomes slow. Admin checks: top (shows Apache using 8GB RAM), free -h (confirms 16GB total, only 500MB free), df -h (disk 95% full). Clear old logs and increase RAM.</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New computer boots in 2 minutes. Student installs 10 games, 3 chat apps, utilities. Boot time now 5 minutes. Task Manager Startup tab shows 50+ programs. Disabling unnecessary ones → boot back to 2 minutes.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Troubleshooting example: Website down. Admin checks: tail -20 /var/log/apache2/error.log. Sees "Error: Port 80 already in use". Realizes another process running on port 80. Kills it. Website back up.</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Internet stops working. Isolate: Can reach router but not websites? Reproduce: Try multiple sites, all fail? Check logs: Router logs show DNS errors. Solution: Change DNS to 8.8.8.8. Document: DNS was wrong, changed primary DNS.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Scenario: Email not working on one computer. Isolation: "Outlook app won't open emails, but Gmail in browser works. Other Outlook users can check email. So: not internet, not email server, specific to this Outlook installation."</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example: Database server down. System Admin checks: /var/log/mysql/error.log, sees "Error: Disk space full" at 2:15 AM. That's the cause! Clears old logs, restarts MySQL. Database back online.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Windows Update installed. Next day, WiFi driver broken. Solution: Control Panel → Programs → View installed updates → Uninstall KB4567890. Restart. WiFi works. Rollback solved the issue.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Documentation example: "Problem: Application crashes on startup. Cause: Config file corrupted. Solution: Deleted config.ini, app recreated on restart. Time: 15 mins. Prevention: Backup config files weekly."</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Hands-on: Students practice these scenarios. Example: Teacher starts application, it crashes. Student uses Event Viewer to find error, researches online, finds solution, documents findings.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 tip: Many beginner mistakes come from skipping logs and jumping to solutions. Learning to read logs is 80% of effective troubleshooting. "ls -la" and "grep" are your best friends.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concludes the practical CLI and troubleshooting fundamentals course. Students should now be comfortable using command line interface on both Windows and Linux, monitoring system resources, and approaching problems systematically. Practice is essential: set up a virtual machine and practice these commands regularly.</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4788"/>
        </a:solidFill>
        <a:effectLst/>
      </p:bgPr>
    </p:bg>
    <p:spTree>
      <p:nvGrpSpPr>
        <p:cNvPr id="1" name=""/>
        <p:cNvGrpSpPr/>
        <p:nvPr/>
      </p:nvGrpSpPr>
      <p:grpSpPr>
        <a:xfrm>
          <a:off x="0" y="0"/>
          <a:ext cx="0" cy="0"/>
          <a:chOff x="0" y="0"/>
          <a:chExt cx="0" cy="0"/>
        </a:xfrm>
      </p:grpSpPr>
      <p:sp>
        <p:nvSpPr>
          <p:cNvPr id="2" name="Text 0"/>
          <p:cNvSpPr/>
          <p:nvPr/>
        </p:nvSpPr>
        <p:spPr>
          <a:xfrm>
            <a:off x="386862" y="977705"/>
            <a:ext cx="8229600" cy="1097280"/>
          </a:xfrm>
          <a:prstGeom prst="rect">
            <a:avLst/>
          </a:prstGeom>
          <a:noFill/>
          <a:ln/>
        </p:spPr>
        <p:txBody>
          <a:bodyPr wrap="square" rtlCol="0" anchor="ctr"/>
          <a:lstStyle/>
          <a:p>
            <a:pPr marL="0" indent="0" algn="l">
              <a:buNone/>
            </a:pPr>
            <a:r>
              <a:rPr lang="en-US" sz="5400" b="1" dirty="0">
                <a:solidFill>
                  <a:srgbClr val="FFFFFF"/>
                </a:solidFill>
                <a:latin typeface="Calibri" pitchFamily="34" charset="0"/>
                <a:ea typeface="Calibri" pitchFamily="34" charset="-122"/>
                <a:cs typeface="Calibri" pitchFamily="34" charset="-120"/>
              </a:rPr>
              <a:t>Command Line Interface &amp; System Administration</a:t>
            </a:r>
            <a:endParaRPr lang="en-US" sz="5400" dirty="0"/>
          </a:p>
        </p:txBody>
      </p:sp>
      <p:sp>
        <p:nvSpPr>
          <p:cNvPr id="3" name="Text 1"/>
          <p:cNvSpPr/>
          <p:nvPr/>
        </p:nvSpPr>
        <p:spPr>
          <a:xfrm>
            <a:off x="457200" y="3017520"/>
            <a:ext cx="8229600" cy="548640"/>
          </a:xfrm>
          <a:prstGeom prst="rect">
            <a:avLst/>
          </a:prstGeom>
          <a:noFill/>
          <a:ln/>
        </p:spPr>
        <p:txBody>
          <a:bodyPr wrap="square" rtlCol="0" anchor="ctr"/>
          <a:lstStyle/>
          <a:p>
            <a:pPr marL="0" indent="0" algn="l">
              <a:buNone/>
            </a:pPr>
            <a:r>
              <a:rPr lang="en-US" sz="3200" b="1" dirty="0">
                <a:solidFill>
                  <a:srgbClr val="FFB81C"/>
                </a:solidFill>
                <a:latin typeface="Calibri" pitchFamily="34" charset="0"/>
                <a:ea typeface="Calibri" pitchFamily="34" charset="-122"/>
                <a:cs typeface="Calibri" pitchFamily="34" charset="-120"/>
              </a:rPr>
              <a:t>CLI Fundamentals, Process Monitoring &amp; Troubleshooting</a:t>
            </a:r>
            <a:endParaRPr lang="en-US" sz="3200" dirty="0"/>
          </a:p>
        </p:txBody>
      </p:sp>
      <p:sp>
        <p:nvSpPr>
          <p:cNvPr id="4" name="Text 2"/>
          <p:cNvSpPr/>
          <p:nvPr/>
        </p:nvSpPr>
        <p:spPr>
          <a:xfrm>
            <a:off x="457200" y="3840480"/>
            <a:ext cx="8229600" cy="731520"/>
          </a:xfrm>
          <a:prstGeom prst="rect">
            <a:avLst/>
          </a:prstGeom>
          <a:noFill/>
          <a:ln/>
        </p:spPr>
        <p:txBody>
          <a:bodyPr wrap="square" rtlCol="0" anchor="ctr"/>
          <a:lstStyle/>
          <a:p>
            <a:pPr marL="0" indent="0" algn="l">
              <a:buNone/>
            </a:pPr>
            <a:r>
              <a:rPr lang="en-US" sz="1800" dirty="0">
                <a:solidFill>
                  <a:srgbClr val="FFFFFF"/>
                </a:solidFill>
                <a:latin typeface="Calibri" pitchFamily="34" charset="0"/>
                <a:ea typeface="Calibri" pitchFamily="34" charset="-122"/>
                <a:cs typeface="Calibri" pitchFamily="34" charset="-120"/>
              </a:rPr>
              <a:t>Hands-on Commands, System Administration &amp; Problem-Solving </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F4788"/>
          </a:solidFill>
          <a:ln/>
        </p:spPr>
      </p:sp>
      <p:sp>
        <p:nvSpPr>
          <p:cNvPr id="3" name="Text 1"/>
          <p:cNvSpPr/>
          <p:nvPr/>
        </p:nvSpPr>
        <p:spPr>
          <a:xfrm>
            <a:off x="457200" y="137160"/>
            <a:ext cx="777240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 Course Foundation</a:t>
            </a:r>
            <a:endParaRPr lang="en-US" sz="3200" dirty="0"/>
          </a:p>
        </p:txBody>
      </p:sp>
      <p:sp>
        <p:nvSpPr>
          <p:cNvPr id="4" name="Text 2"/>
          <p:cNvSpPr/>
          <p:nvPr/>
        </p:nvSpPr>
        <p:spPr>
          <a:xfrm>
            <a:off x="457200" y="1005840"/>
            <a:ext cx="3931920" cy="365760"/>
          </a:xfrm>
          <a:prstGeom prst="rect">
            <a:avLst/>
          </a:prstGeom>
          <a:noFill/>
          <a:ln/>
        </p:spPr>
        <p:txBody>
          <a:bodyPr wrap="square" rtlCol="0" anchor="ctr"/>
          <a:lstStyle/>
          <a:p>
            <a:pPr marL="0" indent="0">
              <a:buNone/>
            </a:pPr>
            <a:r>
              <a:rPr lang="en-US" sz="1800" b="1" dirty="0">
                <a:solidFill>
                  <a:srgbClr val="1F4788"/>
                </a:solidFill>
                <a:latin typeface="Calibri" pitchFamily="34" charset="0"/>
                <a:ea typeface="Calibri" pitchFamily="34" charset="-122"/>
                <a:cs typeface="Calibri" pitchFamily="34" charset="-120"/>
              </a:rPr>
              <a:t>Topics Covered</a:t>
            </a:r>
            <a:endParaRPr lang="en-US" sz="1800" dirty="0"/>
          </a:p>
        </p:txBody>
      </p:sp>
      <p:sp>
        <p:nvSpPr>
          <p:cNvPr id="5" name="Text 3"/>
          <p:cNvSpPr/>
          <p:nvPr/>
        </p:nvSpPr>
        <p:spPr>
          <a:xfrm>
            <a:off x="640080" y="1508760"/>
            <a:ext cx="3474720" cy="256032"/>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 CLI Fundamentals</a:t>
            </a:r>
            <a:endParaRPr lang="en-US" sz="1200" dirty="0"/>
          </a:p>
        </p:txBody>
      </p:sp>
      <p:sp>
        <p:nvSpPr>
          <p:cNvPr id="6" name="Text 4"/>
          <p:cNvSpPr/>
          <p:nvPr/>
        </p:nvSpPr>
        <p:spPr>
          <a:xfrm>
            <a:off x="640080" y="1801368"/>
            <a:ext cx="3474720" cy="256032"/>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 Windows CLI Commands</a:t>
            </a:r>
            <a:endParaRPr lang="en-US" sz="1200" dirty="0"/>
          </a:p>
        </p:txBody>
      </p:sp>
      <p:sp>
        <p:nvSpPr>
          <p:cNvPr id="7" name="Text 5"/>
          <p:cNvSpPr/>
          <p:nvPr/>
        </p:nvSpPr>
        <p:spPr>
          <a:xfrm>
            <a:off x="640080" y="2093976"/>
            <a:ext cx="3474720" cy="256032"/>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 Linux CLI Commands</a:t>
            </a:r>
            <a:endParaRPr lang="en-US" sz="1200" dirty="0"/>
          </a:p>
        </p:txBody>
      </p:sp>
      <p:sp>
        <p:nvSpPr>
          <p:cNvPr id="8" name="Text 6"/>
          <p:cNvSpPr/>
          <p:nvPr/>
        </p:nvSpPr>
        <p:spPr>
          <a:xfrm>
            <a:off x="640080" y="2386584"/>
            <a:ext cx="3474720" cy="256032"/>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 File Navigation &amp; Operations</a:t>
            </a:r>
            <a:endParaRPr lang="en-US" sz="1200" dirty="0"/>
          </a:p>
        </p:txBody>
      </p:sp>
      <p:sp>
        <p:nvSpPr>
          <p:cNvPr id="9" name="Text 7"/>
          <p:cNvSpPr/>
          <p:nvPr/>
        </p:nvSpPr>
        <p:spPr>
          <a:xfrm>
            <a:off x="640080" y="2679192"/>
            <a:ext cx="3474720" cy="256032"/>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 Text Searching &amp; Filtering</a:t>
            </a:r>
            <a:endParaRPr lang="en-US" sz="1200" dirty="0"/>
          </a:p>
        </p:txBody>
      </p:sp>
      <p:sp>
        <p:nvSpPr>
          <p:cNvPr id="10" name="Text 8"/>
          <p:cNvSpPr/>
          <p:nvPr/>
        </p:nvSpPr>
        <p:spPr>
          <a:xfrm>
            <a:off x="640080" y="2971800"/>
            <a:ext cx="3474720" cy="256032"/>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 I/O Redirection &amp; Pipes</a:t>
            </a:r>
            <a:endParaRPr lang="en-US" sz="1200" dirty="0"/>
          </a:p>
        </p:txBody>
      </p:sp>
      <p:sp>
        <p:nvSpPr>
          <p:cNvPr id="11" name="Text 9"/>
          <p:cNvSpPr/>
          <p:nvPr/>
        </p:nvSpPr>
        <p:spPr>
          <a:xfrm>
            <a:off x="640080" y="3264408"/>
            <a:ext cx="3474720" cy="256032"/>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 Process Monitoring</a:t>
            </a:r>
            <a:endParaRPr lang="en-US" sz="1200" dirty="0"/>
          </a:p>
        </p:txBody>
      </p:sp>
      <p:sp>
        <p:nvSpPr>
          <p:cNvPr id="12" name="Text 10"/>
          <p:cNvSpPr/>
          <p:nvPr/>
        </p:nvSpPr>
        <p:spPr>
          <a:xfrm>
            <a:off x="640080" y="3557016"/>
            <a:ext cx="3474720" cy="256032"/>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 Resource Management</a:t>
            </a:r>
            <a:endParaRPr lang="en-US" sz="1200" dirty="0"/>
          </a:p>
        </p:txBody>
      </p:sp>
      <p:sp>
        <p:nvSpPr>
          <p:cNvPr id="13" name="Text 11"/>
          <p:cNvSpPr/>
          <p:nvPr/>
        </p:nvSpPr>
        <p:spPr>
          <a:xfrm>
            <a:off x="640080" y="3849624"/>
            <a:ext cx="3474720" cy="256032"/>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 Startup Items Management</a:t>
            </a:r>
            <a:endParaRPr lang="en-US" sz="1200" dirty="0"/>
          </a:p>
        </p:txBody>
      </p:sp>
      <p:sp>
        <p:nvSpPr>
          <p:cNvPr id="14" name="Text 12"/>
          <p:cNvSpPr/>
          <p:nvPr/>
        </p:nvSpPr>
        <p:spPr>
          <a:xfrm>
            <a:off x="640080" y="4142232"/>
            <a:ext cx="3474720" cy="256032"/>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 Log Analysis Basics</a:t>
            </a:r>
            <a:endParaRPr lang="en-US" sz="1200" dirty="0"/>
          </a:p>
        </p:txBody>
      </p:sp>
      <p:sp>
        <p:nvSpPr>
          <p:cNvPr id="15" name="Text 13"/>
          <p:cNvSpPr/>
          <p:nvPr/>
        </p:nvSpPr>
        <p:spPr>
          <a:xfrm>
            <a:off x="640080" y="4434840"/>
            <a:ext cx="3474720" cy="256032"/>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 Troubleshooting Mindset</a:t>
            </a:r>
            <a:endParaRPr lang="en-US" sz="1200" dirty="0"/>
          </a:p>
        </p:txBody>
      </p:sp>
      <p:sp>
        <p:nvSpPr>
          <p:cNvPr id="16" name="Text 14"/>
          <p:cNvSpPr/>
          <p:nvPr/>
        </p:nvSpPr>
        <p:spPr>
          <a:xfrm>
            <a:off x="640080" y="4727448"/>
            <a:ext cx="3474720" cy="256032"/>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 Problem Isolation &amp; Resolution</a:t>
            </a:r>
            <a:endParaRPr lang="en-US" sz="1200" dirty="0"/>
          </a:p>
        </p:txBody>
      </p:sp>
      <p:sp>
        <p:nvSpPr>
          <p:cNvPr id="17" name="Text 15"/>
          <p:cNvSpPr/>
          <p:nvPr/>
        </p:nvSpPr>
        <p:spPr>
          <a:xfrm>
            <a:off x="640080" y="5020056"/>
            <a:ext cx="3474720" cy="256032"/>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 Documentation &amp; Best Practices</a:t>
            </a:r>
            <a:endParaRPr lang="en-US" sz="1200" dirty="0"/>
          </a:p>
        </p:txBody>
      </p:sp>
      <p:sp>
        <p:nvSpPr>
          <p:cNvPr id="18" name="Shape 16"/>
          <p:cNvSpPr/>
          <p:nvPr/>
        </p:nvSpPr>
        <p:spPr>
          <a:xfrm>
            <a:off x="4754880" y="1005840"/>
            <a:ext cx="3931920" cy="3474720"/>
          </a:xfrm>
          <a:prstGeom prst="rect">
            <a:avLst/>
          </a:prstGeom>
          <a:solidFill>
            <a:srgbClr val="F5F7FA"/>
          </a:solidFill>
          <a:ln w="25400">
            <a:solidFill>
              <a:srgbClr val="1F4788"/>
            </a:solidFill>
            <a:prstDash val="solid"/>
          </a:ln>
        </p:spPr>
      </p:sp>
      <p:sp>
        <p:nvSpPr>
          <p:cNvPr id="19" name="Text 17"/>
          <p:cNvSpPr/>
          <p:nvPr/>
        </p:nvSpPr>
        <p:spPr>
          <a:xfrm>
            <a:off x="5029200" y="1188720"/>
            <a:ext cx="3474720" cy="320040"/>
          </a:xfrm>
          <a:prstGeom prst="rect">
            <a:avLst/>
          </a:prstGeom>
          <a:noFill/>
          <a:ln/>
        </p:spPr>
        <p:txBody>
          <a:bodyPr wrap="square" rtlCol="0" anchor="ctr"/>
          <a:lstStyle/>
          <a:p>
            <a:pPr marL="0" indent="0">
              <a:buNone/>
            </a:pPr>
            <a:r>
              <a:rPr lang="en-US" sz="1600" b="1" dirty="0">
                <a:solidFill>
                  <a:srgbClr val="1F4788"/>
                </a:solidFill>
                <a:latin typeface="Calibri" pitchFamily="34" charset="0"/>
                <a:ea typeface="Calibri" pitchFamily="34" charset="-122"/>
                <a:cs typeface="Calibri" pitchFamily="34" charset="-120"/>
              </a:rPr>
              <a:t>Primary Textbook</a:t>
            </a:r>
            <a:endParaRPr lang="en-US" sz="1600" dirty="0"/>
          </a:p>
        </p:txBody>
      </p:sp>
      <p:sp>
        <p:nvSpPr>
          <p:cNvPr id="20" name="Text 18"/>
          <p:cNvSpPr/>
          <p:nvPr/>
        </p:nvSpPr>
        <p:spPr>
          <a:xfrm>
            <a:off x="5029200" y="1645920"/>
            <a:ext cx="3474720" cy="914400"/>
          </a:xfrm>
          <a:prstGeom prst="rect">
            <a:avLst/>
          </a:prstGeom>
          <a:noFill/>
          <a:ln/>
        </p:spPr>
        <p:txBody>
          <a:bodyPr wrap="square" rtlCol="0" anchor="ctr"/>
          <a:lstStyle/>
          <a:p>
            <a:pPr marL="0" indent="0" algn="ctr">
              <a:buNone/>
            </a:pPr>
            <a:r>
              <a:rPr lang="en-US" sz="1400" b="1" dirty="0">
                <a:solidFill>
                  <a:srgbClr val="E64A19"/>
                </a:solidFill>
                <a:latin typeface="Calibri" pitchFamily="34" charset="0"/>
                <a:ea typeface="Calibri" pitchFamily="34" charset="-122"/>
                <a:cs typeface="Calibri" pitchFamily="34" charset="-120"/>
              </a:rPr>
              <a:t>William Stallings</a:t>
            </a:r>
            <a:endParaRPr lang="en-US" sz="1400" dirty="0"/>
          </a:p>
          <a:p>
            <a:pPr marL="0" indent="0" algn="ctr">
              <a:buNone/>
            </a:pPr>
            <a:r>
              <a:rPr lang="en-US" sz="1400" b="1" dirty="0">
                <a:solidFill>
                  <a:srgbClr val="E64A19"/>
                </a:solidFill>
                <a:latin typeface="Calibri" pitchFamily="34" charset="0"/>
                <a:ea typeface="Calibri" pitchFamily="34" charset="-122"/>
                <a:cs typeface="Calibri" pitchFamily="34" charset="-120"/>
              </a:rPr>
              <a:t>Computer Organization</a:t>
            </a:r>
            <a:endParaRPr lang="en-US" sz="1400" dirty="0"/>
          </a:p>
          <a:p>
            <a:pPr marL="0" indent="0" algn="ctr">
              <a:buNone/>
            </a:pPr>
            <a:r>
              <a:rPr lang="en-US" sz="1400" b="1" dirty="0">
                <a:solidFill>
                  <a:srgbClr val="E64A19"/>
                </a:solidFill>
                <a:latin typeface="Calibri" pitchFamily="34" charset="0"/>
                <a:ea typeface="Calibri" pitchFamily="34" charset="-122"/>
                <a:cs typeface="Calibri" pitchFamily="34" charset="-120"/>
              </a:rPr>
              <a:t>and Architecture</a:t>
            </a:r>
            <a:endParaRPr lang="en-US" sz="1400" dirty="0"/>
          </a:p>
        </p:txBody>
      </p:sp>
      <p:sp>
        <p:nvSpPr>
          <p:cNvPr id="21" name="Text 19"/>
          <p:cNvSpPr/>
          <p:nvPr/>
        </p:nvSpPr>
        <p:spPr>
          <a:xfrm>
            <a:off x="5029200" y="2651760"/>
            <a:ext cx="3474720" cy="548640"/>
          </a:xfrm>
          <a:prstGeom prst="rect">
            <a:avLst/>
          </a:prstGeom>
          <a:noFill/>
          <a:ln/>
        </p:spPr>
        <p:txBody>
          <a:bodyPr wrap="square" rtlCol="0" anchor="ctr"/>
          <a:lstStyle/>
          <a:p>
            <a:pPr marL="0" indent="0" algn="ctr">
              <a:buNone/>
            </a:pPr>
            <a:r>
              <a:rPr lang="en-US" sz="1300" dirty="0">
                <a:solidFill>
                  <a:srgbClr val="1A1A1A"/>
                </a:solidFill>
                <a:latin typeface="Calibri" pitchFamily="34" charset="0"/>
                <a:ea typeface="Calibri" pitchFamily="34" charset="-122"/>
                <a:cs typeface="Calibri" pitchFamily="34" charset="-120"/>
              </a:rPr>
              <a:t>Pearson Education</a:t>
            </a:r>
            <a:endParaRPr lang="en-US" sz="1300" dirty="0"/>
          </a:p>
          <a:p>
            <a:pPr marL="0" indent="0" algn="ctr">
              <a:buNone/>
            </a:pPr>
            <a:r>
              <a:rPr lang="en-US" sz="1300" dirty="0">
                <a:solidFill>
                  <a:srgbClr val="1A1A1A"/>
                </a:solidFill>
                <a:latin typeface="Calibri" pitchFamily="34" charset="0"/>
                <a:ea typeface="Calibri" pitchFamily="34" charset="-122"/>
                <a:cs typeface="Calibri" pitchFamily="34" charset="-120"/>
              </a:rPr>
              <a:t>10th Edition, 2016</a:t>
            </a:r>
            <a:endParaRPr lang="en-US" sz="1300" dirty="0"/>
          </a:p>
        </p:txBody>
      </p:sp>
      <p:sp>
        <p:nvSpPr>
          <p:cNvPr id="22" name="Text 20"/>
          <p:cNvSpPr/>
          <p:nvPr/>
        </p:nvSpPr>
        <p:spPr>
          <a:xfrm>
            <a:off x="5029200" y="3383280"/>
            <a:ext cx="3474720" cy="868680"/>
          </a:xfrm>
          <a:prstGeom prst="rect">
            <a:avLst/>
          </a:prstGeom>
          <a:noFill/>
          <a:ln/>
        </p:spPr>
        <p:txBody>
          <a:bodyPr wrap="square" rtlCol="0" anchor="ctr"/>
          <a:lstStyle/>
          <a:p>
            <a:pPr marL="0" indent="0" algn="ctr">
              <a:buNone/>
            </a:pPr>
            <a:r>
              <a:rPr lang="en-US" sz="1100" dirty="0">
                <a:solidFill>
                  <a:srgbClr val="555555"/>
                </a:solidFill>
                <a:latin typeface="Calibri" pitchFamily="34" charset="0"/>
                <a:ea typeface="Calibri" pitchFamily="34" charset="-122"/>
                <a:cs typeface="Calibri" pitchFamily="34" charset="-120"/>
              </a:rPr>
              <a:t>Practical hands-on skills for effective system administration and command-line proficiency.</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E7D32"/>
        </a:solidFill>
        <a:effectLst/>
      </p:bgPr>
    </p:bg>
    <p:spTree>
      <p:nvGrpSpPr>
        <p:cNvPr id="1" name=""/>
        <p:cNvGrpSpPr/>
        <p:nvPr/>
      </p:nvGrpSpPr>
      <p:grpSpPr>
        <a:xfrm>
          <a:off x="0" y="0"/>
          <a:ext cx="0" cy="0"/>
          <a:chOff x="0" y="0"/>
          <a:chExt cx="0" cy="0"/>
        </a:xfrm>
      </p:grpSpPr>
      <p:sp>
        <p:nvSpPr>
          <p:cNvPr id="2" name="Shape 0"/>
          <p:cNvSpPr/>
          <p:nvPr/>
        </p:nvSpPr>
        <p:spPr>
          <a:xfrm>
            <a:off x="457200" y="1371600"/>
            <a:ext cx="731520" cy="731520"/>
          </a:xfrm>
          <a:prstGeom prst="ellipse">
            <a:avLst/>
          </a:prstGeom>
          <a:solidFill>
            <a:srgbClr val="E64A19"/>
          </a:solidFill>
          <a:ln w="25400">
            <a:solidFill>
              <a:srgbClr val="FFFFFF"/>
            </a:solidFill>
            <a:prstDash val="solid"/>
          </a:ln>
        </p:spPr>
      </p:sp>
      <p:sp>
        <p:nvSpPr>
          <p:cNvPr id="3" name="Text 1"/>
          <p:cNvSpPr/>
          <p:nvPr/>
        </p:nvSpPr>
        <p:spPr>
          <a:xfrm>
            <a:off x="457200" y="1371600"/>
            <a:ext cx="731520" cy="731520"/>
          </a:xfrm>
          <a:prstGeom prst="rect">
            <a:avLst/>
          </a:prstGeom>
          <a:noFill/>
          <a:ln/>
        </p:spPr>
        <p:txBody>
          <a:bodyPr wrap="square" rtlCol="0" anchor="ctr"/>
          <a:lstStyle/>
          <a:p>
            <a:pPr marL="0" indent="0" algn="ctr">
              <a:buNone/>
            </a:pPr>
            <a:r>
              <a:rPr lang="en-US" sz="3200" b="1" dirty="0">
                <a:solidFill>
                  <a:srgbClr val="FFFFFF"/>
                </a:solidFill>
                <a:latin typeface="Calibri" pitchFamily="34" charset="0"/>
                <a:ea typeface="Calibri" pitchFamily="34" charset="-122"/>
                <a:cs typeface="Calibri" pitchFamily="34" charset="-120"/>
              </a:rPr>
              <a:t>01</a:t>
            </a:r>
            <a:endParaRPr lang="en-US" sz="3200" dirty="0"/>
          </a:p>
        </p:txBody>
      </p:sp>
      <p:sp>
        <p:nvSpPr>
          <p:cNvPr id="4" name="Text 2"/>
          <p:cNvSpPr/>
          <p:nvPr/>
        </p:nvSpPr>
        <p:spPr>
          <a:xfrm>
            <a:off x="1371600" y="1463040"/>
            <a:ext cx="6858000" cy="731520"/>
          </a:xfrm>
          <a:prstGeom prst="rect">
            <a:avLst/>
          </a:prstGeom>
          <a:noFill/>
          <a:ln/>
        </p:spPr>
        <p:txBody>
          <a:bodyPr wrap="square" rtlCol="0" anchor="ctr"/>
          <a:lstStyle/>
          <a:p>
            <a:pPr marL="0" indent="0" algn="l">
              <a:buNone/>
            </a:pPr>
            <a:r>
              <a:rPr lang="en-US" sz="4400" b="1" dirty="0">
                <a:solidFill>
                  <a:srgbClr val="FFFFFF"/>
                </a:solidFill>
                <a:latin typeface="Calibri" pitchFamily="34" charset="0"/>
                <a:ea typeface="Calibri" pitchFamily="34" charset="-122"/>
                <a:cs typeface="Calibri" pitchFamily="34" charset="-120"/>
              </a:rPr>
              <a:t>CLI Fundamentals</a:t>
            </a:r>
            <a:endParaRPr lang="en-US" sz="4400" dirty="0"/>
          </a:p>
        </p:txBody>
      </p:sp>
      <p:sp>
        <p:nvSpPr>
          <p:cNvPr id="5" name="Text 3"/>
          <p:cNvSpPr/>
          <p:nvPr/>
        </p:nvSpPr>
        <p:spPr>
          <a:xfrm>
            <a:off x="457200" y="2560320"/>
            <a:ext cx="7772400" cy="914400"/>
          </a:xfrm>
          <a:prstGeom prst="rect">
            <a:avLst/>
          </a:prstGeom>
          <a:noFill/>
          <a:ln/>
        </p:spPr>
        <p:txBody>
          <a:bodyPr wrap="square" rtlCol="0" anchor="ctr"/>
          <a:lstStyle/>
          <a:p>
            <a:pPr marL="0" indent="0" algn="l">
              <a:buNone/>
            </a:pPr>
            <a:r>
              <a:rPr lang="en-US" sz="2000" dirty="0">
                <a:solidFill>
                  <a:srgbClr val="F5F7FA"/>
                </a:solidFill>
                <a:latin typeface="Calibri" pitchFamily="34" charset="0"/>
                <a:ea typeface="Calibri" pitchFamily="34" charset="-122"/>
                <a:cs typeface="Calibri" pitchFamily="34" charset="-120"/>
              </a:rPr>
              <a:t>Command Line Interface Concepts &amp; Navigation</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F4788"/>
          </a:solidFill>
          <a:ln/>
        </p:spPr>
      </p:sp>
      <p:sp>
        <p:nvSpPr>
          <p:cNvPr id="3" name="Text 1"/>
          <p:cNvSpPr/>
          <p:nvPr/>
        </p:nvSpPr>
        <p:spPr>
          <a:xfrm>
            <a:off x="457200" y="137160"/>
            <a:ext cx="777240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What is Command Line Interface (CLI)?</a:t>
            </a:r>
            <a:endParaRPr lang="en-US" sz="3200" dirty="0"/>
          </a:p>
        </p:txBody>
      </p:sp>
      <p:sp>
        <p:nvSpPr>
          <p:cNvPr id="4" name="Text 2"/>
          <p:cNvSpPr/>
          <p:nvPr/>
        </p:nvSpPr>
        <p:spPr>
          <a:xfrm>
            <a:off x="597877" y="796230"/>
            <a:ext cx="8046720" cy="274320"/>
          </a:xfrm>
          <a:prstGeom prst="rect">
            <a:avLst/>
          </a:prstGeom>
          <a:noFill/>
          <a:ln/>
        </p:spPr>
        <p:txBody>
          <a:bodyPr wrap="square" rtlCol="0" anchor="ctr"/>
          <a:lstStyle/>
          <a:p>
            <a:pPr marL="0" indent="0">
              <a:buNone/>
            </a:pPr>
            <a:r>
              <a:rPr lang="en-US" sz="1600" b="1" dirty="0">
                <a:solidFill>
                  <a:srgbClr val="E64A19"/>
                </a:solidFill>
                <a:latin typeface="Calibri" pitchFamily="34" charset="0"/>
                <a:ea typeface="Calibri" pitchFamily="34" charset="-122"/>
                <a:cs typeface="Calibri" pitchFamily="34" charset="-120"/>
              </a:rPr>
              <a:t>Command Line Interface (CLI)</a:t>
            </a:r>
            <a:endParaRPr lang="en-US" sz="1600" dirty="0"/>
          </a:p>
        </p:txBody>
      </p:sp>
      <p:sp>
        <p:nvSpPr>
          <p:cNvPr id="5" name="Text 3"/>
          <p:cNvSpPr/>
          <p:nvPr/>
        </p:nvSpPr>
        <p:spPr>
          <a:xfrm>
            <a:off x="872197" y="1123305"/>
            <a:ext cx="7772400" cy="554970"/>
          </a:xfrm>
          <a:prstGeom prst="rect">
            <a:avLst/>
          </a:prstGeom>
          <a:noFill/>
          <a:ln>
            <a:noFill/>
          </a:ln>
          <a:effectLst/>
          <a:scene3d>
            <a:camera prst="orthographicFront">
              <a:rot lat="0" lon="0" rev="0"/>
            </a:camera>
            <a:lightRig rig="chilly" dir="t">
              <a:rot lat="0" lon="0" rev="18480000"/>
            </a:lightRig>
          </a:scene3d>
          <a:sp3d prstMaterial="clear">
            <a:bevelT h="63500"/>
          </a:sp3d>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Text-based interface to the operating system. Users type commands to perform operations, unlike graphical interfaces (GUI) that use mouse clicks.</a:t>
            </a:r>
            <a:endParaRPr lang="en-US" sz="1200" dirty="0"/>
          </a:p>
        </p:txBody>
      </p:sp>
      <p:sp>
        <p:nvSpPr>
          <p:cNvPr id="6" name="Text 4"/>
          <p:cNvSpPr/>
          <p:nvPr/>
        </p:nvSpPr>
        <p:spPr>
          <a:xfrm>
            <a:off x="597877" y="1737360"/>
            <a:ext cx="8046720" cy="365760"/>
          </a:xfrm>
          <a:prstGeom prst="rect">
            <a:avLst/>
          </a:prstGeom>
          <a:noFill/>
          <a:ln/>
        </p:spPr>
        <p:txBody>
          <a:bodyPr wrap="square" rtlCol="0" anchor="ctr"/>
          <a:lstStyle/>
          <a:p>
            <a:pPr marL="0" indent="0">
              <a:buNone/>
            </a:pPr>
            <a:r>
              <a:rPr lang="en-US" sz="1800" b="1" dirty="0">
                <a:solidFill>
                  <a:srgbClr val="1F4788"/>
                </a:solidFill>
                <a:latin typeface="Calibri" pitchFamily="34" charset="0"/>
                <a:ea typeface="Calibri" pitchFamily="34" charset="-122"/>
                <a:cs typeface="Calibri" pitchFamily="34" charset="-120"/>
              </a:rPr>
              <a:t>CLI vs GUI:</a:t>
            </a:r>
            <a:endParaRPr lang="en-US" sz="1800" dirty="0"/>
          </a:p>
        </p:txBody>
      </p:sp>
      <p:sp>
        <p:nvSpPr>
          <p:cNvPr id="7" name="Text 5"/>
          <p:cNvSpPr/>
          <p:nvPr/>
        </p:nvSpPr>
        <p:spPr>
          <a:xfrm>
            <a:off x="872197" y="2048256"/>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a:t>
            </a:r>
            <a:r>
              <a:rPr lang="en-US" sz="1300" b="1" dirty="0">
                <a:solidFill>
                  <a:srgbClr val="1A1A1A"/>
                </a:solidFill>
                <a:latin typeface="Calibri" pitchFamily="34" charset="0"/>
                <a:ea typeface="Calibri" pitchFamily="34" charset="-122"/>
                <a:cs typeface="Calibri" pitchFamily="34" charset="-120"/>
              </a:rPr>
              <a:t>GUI: </a:t>
            </a:r>
            <a:r>
              <a:rPr lang="en-US" sz="1300" dirty="0">
                <a:solidFill>
                  <a:srgbClr val="1A1A1A"/>
                </a:solidFill>
                <a:latin typeface="Calibri" pitchFamily="34" charset="0"/>
                <a:ea typeface="Calibri" pitchFamily="34" charset="-122"/>
                <a:cs typeface="Calibri" pitchFamily="34" charset="-120"/>
              </a:rPr>
              <a:t>Visual, easy for beginners, slower for repetitive tasks</a:t>
            </a:r>
            <a:endParaRPr lang="en-US" sz="1300" dirty="0"/>
          </a:p>
        </p:txBody>
      </p:sp>
      <p:sp>
        <p:nvSpPr>
          <p:cNvPr id="8" name="Text 6"/>
          <p:cNvSpPr/>
          <p:nvPr/>
        </p:nvSpPr>
        <p:spPr>
          <a:xfrm>
            <a:off x="872197" y="2386582"/>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a:t>
            </a:r>
            <a:r>
              <a:rPr lang="en-US" sz="1300" b="1" dirty="0">
                <a:solidFill>
                  <a:srgbClr val="1A1A1A"/>
                </a:solidFill>
                <a:latin typeface="Calibri" pitchFamily="34" charset="0"/>
                <a:ea typeface="Calibri" pitchFamily="34" charset="-122"/>
                <a:cs typeface="Calibri" pitchFamily="34" charset="-120"/>
              </a:rPr>
              <a:t>CLI: </a:t>
            </a:r>
            <a:r>
              <a:rPr lang="en-US" sz="1300" dirty="0">
                <a:solidFill>
                  <a:srgbClr val="1A1A1A"/>
                </a:solidFill>
                <a:latin typeface="Calibri" pitchFamily="34" charset="0"/>
                <a:ea typeface="Calibri" pitchFamily="34" charset="-122"/>
                <a:cs typeface="Calibri" pitchFamily="34" charset="-120"/>
              </a:rPr>
              <a:t>Fast for power users, efficient scripting, steeper learning curve</a:t>
            </a:r>
            <a:endParaRPr lang="en-US" sz="1300" dirty="0"/>
          </a:p>
        </p:txBody>
      </p:sp>
      <p:sp>
        <p:nvSpPr>
          <p:cNvPr id="9" name="Text 7"/>
          <p:cNvSpPr/>
          <p:nvPr/>
        </p:nvSpPr>
        <p:spPr>
          <a:xfrm>
            <a:off x="597877" y="2642380"/>
            <a:ext cx="8046720" cy="365760"/>
          </a:xfrm>
          <a:prstGeom prst="rect">
            <a:avLst/>
          </a:prstGeom>
          <a:noFill/>
          <a:ln/>
        </p:spPr>
        <p:txBody>
          <a:bodyPr wrap="square" rtlCol="0" anchor="ctr"/>
          <a:lstStyle/>
          <a:p>
            <a:pPr marL="0" indent="0">
              <a:buNone/>
            </a:pPr>
            <a:r>
              <a:rPr lang="en-US" sz="1800" b="1" dirty="0">
                <a:solidFill>
                  <a:srgbClr val="1F4788"/>
                </a:solidFill>
                <a:latin typeface="Calibri" pitchFamily="34" charset="0"/>
                <a:ea typeface="Calibri" pitchFamily="34" charset="-122"/>
                <a:cs typeface="Calibri" pitchFamily="34" charset="-120"/>
              </a:rPr>
              <a:t>Why Learn CLI?</a:t>
            </a:r>
            <a:endParaRPr lang="en-US" sz="1800" dirty="0"/>
          </a:p>
        </p:txBody>
      </p:sp>
      <p:sp>
        <p:nvSpPr>
          <p:cNvPr id="10" name="Text 8"/>
          <p:cNvSpPr/>
          <p:nvPr/>
        </p:nvSpPr>
        <p:spPr>
          <a:xfrm>
            <a:off x="872197" y="3016112"/>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a:t>
            </a:r>
            <a:r>
              <a:rPr lang="en-US" sz="1300" b="1" dirty="0">
                <a:solidFill>
                  <a:srgbClr val="1A1A1A"/>
                </a:solidFill>
                <a:latin typeface="Calibri" pitchFamily="34" charset="0"/>
                <a:ea typeface="Calibri" pitchFamily="34" charset="-122"/>
                <a:cs typeface="Calibri" pitchFamily="34" charset="-120"/>
              </a:rPr>
              <a:t>Server administration: </a:t>
            </a:r>
            <a:r>
              <a:rPr lang="en-US" sz="1300" dirty="0">
                <a:solidFill>
                  <a:srgbClr val="1A1A1A"/>
                </a:solidFill>
                <a:latin typeface="Calibri" pitchFamily="34" charset="0"/>
                <a:ea typeface="Calibri" pitchFamily="34" charset="-122"/>
                <a:cs typeface="Calibri" pitchFamily="34" charset="-120"/>
              </a:rPr>
              <a:t>Most servers run without GUI (Linux servers)</a:t>
            </a:r>
            <a:endParaRPr lang="en-US" sz="1300" dirty="0"/>
          </a:p>
        </p:txBody>
      </p:sp>
      <p:sp>
        <p:nvSpPr>
          <p:cNvPr id="11" name="Text 9"/>
          <p:cNvSpPr/>
          <p:nvPr/>
        </p:nvSpPr>
        <p:spPr>
          <a:xfrm>
            <a:off x="872197" y="3403676"/>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a:t>
            </a:r>
            <a:r>
              <a:rPr lang="en-US" sz="1300" b="1" dirty="0">
                <a:solidFill>
                  <a:srgbClr val="1A1A1A"/>
                </a:solidFill>
                <a:latin typeface="Calibri" pitchFamily="34" charset="0"/>
                <a:ea typeface="Calibri" pitchFamily="34" charset="-122"/>
                <a:cs typeface="Calibri" pitchFamily="34" charset="-120"/>
              </a:rPr>
              <a:t>Automation: </a:t>
            </a:r>
            <a:r>
              <a:rPr lang="en-US" sz="1300" dirty="0">
                <a:solidFill>
                  <a:srgbClr val="1A1A1A"/>
                </a:solidFill>
                <a:latin typeface="Calibri" pitchFamily="34" charset="0"/>
                <a:ea typeface="Calibri" pitchFamily="34" charset="-122"/>
                <a:cs typeface="Calibri" pitchFamily="34" charset="-120"/>
              </a:rPr>
              <a:t>Write scripts for repetitive tasks</a:t>
            </a:r>
            <a:endParaRPr lang="en-US" sz="1300" dirty="0"/>
          </a:p>
        </p:txBody>
      </p:sp>
      <p:sp>
        <p:nvSpPr>
          <p:cNvPr id="12" name="Text 10"/>
          <p:cNvSpPr/>
          <p:nvPr/>
        </p:nvSpPr>
        <p:spPr>
          <a:xfrm>
            <a:off x="872197" y="3826410"/>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a:t>
            </a:r>
            <a:r>
              <a:rPr lang="en-US" sz="1300" b="1" dirty="0">
                <a:solidFill>
                  <a:srgbClr val="1A1A1A"/>
                </a:solidFill>
                <a:latin typeface="Calibri" pitchFamily="34" charset="0"/>
                <a:ea typeface="Calibri" pitchFamily="34" charset="-122"/>
                <a:cs typeface="Calibri" pitchFamily="34" charset="-120"/>
              </a:rPr>
              <a:t>Efficiency: </a:t>
            </a:r>
            <a:r>
              <a:rPr lang="en-US" sz="1300" dirty="0">
                <a:solidFill>
                  <a:srgbClr val="1A1A1A"/>
                </a:solidFill>
                <a:latin typeface="Calibri" pitchFamily="34" charset="0"/>
                <a:ea typeface="Calibri" pitchFamily="34" charset="-122"/>
                <a:cs typeface="Calibri" pitchFamily="34" charset="-120"/>
              </a:rPr>
              <a:t>Faster for experienced users</a:t>
            </a:r>
            <a:endParaRPr lang="en-US" sz="1300" dirty="0"/>
          </a:p>
        </p:txBody>
      </p:sp>
      <p:sp>
        <p:nvSpPr>
          <p:cNvPr id="13" name="Text 11"/>
          <p:cNvSpPr/>
          <p:nvPr/>
        </p:nvSpPr>
        <p:spPr>
          <a:xfrm>
            <a:off x="872197" y="4213974"/>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a:t>
            </a:r>
            <a:r>
              <a:rPr lang="en-US" sz="1300" b="1" dirty="0">
                <a:solidFill>
                  <a:srgbClr val="1A1A1A"/>
                </a:solidFill>
                <a:latin typeface="Calibri" pitchFamily="34" charset="0"/>
                <a:ea typeface="Calibri" pitchFamily="34" charset="-122"/>
                <a:cs typeface="Calibri" pitchFamily="34" charset="-120"/>
              </a:rPr>
              <a:t>Troubleshooting: </a:t>
            </a:r>
            <a:r>
              <a:rPr lang="en-US" sz="1300" dirty="0">
                <a:solidFill>
                  <a:srgbClr val="1A1A1A"/>
                </a:solidFill>
                <a:latin typeface="Calibri" pitchFamily="34" charset="0"/>
                <a:ea typeface="Calibri" pitchFamily="34" charset="-122"/>
                <a:cs typeface="Calibri" pitchFamily="34" charset="-120"/>
              </a:rPr>
              <a:t>Direct system access and control</a:t>
            </a:r>
            <a:endParaRPr lang="en-US" sz="1300" dirty="0"/>
          </a:p>
        </p:txBody>
      </p:sp>
      <p:sp>
        <p:nvSpPr>
          <p:cNvPr id="14" name="Text 12"/>
          <p:cNvSpPr/>
          <p:nvPr/>
        </p:nvSpPr>
        <p:spPr>
          <a:xfrm>
            <a:off x="822960" y="4565904"/>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a:t>
            </a:r>
            <a:r>
              <a:rPr lang="en-US" sz="1300" b="1" dirty="0">
                <a:solidFill>
                  <a:srgbClr val="1A1A1A"/>
                </a:solidFill>
                <a:latin typeface="Calibri" pitchFamily="34" charset="0"/>
                <a:ea typeface="Calibri" pitchFamily="34" charset="-122"/>
                <a:cs typeface="Calibri" pitchFamily="34" charset="-120"/>
              </a:rPr>
              <a:t>Remote work: </a:t>
            </a:r>
            <a:r>
              <a:rPr lang="en-US" sz="1300" dirty="0">
                <a:solidFill>
                  <a:srgbClr val="1A1A1A"/>
                </a:solidFill>
                <a:latin typeface="Calibri" pitchFamily="34" charset="0"/>
                <a:ea typeface="Calibri" pitchFamily="34" charset="-122"/>
                <a:cs typeface="Calibri" pitchFamily="34" charset="-120"/>
              </a:rPr>
              <a:t>SSH access to systems without GUI</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F4788"/>
          </a:solidFill>
          <a:ln/>
        </p:spPr>
      </p:sp>
      <p:sp>
        <p:nvSpPr>
          <p:cNvPr id="3" name="Text 1"/>
          <p:cNvSpPr/>
          <p:nvPr/>
        </p:nvSpPr>
        <p:spPr>
          <a:xfrm>
            <a:off x="457200" y="137160"/>
            <a:ext cx="7772400" cy="457200"/>
          </a:xfrm>
          <a:prstGeom prst="rect">
            <a:avLst/>
          </a:prstGeom>
          <a:noFill/>
          <a:ln/>
        </p:spPr>
        <p:txBody>
          <a:bodyPr wrap="square" rtlCol="0" anchor="ctr"/>
          <a:lstStyle/>
          <a:p>
            <a:pPr marL="0" indent="0" algn="l">
              <a:buNone/>
            </a:pPr>
            <a:r>
              <a:rPr lang="en-US" sz="2600" b="1" dirty="0">
                <a:solidFill>
                  <a:srgbClr val="FFFFFF"/>
                </a:solidFill>
                <a:latin typeface="Calibri" pitchFamily="34" charset="0"/>
                <a:ea typeface="Calibri" pitchFamily="34" charset="-122"/>
                <a:cs typeface="Calibri" pitchFamily="34" charset="-120"/>
              </a:rPr>
              <a:t>Windows Command Line (CMD &amp; PowerShell)</a:t>
            </a:r>
            <a:endParaRPr lang="en-US" sz="2600" dirty="0"/>
          </a:p>
        </p:txBody>
      </p:sp>
      <p:sp>
        <p:nvSpPr>
          <p:cNvPr id="4" name="Text 2"/>
          <p:cNvSpPr/>
          <p:nvPr/>
        </p:nvSpPr>
        <p:spPr>
          <a:xfrm>
            <a:off x="548640" y="773723"/>
            <a:ext cx="8046720" cy="274320"/>
          </a:xfrm>
          <a:prstGeom prst="rect">
            <a:avLst/>
          </a:prstGeom>
          <a:noFill/>
          <a:ln/>
        </p:spPr>
        <p:txBody>
          <a:bodyPr wrap="square" rtlCol="0" anchor="ctr"/>
          <a:lstStyle/>
          <a:p>
            <a:pPr marL="0" indent="0">
              <a:buNone/>
            </a:pPr>
            <a:r>
              <a:rPr lang="en-US" sz="1300" b="1" dirty="0">
                <a:solidFill>
                  <a:srgbClr val="E64A19"/>
                </a:solidFill>
                <a:latin typeface="Calibri" pitchFamily="34" charset="0"/>
                <a:ea typeface="Calibri" pitchFamily="34" charset="-122"/>
                <a:cs typeface="Calibri" pitchFamily="34" charset="-120"/>
              </a:rPr>
              <a:t>Command Prompt (CMD)</a:t>
            </a:r>
            <a:endParaRPr lang="en-US" sz="1300" dirty="0"/>
          </a:p>
        </p:txBody>
      </p:sp>
      <p:sp>
        <p:nvSpPr>
          <p:cNvPr id="5" name="Text 3"/>
          <p:cNvSpPr/>
          <p:nvPr/>
        </p:nvSpPr>
        <p:spPr>
          <a:xfrm>
            <a:off x="822960" y="1093763"/>
            <a:ext cx="7772400" cy="411480"/>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Traditional Windows command-line interpreter (cmd.exe). Simple commands for file, directory, and system operations. Legacy but still widely used.</a:t>
            </a:r>
            <a:endParaRPr lang="en-US" sz="1200" dirty="0"/>
          </a:p>
        </p:txBody>
      </p:sp>
      <p:sp>
        <p:nvSpPr>
          <p:cNvPr id="6" name="Text 4"/>
          <p:cNvSpPr/>
          <p:nvPr/>
        </p:nvSpPr>
        <p:spPr>
          <a:xfrm>
            <a:off x="548640" y="1733843"/>
            <a:ext cx="8046720" cy="274320"/>
          </a:xfrm>
          <a:prstGeom prst="rect">
            <a:avLst/>
          </a:prstGeom>
          <a:noFill/>
          <a:ln/>
        </p:spPr>
        <p:txBody>
          <a:bodyPr wrap="square" rtlCol="0" anchor="ctr"/>
          <a:lstStyle/>
          <a:p>
            <a:pPr marL="0" indent="0">
              <a:buNone/>
            </a:pPr>
            <a:r>
              <a:rPr lang="en-US" sz="1300" b="1" dirty="0">
                <a:solidFill>
                  <a:srgbClr val="E64A19"/>
                </a:solidFill>
                <a:latin typeface="Calibri" pitchFamily="34" charset="0"/>
                <a:ea typeface="Calibri" pitchFamily="34" charset="-122"/>
                <a:cs typeface="Calibri" pitchFamily="34" charset="-120"/>
              </a:rPr>
              <a:t>PowerShell</a:t>
            </a:r>
            <a:endParaRPr lang="en-US" sz="1300" dirty="0"/>
          </a:p>
        </p:txBody>
      </p:sp>
      <p:sp>
        <p:nvSpPr>
          <p:cNvPr id="7" name="Text 5"/>
          <p:cNvSpPr/>
          <p:nvPr/>
        </p:nvSpPr>
        <p:spPr>
          <a:xfrm>
            <a:off x="822960" y="2053883"/>
            <a:ext cx="7772400" cy="411480"/>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Modern Windows shell built on .NET framework. More powerful, supports scripting objects, advanced automation. Recommended for newer systems.</a:t>
            </a:r>
            <a:endParaRPr lang="en-US" sz="1200" dirty="0"/>
          </a:p>
        </p:txBody>
      </p:sp>
      <p:sp>
        <p:nvSpPr>
          <p:cNvPr id="8" name="Text 6"/>
          <p:cNvSpPr/>
          <p:nvPr/>
        </p:nvSpPr>
        <p:spPr>
          <a:xfrm>
            <a:off x="548640" y="2693963"/>
            <a:ext cx="8046720" cy="365760"/>
          </a:xfrm>
          <a:prstGeom prst="rect">
            <a:avLst/>
          </a:prstGeom>
          <a:noFill/>
          <a:ln/>
        </p:spPr>
        <p:txBody>
          <a:bodyPr wrap="square" rtlCol="0" anchor="ctr"/>
          <a:lstStyle/>
          <a:p>
            <a:pPr marL="0" indent="0">
              <a:buNone/>
            </a:pPr>
            <a:r>
              <a:rPr lang="en-US" sz="1800" b="1" dirty="0">
                <a:solidFill>
                  <a:srgbClr val="1F4788"/>
                </a:solidFill>
                <a:latin typeface="Calibri" pitchFamily="34" charset="0"/>
                <a:ea typeface="Calibri" pitchFamily="34" charset="-122"/>
                <a:cs typeface="Calibri" pitchFamily="34" charset="-120"/>
              </a:rPr>
              <a:t>Basic Command Structure:</a:t>
            </a:r>
            <a:endParaRPr lang="en-US" sz="1800" dirty="0"/>
          </a:p>
        </p:txBody>
      </p:sp>
      <p:sp>
        <p:nvSpPr>
          <p:cNvPr id="9" name="Shape 7"/>
          <p:cNvSpPr/>
          <p:nvPr/>
        </p:nvSpPr>
        <p:spPr>
          <a:xfrm>
            <a:off x="548640" y="3151163"/>
            <a:ext cx="8046720" cy="320040"/>
          </a:xfrm>
          <a:prstGeom prst="rect">
            <a:avLst/>
          </a:prstGeom>
          <a:solidFill>
            <a:srgbClr val="2D2D2D"/>
          </a:solidFill>
          <a:ln w="12700">
            <a:solidFill>
              <a:srgbClr val="666666"/>
            </a:solidFill>
            <a:prstDash val="solid"/>
          </a:ln>
        </p:spPr>
      </p:sp>
      <p:sp>
        <p:nvSpPr>
          <p:cNvPr id="10" name="Text 8"/>
          <p:cNvSpPr/>
          <p:nvPr/>
        </p:nvSpPr>
        <p:spPr>
          <a:xfrm>
            <a:off x="685800" y="3196883"/>
            <a:ext cx="7772400" cy="228600"/>
          </a:xfrm>
          <a:prstGeom prst="rect">
            <a:avLst/>
          </a:prstGeom>
          <a:noFill/>
          <a:ln/>
        </p:spPr>
        <p:txBody>
          <a:bodyPr wrap="square" rtlCol="0" anchor="t"/>
          <a:lstStyle/>
          <a:p>
            <a:pPr marL="0" indent="0" algn="l">
              <a:buNone/>
            </a:pPr>
            <a:r>
              <a:rPr lang="en-US" sz="1000" dirty="0">
                <a:solidFill>
                  <a:srgbClr val="00FF00"/>
                </a:solidFill>
                <a:latin typeface="Courier New" pitchFamily="34" charset="0"/>
                <a:ea typeface="Courier New" pitchFamily="34" charset="-122"/>
                <a:cs typeface="Courier New" pitchFamily="34" charset="-120"/>
              </a:rPr>
              <a:t>C:\Users\Student&gt; command [options] [arguments]</a:t>
            </a:r>
            <a:endParaRPr lang="en-US" sz="1000" dirty="0"/>
          </a:p>
        </p:txBody>
      </p:sp>
      <p:sp>
        <p:nvSpPr>
          <p:cNvPr id="11" name="Text 9"/>
          <p:cNvSpPr/>
          <p:nvPr/>
        </p:nvSpPr>
        <p:spPr>
          <a:xfrm>
            <a:off x="822960" y="3555609"/>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Command: Action to perform (dir, copy, ipconfig)</a:t>
            </a:r>
            <a:endParaRPr lang="en-US" sz="1300" dirty="0"/>
          </a:p>
        </p:txBody>
      </p:sp>
      <p:sp>
        <p:nvSpPr>
          <p:cNvPr id="12" name="Text 10"/>
          <p:cNvSpPr/>
          <p:nvPr/>
        </p:nvSpPr>
        <p:spPr>
          <a:xfrm>
            <a:off x="822960" y="3985377"/>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Options/Flags: Modify command behavior (e.g., /S, /A)</a:t>
            </a:r>
            <a:endParaRPr lang="en-US" sz="1300" dirty="0"/>
          </a:p>
        </p:txBody>
      </p:sp>
      <p:sp>
        <p:nvSpPr>
          <p:cNvPr id="13" name="Text 11"/>
          <p:cNvSpPr/>
          <p:nvPr/>
        </p:nvSpPr>
        <p:spPr>
          <a:xfrm>
            <a:off x="822960" y="4415145"/>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Arguments: Data for the command (filenames, paths)</a:t>
            </a:r>
            <a:endParaRPr lang="en-US" sz="1300" dirty="0"/>
          </a:p>
        </p:txBody>
      </p:sp>
      <p:sp>
        <p:nvSpPr>
          <p:cNvPr id="14" name="Text 12"/>
          <p:cNvSpPr/>
          <p:nvPr/>
        </p:nvSpPr>
        <p:spPr>
          <a:xfrm>
            <a:off x="822960" y="4844913"/>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Prompt: Shows current directory and ready for input</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F4788"/>
          </a:solidFill>
          <a:ln/>
        </p:spPr>
      </p:sp>
      <p:sp>
        <p:nvSpPr>
          <p:cNvPr id="3" name="Text 1"/>
          <p:cNvSpPr/>
          <p:nvPr/>
        </p:nvSpPr>
        <p:spPr>
          <a:xfrm>
            <a:off x="457200" y="137160"/>
            <a:ext cx="777240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Windows File Navigation Commands</a:t>
            </a:r>
            <a:endParaRPr lang="en-US" sz="3200" dirty="0"/>
          </a:p>
        </p:txBody>
      </p:sp>
      <p:sp>
        <p:nvSpPr>
          <p:cNvPr id="4" name="Text 2"/>
          <p:cNvSpPr/>
          <p:nvPr/>
        </p:nvSpPr>
        <p:spPr>
          <a:xfrm>
            <a:off x="640080" y="1005840"/>
            <a:ext cx="1209822" cy="292608"/>
          </a:xfrm>
          <a:prstGeom prst="rect">
            <a:avLst/>
          </a:prstGeom>
          <a:solidFill>
            <a:srgbClr val="1F4788"/>
          </a:solidFill>
          <a:ln/>
        </p:spPr>
        <p:txBody>
          <a:bodyPr wrap="square"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dir</a:t>
            </a:r>
            <a:endParaRPr lang="en-US" sz="1100" dirty="0"/>
          </a:p>
        </p:txBody>
      </p:sp>
      <p:sp>
        <p:nvSpPr>
          <p:cNvPr id="5" name="Text 3"/>
          <p:cNvSpPr/>
          <p:nvPr/>
        </p:nvSpPr>
        <p:spPr>
          <a:xfrm>
            <a:off x="2278962" y="1005840"/>
            <a:ext cx="4114800" cy="292608"/>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List directory contents (files and folders)</a:t>
            </a:r>
            <a:endParaRPr lang="en-US" sz="1100" dirty="0"/>
          </a:p>
        </p:txBody>
      </p:sp>
      <p:sp>
        <p:nvSpPr>
          <p:cNvPr id="6" name="Text 4"/>
          <p:cNvSpPr/>
          <p:nvPr/>
        </p:nvSpPr>
        <p:spPr>
          <a:xfrm>
            <a:off x="640080" y="1389888"/>
            <a:ext cx="1209822" cy="292608"/>
          </a:xfrm>
          <a:prstGeom prst="rect">
            <a:avLst/>
          </a:prstGeom>
          <a:solidFill>
            <a:srgbClr val="1F4788"/>
          </a:solidFill>
          <a:ln/>
        </p:spPr>
        <p:txBody>
          <a:bodyPr wrap="square"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cd</a:t>
            </a:r>
            <a:endParaRPr lang="en-US" sz="1100" dirty="0"/>
          </a:p>
        </p:txBody>
      </p:sp>
      <p:sp>
        <p:nvSpPr>
          <p:cNvPr id="7" name="Text 5"/>
          <p:cNvSpPr/>
          <p:nvPr/>
        </p:nvSpPr>
        <p:spPr>
          <a:xfrm>
            <a:off x="2278962" y="1389888"/>
            <a:ext cx="4114800" cy="292608"/>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Change directory (navigate folders)</a:t>
            </a:r>
            <a:endParaRPr lang="en-US" sz="1100" dirty="0"/>
          </a:p>
        </p:txBody>
      </p:sp>
      <p:sp>
        <p:nvSpPr>
          <p:cNvPr id="8" name="Text 6"/>
          <p:cNvSpPr/>
          <p:nvPr/>
        </p:nvSpPr>
        <p:spPr>
          <a:xfrm>
            <a:off x="640080" y="1773936"/>
            <a:ext cx="1209822" cy="292608"/>
          </a:xfrm>
          <a:prstGeom prst="rect">
            <a:avLst/>
          </a:prstGeom>
          <a:solidFill>
            <a:srgbClr val="1F4788"/>
          </a:solidFill>
          <a:ln/>
        </p:spPr>
        <p:txBody>
          <a:bodyPr wrap="square"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cd ..</a:t>
            </a:r>
            <a:endParaRPr lang="en-US" sz="1100" dirty="0"/>
          </a:p>
        </p:txBody>
      </p:sp>
      <p:sp>
        <p:nvSpPr>
          <p:cNvPr id="9" name="Text 7"/>
          <p:cNvSpPr/>
          <p:nvPr/>
        </p:nvSpPr>
        <p:spPr>
          <a:xfrm>
            <a:off x="2278962" y="1773936"/>
            <a:ext cx="4114800" cy="292608"/>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Go up one directory level</a:t>
            </a:r>
            <a:endParaRPr lang="en-US" sz="1100" dirty="0"/>
          </a:p>
        </p:txBody>
      </p:sp>
      <p:sp>
        <p:nvSpPr>
          <p:cNvPr id="10" name="Text 8"/>
          <p:cNvSpPr/>
          <p:nvPr/>
        </p:nvSpPr>
        <p:spPr>
          <a:xfrm>
            <a:off x="640080" y="2157984"/>
            <a:ext cx="1209822" cy="292608"/>
          </a:xfrm>
          <a:prstGeom prst="rect">
            <a:avLst/>
          </a:prstGeom>
          <a:solidFill>
            <a:srgbClr val="1F4788"/>
          </a:solidFill>
          <a:ln/>
        </p:spPr>
        <p:txBody>
          <a:bodyPr wrap="square"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cd /</a:t>
            </a:r>
            <a:endParaRPr lang="en-US" sz="1100" dirty="0"/>
          </a:p>
        </p:txBody>
      </p:sp>
      <p:sp>
        <p:nvSpPr>
          <p:cNvPr id="11" name="Text 9"/>
          <p:cNvSpPr/>
          <p:nvPr/>
        </p:nvSpPr>
        <p:spPr>
          <a:xfrm>
            <a:off x="2278962" y="2157984"/>
            <a:ext cx="4114800" cy="292608"/>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Go to root directory (C:\)</a:t>
            </a:r>
            <a:endParaRPr lang="en-US" sz="1100" dirty="0"/>
          </a:p>
        </p:txBody>
      </p:sp>
      <p:sp>
        <p:nvSpPr>
          <p:cNvPr id="12" name="Text 10"/>
          <p:cNvSpPr/>
          <p:nvPr/>
        </p:nvSpPr>
        <p:spPr>
          <a:xfrm>
            <a:off x="640080" y="2542032"/>
            <a:ext cx="1209822" cy="292608"/>
          </a:xfrm>
          <a:prstGeom prst="rect">
            <a:avLst/>
          </a:prstGeom>
          <a:solidFill>
            <a:srgbClr val="1F4788"/>
          </a:solidFill>
          <a:ln/>
        </p:spPr>
        <p:txBody>
          <a:bodyPr wrap="square"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pwd</a:t>
            </a:r>
            <a:endParaRPr lang="en-US" sz="1100" dirty="0"/>
          </a:p>
        </p:txBody>
      </p:sp>
      <p:sp>
        <p:nvSpPr>
          <p:cNvPr id="13" name="Text 11"/>
          <p:cNvSpPr/>
          <p:nvPr/>
        </p:nvSpPr>
        <p:spPr>
          <a:xfrm>
            <a:off x="2278962" y="2542032"/>
            <a:ext cx="4114800" cy="292608"/>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Print working directory (show current path)</a:t>
            </a:r>
            <a:endParaRPr lang="en-US" sz="1100" dirty="0"/>
          </a:p>
        </p:txBody>
      </p:sp>
      <p:sp>
        <p:nvSpPr>
          <p:cNvPr id="14" name="Text 12"/>
          <p:cNvSpPr/>
          <p:nvPr/>
        </p:nvSpPr>
        <p:spPr>
          <a:xfrm>
            <a:off x="640080" y="2926080"/>
            <a:ext cx="1209822" cy="292608"/>
          </a:xfrm>
          <a:prstGeom prst="rect">
            <a:avLst/>
          </a:prstGeom>
          <a:solidFill>
            <a:srgbClr val="1F4788"/>
          </a:solidFill>
          <a:ln/>
        </p:spPr>
        <p:txBody>
          <a:bodyPr wrap="square"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mkdir</a:t>
            </a:r>
            <a:endParaRPr lang="en-US" sz="1100" dirty="0"/>
          </a:p>
        </p:txBody>
      </p:sp>
      <p:sp>
        <p:nvSpPr>
          <p:cNvPr id="15" name="Text 13"/>
          <p:cNvSpPr/>
          <p:nvPr/>
        </p:nvSpPr>
        <p:spPr>
          <a:xfrm>
            <a:off x="2278962" y="2926080"/>
            <a:ext cx="4114800" cy="292608"/>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Create new directory</a:t>
            </a:r>
            <a:endParaRPr lang="en-US" sz="1100" dirty="0"/>
          </a:p>
        </p:txBody>
      </p:sp>
      <p:sp>
        <p:nvSpPr>
          <p:cNvPr id="16" name="Text 14"/>
          <p:cNvSpPr/>
          <p:nvPr/>
        </p:nvSpPr>
        <p:spPr>
          <a:xfrm>
            <a:off x="640080" y="3310128"/>
            <a:ext cx="1209822" cy="292608"/>
          </a:xfrm>
          <a:prstGeom prst="rect">
            <a:avLst/>
          </a:prstGeom>
          <a:solidFill>
            <a:srgbClr val="1F4788"/>
          </a:solidFill>
          <a:ln/>
        </p:spPr>
        <p:txBody>
          <a:bodyPr wrap="square"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rmdir</a:t>
            </a:r>
            <a:endParaRPr lang="en-US" sz="1100" dirty="0"/>
          </a:p>
        </p:txBody>
      </p:sp>
      <p:sp>
        <p:nvSpPr>
          <p:cNvPr id="17" name="Text 15"/>
          <p:cNvSpPr/>
          <p:nvPr/>
        </p:nvSpPr>
        <p:spPr>
          <a:xfrm>
            <a:off x="2278962" y="3310128"/>
            <a:ext cx="4114800" cy="292608"/>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Remove empty directory</a:t>
            </a:r>
            <a:endParaRPr lang="en-US" sz="1100" dirty="0"/>
          </a:p>
        </p:txBody>
      </p:sp>
      <p:sp>
        <p:nvSpPr>
          <p:cNvPr id="18" name="Text 16"/>
          <p:cNvSpPr/>
          <p:nvPr/>
        </p:nvSpPr>
        <p:spPr>
          <a:xfrm>
            <a:off x="548640" y="3694176"/>
            <a:ext cx="8046720" cy="365760"/>
          </a:xfrm>
          <a:prstGeom prst="rect">
            <a:avLst/>
          </a:prstGeom>
          <a:noFill/>
          <a:ln/>
        </p:spPr>
        <p:txBody>
          <a:bodyPr wrap="square" rtlCol="0" anchor="ctr"/>
          <a:lstStyle/>
          <a:p>
            <a:pPr marL="0" indent="0">
              <a:buNone/>
            </a:pPr>
            <a:r>
              <a:rPr lang="en-US" sz="1800" b="1" dirty="0">
                <a:solidFill>
                  <a:srgbClr val="1F4788"/>
                </a:solidFill>
                <a:latin typeface="Calibri" pitchFamily="34" charset="0"/>
                <a:ea typeface="Calibri" pitchFamily="34" charset="-122"/>
                <a:cs typeface="Calibri" pitchFamily="34" charset="-120"/>
              </a:rPr>
              <a:t>Practical Examples:</a:t>
            </a:r>
            <a:endParaRPr lang="en-US" sz="1800" dirty="0"/>
          </a:p>
        </p:txBody>
      </p:sp>
      <p:sp>
        <p:nvSpPr>
          <p:cNvPr id="19" name="Shape 17"/>
          <p:cNvSpPr/>
          <p:nvPr/>
        </p:nvSpPr>
        <p:spPr>
          <a:xfrm>
            <a:off x="548640" y="4151376"/>
            <a:ext cx="8046720" cy="768096"/>
          </a:xfrm>
          <a:prstGeom prst="rect">
            <a:avLst/>
          </a:prstGeom>
          <a:solidFill>
            <a:srgbClr val="2D2D2D"/>
          </a:solidFill>
          <a:ln w="12700">
            <a:solidFill>
              <a:srgbClr val="666666"/>
            </a:solidFill>
            <a:prstDash val="solid"/>
          </a:ln>
        </p:spPr>
      </p:sp>
      <p:sp>
        <p:nvSpPr>
          <p:cNvPr id="20" name="Text 18"/>
          <p:cNvSpPr/>
          <p:nvPr/>
        </p:nvSpPr>
        <p:spPr>
          <a:xfrm>
            <a:off x="685800" y="4197096"/>
            <a:ext cx="7772400" cy="502920"/>
          </a:xfrm>
          <a:prstGeom prst="rect">
            <a:avLst/>
          </a:prstGeom>
          <a:noFill/>
          <a:ln/>
        </p:spPr>
        <p:txBody>
          <a:bodyPr wrap="square" rtlCol="0" anchor="t"/>
          <a:lstStyle/>
          <a:p>
            <a:pPr marL="0" indent="0" algn="l">
              <a:buNone/>
            </a:pPr>
            <a:r>
              <a:rPr lang="en-US" sz="1000" dirty="0">
                <a:solidFill>
                  <a:srgbClr val="00FF00"/>
                </a:solidFill>
                <a:latin typeface="Courier New" pitchFamily="34" charset="0"/>
                <a:ea typeface="Courier New" pitchFamily="34" charset="-122"/>
                <a:cs typeface="Courier New" pitchFamily="34" charset="-120"/>
              </a:rPr>
              <a:t>dir              →  Lists files in current folder</a:t>
            </a:r>
            <a:endParaRPr lang="en-US" sz="1000" dirty="0"/>
          </a:p>
          <a:p>
            <a:pPr marL="0" indent="0" algn="l">
              <a:buNone/>
            </a:pPr>
            <a:r>
              <a:rPr lang="en-US" sz="1000" dirty="0">
                <a:solidFill>
                  <a:srgbClr val="00FF00"/>
                </a:solidFill>
                <a:latin typeface="Courier New" pitchFamily="34" charset="0"/>
                <a:ea typeface="Courier New" pitchFamily="34" charset="-122"/>
                <a:cs typeface="Courier New" pitchFamily="34" charset="-120"/>
              </a:rPr>
              <a:t>cd Documents     →  Enter Documents folder</a:t>
            </a:r>
            <a:endParaRPr lang="en-US" sz="1000" dirty="0"/>
          </a:p>
          <a:p>
            <a:pPr marL="0" indent="0" algn="l">
              <a:buNone/>
            </a:pPr>
            <a:r>
              <a:rPr lang="en-US" sz="1000" dirty="0">
                <a:solidFill>
                  <a:srgbClr val="00FF00"/>
                </a:solidFill>
                <a:latin typeface="Courier New" pitchFamily="34" charset="0"/>
                <a:ea typeface="Courier New" pitchFamily="34" charset="-122"/>
                <a:cs typeface="Courier New" pitchFamily="34" charset="-120"/>
              </a:rPr>
              <a:t>cd..            →  Go back to parent folder</a:t>
            </a:r>
            <a:endParaRPr lang="en-US" sz="1000" dirty="0"/>
          </a:p>
          <a:p>
            <a:pPr marL="0" indent="0" algn="l">
              <a:buNone/>
            </a:pPr>
            <a:r>
              <a:rPr lang="en-US" sz="1000" dirty="0">
                <a:solidFill>
                  <a:srgbClr val="00FF00"/>
                </a:solidFill>
                <a:latin typeface="Courier New" pitchFamily="34" charset="0"/>
                <a:ea typeface="Courier New" pitchFamily="34" charset="-122"/>
                <a:cs typeface="Courier New" pitchFamily="34" charset="-120"/>
              </a:rPr>
              <a:t>mkdir MyFolder   →  Create folder named "MyFolder"</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F4788"/>
          </a:solidFill>
          <a:ln/>
        </p:spPr>
      </p:sp>
      <p:sp>
        <p:nvSpPr>
          <p:cNvPr id="3" name="Text 1"/>
          <p:cNvSpPr/>
          <p:nvPr/>
        </p:nvSpPr>
        <p:spPr>
          <a:xfrm>
            <a:off x="457200" y="137160"/>
            <a:ext cx="777240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Windows File Operations Commands</a:t>
            </a:r>
            <a:endParaRPr lang="en-US" sz="3200" dirty="0"/>
          </a:p>
        </p:txBody>
      </p:sp>
      <p:sp>
        <p:nvSpPr>
          <p:cNvPr id="4" name="Text 2"/>
          <p:cNvSpPr/>
          <p:nvPr/>
        </p:nvSpPr>
        <p:spPr>
          <a:xfrm>
            <a:off x="640080" y="1005840"/>
            <a:ext cx="1132449" cy="292608"/>
          </a:xfrm>
          <a:prstGeom prst="rect">
            <a:avLst/>
          </a:prstGeom>
          <a:solidFill>
            <a:srgbClr val="1F4788"/>
          </a:solidFill>
          <a:ln/>
        </p:spPr>
        <p:txBody>
          <a:bodyPr wrap="square"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copy</a:t>
            </a:r>
            <a:endParaRPr lang="en-US" sz="1100" dirty="0"/>
          </a:p>
        </p:txBody>
      </p:sp>
      <p:sp>
        <p:nvSpPr>
          <p:cNvPr id="5" name="Text 3"/>
          <p:cNvSpPr/>
          <p:nvPr/>
        </p:nvSpPr>
        <p:spPr>
          <a:xfrm>
            <a:off x="2250830" y="1005840"/>
            <a:ext cx="4114800" cy="292608"/>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Copy file from source to destination</a:t>
            </a:r>
            <a:endParaRPr lang="en-US" sz="1100" dirty="0"/>
          </a:p>
        </p:txBody>
      </p:sp>
      <p:sp>
        <p:nvSpPr>
          <p:cNvPr id="6" name="Text 4"/>
          <p:cNvSpPr/>
          <p:nvPr/>
        </p:nvSpPr>
        <p:spPr>
          <a:xfrm>
            <a:off x="640080" y="1389888"/>
            <a:ext cx="1132449" cy="292608"/>
          </a:xfrm>
          <a:prstGeom prst="rect">
            <a:avLst/>
          </a:prstGeom>
          <a:solidFill>
            <a:srgbClr val="1F4788"/>
          </a:solidFill>
          <a:ln/>
        </p:spPr>
        <p:txBody>
          <a:bodyPr wrap="square"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move</a:t>
            </a:r>
            <a:endParaRPr lang="en-US" sz="1100" dirty="0"/>
          </a:p>
        </p:txBody>
      </p:sp>
      <p:sp>
        <p:nvSpPr>
          <p:cNvPr id="7" name="Text 5"/>
          <p:cNvSpPr/>
          <p:nvPr/>
        </p:nvSpPr>
        <p:spPr>
          <a:xfrm>
            <a:off x="2250830" y="1389888"/>
            <a:ext cx="4114800" cy="292608"/>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Move file (cut and paste) to new location</a:t>
            </a:r>
            <a:endParaRPr lang="en-US" sz="1100" dirty="0"/>
          </a:p>
        </p:txBody>
      </p:sp>
      <p:sp>
        <p:nvSpPr>
          <p:cNvPr id="8" name="Text 6"/>
          <p:cNvSpPr/>
          <p:nvPr/>
        </p:nvSpPr>
        <p:spPr>
          <a:xfrm>
            <a:off x="640080" y="1773936"/>
            <a:ext cx="1132449" cy="292608"/>
          </a:xfrm>
          <a:prstGeom prst="rect">
            <a:avLst/>
          </a:prstGeom>
          <a:solidFill>
            <a:srgbClr val="1F4788"/>
          </a:solidFill>
          <a:ln/>
        </p:spPr>
        <p:txBody>
          <a:bodyPr wrap="square"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del</a:t>
            </a:r>
            <a:endParaRPr lang="en-US" sz="1100" dirty="0"/>
          </a:p>
        </p:txBody>
      </p:sp>
      <p:sp>
        <p:nvSpPr>
          <p:cNvPr id="9" name="Text 7"/>
          <p:cNvSpPr/>
          <p:nvPr/>
        </p:nvSpPr>
        <p:spPr>
          <a:xfrm>
            <a:off x="2250830" y="1773936"/>
            <a:ext cx="4114800" cy="292608"/>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Delete file permanently</a:t>
            </a:r>
            <a:endParaRPr lang="en-US" sz="1100" dirty="0"/>
          </a:p>
        </p:txBody>
      </p:sp>
      <p:sp>
        <p:nvSpPr>
          <p:cNvPr id="10" name="Text 8"/>
          <p:cNvSpPr/>
          <p:nvPr/>
        </p:nvSpPr>
        <p:spPr>
          <a:xfrm>
            <a:off x="640080" y="2157984"/>
            <a:ext cx="1132449" cy="292608"/>
          </a:xfrm>
          <a:prstGeom prst="rect">
            <a:avLst/>
          </a:prstGeom>
          <a:solidFill>
            <a:srgbClr val="1F4788"/>
          </a:solidFill>
          <a:ln/>
        </p:spPr>
        <p:txBody>
          <a:bodyPr wrap="square"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ren</a:t>
            </a:r>
            <a:endParaRPr lang="en-US" sz="1100" dirty="0"/>
          </a:p>
        </p:txBody>
      </p:sp>
      <p:sp>
        <p:nvSpPr>
          <p:cNvPr id="11" name="Text 9"/>
          <p:cNvSpPr/>
          <p:nvPr/>
        </p:nvSpPr>
        <p:spPr>
          <a:xfrm>
            <a:off x="2250830" y="2157984"/>
            <a:ext cx="4114800" cy="292608"/>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Rename file</a:t>
            </a:r>
            <a:endParaRPr lang="en-US" sz="1100" dirty="0"/>
          </a:p>
        </p:txBody>
      </p:sp>
      <p:sp>
        <p:nvSpPr>
          <p:cNvPr id="12" name="Text 10"/>
          <p:cNvSpPr/>
          <p:nvPr/>
        </p:nvSpPr>
        <p:spPr>
          <a:xfrm>
            <a:off x="640080" y="2542032"/>
            <a:ext cx="1132449" cy="292608"/>
          </a:xfrm>
          <a:prstGeom prst="rect">
            <a:avLst/>
          </a:prstGeom>
          <a:solidFill>
            <a:srgbClr val="1F4788"/>
          </a:solidFill>
          <a:ln/>
        </p:spPr>
        <p:txBody>
          <a:bodyPr wrap="square"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type</a:t>
            </a:r>
            <a:endParaRPr lang="en-US" sz="1100" dirty="0"/>
          </a:p>
        </p:txBody>
      </p:sp>
      <p:sp>
        <p:nvSpPr>
          <p:cNvPr id="13" name="Text 11"/>
          <p:cNvSpPr/>
          <p:nvPr/>
        </p:nvSpPr>
        <p:spPr>
          <a:xfrm>
            <a:off x="2250830" y="2542032"/>
            <a:ext cx="4114800" cy="292608"/>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Display file contents on screen</a:t>
            </a:r>
            <a:endParaRPr lang="en-US" sz="1100" dirty="0"/>
          </a:p>
        </p:txBody>
      </p:sp>
      <p:sp>
        <p:nvSpPr>
          <p:cNvPr id="14" name="Text 12"/>
          <p:cNvSpPr/>
          <p:nvPr/>
        </p:nvSpPr>
        <p:spPr>
          <a:xfrm>
            <a:off x="640080" y="2926080"/>
            <a:ext cx="1132449" cy="292608"/>
          </a:xfrm>
          <a:prstGeom prst="rect">
            <a:avLst/>
          </a:prstGeom>
          <a:solidFill>
            <a:srgbClr val="1F4788"/>
          </a:solidFill>
          <a:ln/>
        </p:spPr>
        <p:txBody>
          <a:bodyPr wrap="square"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cls</a:t>
            </a:r>
            <a:endParaRPr lang="en-US" sz="1100" dirty="0"/>
          </a:p>
        </p:txBody>
      </p:sp>
      <p:sp>
        <p:nvSpPr>
          <p:cNvPr id="15" name="Text 13"/>
          <p:cNvSpPr/>
          <p:nvPr/>
        </p:nvSpPr>
        <p:spPr>
          <a:xfrm>
            <a:off x="2250830" y="2926080"/>
            <a:ext cx="4114800" cy="292608"/>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Clear screen</a:t>
            </a:r>
            <a:endParaRPr lang="en-US" sz="1100" dirty="0"/>
          </a:p>
        </p:txBody>
      </p:sp>
      <p:sp>
        <p:nvSpPr>
          <p:cNvPr id="16" name="Text 14"/>
          <p:cNvSpPr/>
          <p:nvPr/>
        </p:nvSpPr>
        <p:spPr>
          <a:xfrm>
            <a:off x="548640" y="3310128"/>
            <a:ext cx="8046720" cy="365760"/>
          </a:xfrm>
          <a:prstGeom prst="rect">
            <a:avLst/>
          </a:prstGeom>
          <a:noFill/>
          <a:ln/>
        </p:spPr>
        <p:txBody>
          <a:bodyPr wrap="square" rtlCol="0" anchor="ctr"/>
          <a:lstStyle/>
          <a:p>
            <a:pPr marL="0" indent="0">
              <a:buNone/>
            </a:pPr>
            <a:r>
              <a:rPr lang="en-US" sz="1800" b="1" dirty="0">
                <a:solidFill>
                  <a:srgbClr val="1F4788"/>
                </a:solidFill>
                <a:latin typeface="Calibri" pitchFamily="34" charset="0"/>
                <a:ea typeface="Calibri" pitchFamily="34" charset="-122"/>
                <a:cs typeface="Calibri" pitchFamily="34" charset="-120"/>
              </a:rPr>
              <a:t>Command Examples:</a:t>
            </a:r>
            <a:endParaRPr lang="en-US" sz="1800" dirty="0"/>
          </a:p>
        </p:txBody>
      </p:sp>
      <p:sp>
        <p:nvSpPr>
          <p:cNvPr id="17" name="Shape 15"/>
          <p:cNvSpPr/>
          <p:nvPr/>
        </p:nvSpPr>
        <p:spPr>
          <a:xfrm>
            <a:off x="548640" y="3767328"/>
            <a:ext cx="8046720" cy="877824"/>
          </a:xfrm>
          <a:prstGeom prst="rect">
            <a:avLst/>
          </a:prstGeom>
          <a:solidFill>
            <a:srgbClr val="2D2D2D"/>
          </a:solidFill>
          <a:ln w="12700">
            <a:solidFill>
              <a:srgbClr val="666666"/>
            </a:solidFill>
            <a:prstDash val="solid"/>
          </a:ln>
        </p:spPr>
      </p:sp>
      <p:sp>
        <p:nvSpPr>
          <p:cNvPr id="18" name="Text 16"/>
          <p:cNvSpPr/>
          <p:nvPr/>
        </p:nvSpPr>
        <p:spPr>
          <a:xfrm>
            <a:off x="685800" y="3813048"/>
            <a:ext cx="7772400" cy="502920"/>
          </a:xfrm>
          <a:prstGeom prst="rect">
            <a:avLst/>
          </a:prstGeom>
          <a:noFill/>
          <a:ln/>
        </p:spPr>
        <p:txBody>
          <a:bodyPr wrap="square" rtlCol="0" anchor="t"/>
          <a:lstStyle/>
          <a:p>
            <a:pPr marL="0" indent="0" algn="l">
              <a:buNone/>
            </a:pPr>
            <a:r>
              <a:rPr lang="en-US" sz="1000" dirty="0">
                <a:solidFill>
                  <a:srgbClr val="00FF00"/>
                </a:solidFill>
                <a:latin typeface="Courier New" pitchFamily="34" charset="0"/>
                <a:ea typeface="Courier New" pitchFamily="34" charset="-122"/>
                <a:cs typeface="Courier New" pitchFamily="34" charset="-120"/>
              </a:rPr>
              <a:t>copy file.txt D:\Backup\          →  Copy file to Backup folder</a:t>
            </a:r>
            <a:endParaRPr lang="en-US" sz="1000" dirty="0"/>
          </a:p>
          <a:p>
            <a:pPr marL="0" indent="0" algn="l">
              <a:buNone/>
            </a:pPr>
            <a:r>
              <a:rPr lang="en-US" sz="1000" dirty="0">
                <a:solidFill>
                  <a:srgbClr val="00FF00"/>
                </a:solidFill>
                <a:latin typeface="Courier New" pitchFamily="34" charset="0"/>
                <a:ea typeface="Courier New" pitchFamily="34" charset="-122"/>
                <a:cs typeface="Courier New" pitchFamily="34" charset="-120"/>
              </a:rPr>
              <a:t>move report.pdf Documents\       →  Move report to Documents</a:t>
            </a:r>
            <a:endParaRPr lang="en-US" sz="1000" dirty="0"/>
          </a:p>
          <a:p>
            <a:pPr marL="0" indent="0" algn="l">
              <a:buNone/>
            </a:pPr>
            <a:r>
              <a:rPr lang="en-US" sz="1000" dirty="0">
                <a:solidFill>
                  <a:srgbClr val="00FF00"/>
                </a:solidFill>
                <a:latin typeface="Courier New" pitchFamily="34" charset="0"/>
                <a:ea typeface="Courier New" pitchFamily="34" charset="-122"/>
                <a:cs typeface="Courier New" pitchFamily="34" charset="-120"/>
              </a:rPr>
              <a:t>del temp.txt                      →  Delete temporary file</a:t>
            </a:r>
            <a:endParaRPr lang="en-US" sz="1000" dirty="0"/>
          </a:p>
          <a:p>
            <a:pPr marL="0" indent="0" algn="l">
              <a:buNone/>
            </a:pPr>
            <a:r>
              <a:rPr lang="en-US" sz="1000" dirty="0">
                <a:solidFill>
                  <a:srgbClr val="00FF00"/>
                </a:solidFill>
                <a:latin typeface="Courier New" pitchFamily="34" charset="0"/>
                <a:ea typeface="Courier New" pitchFamily="34" charset="-122"/>
                <a:cs typeface="Courier New" pitchFamily="34" charset="-120"/>
              </a:rPr>
              <a:t>ren old.txt new.txt               →  Rename file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F4788"/>
          </a:solidFill>
          <a:ln/>
        </p:spPr>
      </p:sp>
      <p:sp>
        <p:nvSpPr>
          <p:cNvPr id="3" name="Text 1"/>
          <p:cNvSpPr/>
          <p:nvPr/>
        </p:nvSpPr>
        <p:spPr>
          <a:xfrm>
            <a:off x="457200" y="137160"/>
            <a:ext cx="777240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Windows System Information Commands</a:t>
            </a:r>
            <a:endParaRPr lang="en-US" sz="3200" dirty="0"/>
          </a:p>
        </p:txBody>
      </p:sp>
      <p:sp>
        <p:nvSpPr>
          <p:cNvPr id="4" name="Text 2"/>
          <p:cNvSpPr/>
          <p:nvPr/>
        </p:nvSpPr>
        <p:spPr>
          <a:xfrm>
            <a:off x="640080" y="1005840"/>
            <a:ext cx="1758462" cy="292608"/>
          </a:xfrm>
          <a:prstGeom prst="rect">
            <a:avLst/>
          </a:prstGeom>
          <a:solidFill>
            <a:srgbClr val="1F4788"/>
          </a:solidFill>
          <a:ln/>
        </p:spPr>
        <p:txBody>
          <a:bodyPr wrap="square"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ipconfig</a:t>
            </a:r>
            <a:endParaRPr lang="en-US" sz="1100" dirty="0"/>
          </a:p>
        </p:txBody>
      </p:sp>
      <p:sp>
        <p:nvSpPr>
          <p:cNvPr id="5" name="Text 3"/>
          <p:cNvSpPr/>
          <p:nvPr/>
        </p:nvSpPr>
        <p:spPr>
          <a:xfrm>
            <a:off x="2820567" y="1005840"/>
            <a:ext cx="4114800" cy="292608"/>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Display network configuration and IP address</a:t>
            </a:r>
            <a:endParaRPr lang="en-US" sz="1100" dirty="0"/>
          </a:p>
        </p:txBody>
      </p:sp>
      <p:sp>
        <p:nvSpPr>
          <p:cNvPr id="6" name="Text 4"/>
          <p:cNvSpPr/>
          <p:nvPr/>
        </p:nvSpPr>
        <p:spPr>
          <a:xfrm>
            <a:off x="640080" y="1389888"/>
            <a:ext cx="1758462" cy="292608"/>
          </a:xfrm>
          <a:prstGeom prst="rect">
            <a:avLst/>
          </a:prstGeom>
          <a:solidFill>
            <a:srgbClr val="1F4788"/>
          </a:solidFill>
          <a:ln/>
        </p:spPr>
        <p:txBody>
          <a:bodyPr wrap="square"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ipconfig /all</a:t>
            </a:r>
            <a:endParaRPr lang="en-US" sz="1100" dirty="0"/>
          </a:p>
        </p:txBody>
      </p:sp>
      <p:sp>
        <p:nvSpPr>
          <p:cNvPr id="7" name="Text 5"/>
          <p:cNvSpPr/>
          <p:nvPr/>
        </p:nvSpPr>
        <p:spPr>
          <a:xfrm>
            <a:off x="2820567" y="1389888"/>
            <a:ext cx="4114800" cy="292608"/>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Show detailed network info (MAC, DNS, DHCP)</a:t>
            </a:r>
            <a:endParaRPr lang="en-US" sz="1100" dirty="0"/>
          </a:p>
        </p:txBody>
      </p:sp>
      <p:sp>
        <p:nvSpPr>
          <p:cNvPr id="8" name="Text 6"/>
          <p:cNvSpPr/>
          <p:nvPr/>
        </p:nvSpPr>
        <p:spPr>
          <a:xfrm>
            <a:off x="640080" y="1773936"/>
            <a:ext cx="1758462" cy="292608"/>
          </a:xfrm>
          <a:prstGeom prst="rect">
            <a:avLst/>
          </a:prstGeom>
          <a:solidFill>
            <a:srgbClr val="1F4788"/>
          </a:solidFill>
          <a:ln/>
        </p:spPr>
        <p:txBody>
          <a:bodyPr wrap="square"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ping</a:t>
            </a:r>
            <a:endParaRPr lang="en-US" sz="1100" dirty="0"/>
          </a:p>
        </p:txBody>
      </p:sp>
      <p:sp>
        <p:nvSpPr>
          <p:cNvPr id="9" name="Text 7"/>
          <p:cNvSpPr/>
          <p:nvPr/>
        </p:nvSpPr>
        <p:spPr>
          <a:xfrm>
            <a:off x="2820567" y="1773936"/>
            <a:ext cx="4114800" cy="292608"/>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Test connectivity to another computer</a:t>
            </a:r>
            <a:endParaRPr lang="en-US" sz="1100" dirty="0"/>
          </a:p>
        </p:txBody>
      </p:sp>
      <p:sp>
        <p:nvSpPr>
          <p:cNvPr id="10" name="Text 8"/>
          <p:cNvSpPr/>
          <p:nvPr/>
        </p:nvSpPr>
        <p:spPr>
          <a:xfrm>
            <a:off x="640080" y="2157984"/>
            <a:ext cx="1758462" cy="292608"/>
          </a:xfrm>
          <a:prstGeom prst="rect">
            <a:avLst/>
          </a:prstGeom>
          <a:solidFill>
            <a:srgbClr val="1F4788"/>
          </a:solidFill>
          <a:ln/>
        </p:spPr>
        <p:txBody>
          <a:bodyPr wrap="square"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systeminfo</a:t>
            </a:r>
            <a:endParaRPr lang="en-US" sz="1100" dirty="0"/>
          </a:p>
        </p:txBody>
      </p:sp>
      <p:sp>
        <p:nvSpPr>
          <p:cNvPr id="11" name="Text 9"/>
          <p:cNvSpPr/>
          <p:nvPr/>
        </p:nvSpPr>
        <p:spPr>
          <a:xfrm>
            <a:off x="2820567" y="2157984"/>
            <a:ext cx="4114800" cy="292608"/>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Show system configuration details</a:t>
            </a:r>
            <a:endParaRPr lang="en-US" sz="1100" dirty="0"/>
          </a:p>
        </p:txBody>
      </p:sp>
      <p:sp>
        <p:nvSpPr>
          <p:cNvPr id="12" name="Text 10"/>
          <p:cNvSpPr/>
          <p:nvPr/>
        </p:nvSpPr>
        <p:spPr>
          <a:xfrm>
            <a:off x="640080" y="2542032"/>
            <a:ext cx="1758462" cy="292608"/>
          </a:xfrm>
          <a:prstGeom prst="rect">
            <a:avLst/>
          </a:prstGeom>
          <a:solidFill>
            <a:srgbClr val="1F4788"/>
          </a:solidFill>
          <a:ln/>
        </p:spPr>
        <p:txBody>
          <a:bodyPr wrap="square"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tasklist</a:t>
            </a:r>
            <a:endParaRPr lang="en-US" sz="1100" dirty="0"/>
          </a:p>
        </p:txBody>
      </p:sp>
      <p:sp>
        <p:nvSpPr>
          <p:cNvPr id="13" name="Text 11"/>
          <p:cNvSpPr/>
          <p:nvPr/>
        </p:nvSpPr>
        <p:spPr>
          <a:xfrm>
            <a:off x="2820567" y="2542032"/>
            <a:ext cx="4114800" cy="292608"/>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List all running processes</a:t>
            </a:r>
            <a:endParaRPr lang="en-US" sz="1100" dirty="0"/>
          </a:p>
        </p:txBody>
      </p:sp>
      <p:sp>
        <p:nvSpPr>
          <p:cNvPr id="14" name="Text 12"/>
          <p:cNvSpPr/>
          <p:nvPr/>
        </p:nvSpPr>
        <p:spPr>
          <a:xfrm>
            <a:off x="640080" y="2926080"/>
            <a:ext cx="1758462" cy="292608"/>
          </a:xfrm>
          <a:prstGeom prst="rect">
            <a:avLst/>
          </a:prstGeom>
          <a:solidFill>
            <a:srgbClr val="1F4788"/>
          </a:solidFill>
          <a:ln/>
        </p:spPr>
        <p:txBody>
          <a:bodyPr wrap="square"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taskkill</a:t>
            </a:r>
            <a:endParaRPr lang="en-US" sz="1100" dirty="0"/>
          </a:p>
        </p:txBody>
      </p:sp>
      <p:sp>
        <p:nvSpPr>
          <p:cNvPr id="15" name="Text 13"/>
          <p:cNvSpPr/>
          <p:nvPr/>
        </p:nvSpPr>
        <p:spPr>
          <a:xfrm>
            <a:off x="2820567" y="2926080"/>
            <a:ext cx="4114800" cy="292608"/>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Terminate a running process</a:t>
            </a:r>
            <a:endParaRPr lang="en-US" sz="1100" dirty="0"/>
          </a:p>
        </p:txBody>
      </p:sp>
      <p:sp>
        <p:nvSpPr>
          <p:cNvPr id="16" name="Text 14"/>
          <p:cNvSpPr/>
          <p:nvPr/>
        </p:nvSpPr>
        <p:spPr>
          <a:xfrm>
            <a:off x="548640" y="3317162"/>
            <a:ext cx="8046720" cy="365760"/>
          </a:xfrm>
          <a:prstGeom prst="rect">
            <a:avLst/>
          </a:prstGeom>
          <a:noFill/>
          <a:ln/>
        </p:spPr>
        <p:txBody>
          <a:bodyPr wrap="square" rtlCol="0" anchor="ctr"/>
          <a:lstStyle/>
          <a:p>
            <a:pPr marL="0" indent="0">
              <a:buNone/>
            </a:pPr>
            <a:r>
              <a:rPr lang="en-US" sz="1800" b="1" dirty="0">
                <a:solidFill>
                  <a:srgbClr val="1F4788"/>
                </a:solidFill>
                <a:latin typeface="Calibri" pitchFamily="34" charset="0"/>
                <a:ea typeface="Calibri" pitchFamily="34" charset="-122"/>
                <a:cs typeface="Calibri" pitchFamily="34" charset="-120"/>
              </a:rPr>
              <a:t>Practical Usage:</a:t>
            </a:r>
            <a:endParaRPr lang="en-US" sz="1800" dirty="0"/>
          </a:p>
        </p:txBody>
      </p:sp>
      <p:sp>
        <p:nvSpPr>
          <p:cNvPr id="17" name="Shape 15"/>
          <p:cNvSpPr/>
          <p:nvPr/>
        </p:nvSpPr>
        <p:spPr>
          <a:xfrm>
            <a:off x="548640" y="3767328"/>
            <a:ext cx="8046720" cy="877824"/>
          </a:xfrm>
          <a:prstGeom prst="rect">
            <a:avLst/>
          </a:prstGeom>
          <a:solidFill>
            <a:srgbClr val="2D2D2D"/>
          </a:solidFill>
          <a:ln w="12700">
            <a:solidFill>
              <a:srgbClr val="666666"/>
            </a:solidFill>
            <a:prstDash val="solid"/>
          </a:ln>
        </p:spPr>
      </p:sp>
      <p:sp>
        <p:nvSpPr>
          <p:cNvPr id="18" name="Text 16"/>
          <p:cNvSpPr/>
          <p:nvPr/>
        </p:nvSpPr>
        <p:spPr>
          <a:xfrm>
            <a:off x="685800" y="3813048"/>
            <a:ext cx="7772400" cy="502920"/>
          </a:xfrm>
          <a:prstGeom prst="rect">
            <a:avLst/>
          </a:prstGeom>
          <a:noFill/>
          <a:ln/>
        </p:spPr>
        <p:txBody>
          <a:bodyPr wrap="square" rtlCol="0" anchor="t"/>
          <a:lstStyle/>
          <a:p>
            <a:pPr marL="0" indent="0" algn="l">
              <a:buNone/>
            </a:pPr>
            <a:r>
              <a:rPr lang="en-US" sz="1000" dirty="0">
                <a:solidFill>
                  <a:srgbClr val="00FF00"/>
                </a:solidFill>
                <a:latin typeface="Courier New" pitchFamily="34" charset="0"/>
                <a:ea typeface="Courier New" pitchFamily="34" charset="-122"/>
                <a:cs typeface="Courier New" pitchFamily="34" charset="-120"/>
              </a:rPr>
              <a:t>ipconfig              →  Find your computer's IP address</a:t>
            </a:r>
            <a:endParaRPr lang="en-US" sz="1000" dirty="0"/>
          </a:p>
          <a:p>
            <a:pPr marL="0" indent="0" algn="l">
              <a:buNone/>
            </a:pPr>
            <a:r>
              <a:rPr lang="en-US" sz="1000" dirty="0">
                <a:solidFill>
                  <a:srgbClr val="00FF00"/>
                </a:solidFill>
                <a:latin typeface="Courier New" pitchFamily="34" charset="0"/>
                <a:ea typeface="Courier New" pitchFamily="34" charset="-122"/>
                <a:cs typeface="Courier New" pitchFamily="34" charset="-120"/>
              </a:rPr>
              <a:t>ping 8.8.8.8          →  Test internet connection (Google DNS)</a:t>
            </a:r>
            <a:endParaRPr lang="en-US" sz="1000" dirty="0"/>
          </a:p>
          <a:p>
            <a:pPr marL="0" indent="0" algn="l">
              <a:buNone/>
            </a:pPr>
            <a:r>
              <a:rPr lang="en-US" sz="1000" dirty="0" err="1">
                <a:solidFill>
                  <a:srgbClr val="00FF00"/>
                </a:solidFill>
                <a:latin typeface="Courier New" pitchFamily="34" charset="0"/>
                <a:ea typeface="Courier New" pitchFamily="34" charset="-122"/>
                <a:cs typeface="Courier New" pitchFamily="34" charset="-120"/>
              </a:rPr>
              <a:t>systeminfo</a:t>
            </a:r>
            <a:r>
              <a:rPr lang="en-US" sz="1000" dirty="0">
                <a:solidFill>
                  <a:srgbClr val="00FF00"/>
                </a:solidFill>
                <a:latin typeface="Courier New" pitchFamily="34" charset="0"/>
                <a:ea typeface="Courier New" pitchFamily="34" charset="-122"/>
                <a:cs typeface="Courier New" pitchFamily="34" charset="-120"/>
              </a:rPr>
              <a:t>            →  Check Windows version, RAM, processor</a:t>
            </a:r>
            <a:endParaRPr lang="en-US" sz="1000" dirty="0"/>
          </a:p>
          <a:p>
            <a:pPr marL="0" indent="0" algn="l">
              <a:buNone/>
            </a:pPr>
            <a:r>
              <a:rPr lang="en-US" sz="1000" dirty="0">
                <a:solidFill>
                  <a:srgbClr val="00FF00"/>
                </a:solidFill>
                <a:latin typeface="Courier New" pitchFamily="34" charset="0"/>
                <a:ea typeface="Courier New" pitchFamily="34" charset="-122"/>
                <a:cs typeface="Courier New" pitchFamily="34" charset="-120"/>
              </a:rPr>
              <a:t>tasklist | find java  →  Find Java process running</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F4788"/>
          </a:solidFill>
          <a:ln/>
        </p:spPr>
      </p:sp>
      <p:sp>
        <p:nvSpPr>
          <p:cNvPr id="3" name="Text 1"/>
          <p:cNvSpPr/>
          <p:nvPr/>
        </p:nvSpPr>
        <p:spPr>
          <a:xfrm>
            <a:off x="457200" y="137160"/>
            <a:ext cx="777240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Linux Command Line Fundamentals</a:t>
            </a:r>
            <a:endParaRPr lang="en-US" sz="3200" dirty="0"/>
          </a:p>
        </p:txBody>
      </p:sp>
      <p:sp>
        <p:nvSpPr>
          <p:cNvPr id="4" name="Text 2"/>
          <p:cNvSpPr/>
          <p:nvPr/>
        </p:nvSpPr>
        <p:spPr>
          <a:xfrm>
            <a:off x="548640" y="766690"/>
            <a:ext cx="8046720" cy="274320"/>
          </a:xfrm>
          <a:prstGeom prst="rect">
            <a:avLst/>
          </a:prstGeom>
          <a:noFill/>
          <a:ln/>
        </p:spPr>
        <p:txBody>
          <a:bodyPr wrap="square" rtlCol="0" anchor="ctr"/>
          <a:lstStyle/>
          <a:p>
            <a:pPr marL="0" indent="0">
              <a:buNone/>
            </a:pPr>
            <a:r>
              <a:rPr lang="en-US" sz="1300" b="1" dirty="0">
                <a:solidFill>
                  <a:srgbClr val="E64A19"/>
                </a:solidFill>
                <a:latin typeface="Calibri" pitchFamily="34" charset="0"/>
                <a:ea typeface="Calibri" pitchFamily="34" charset="-122"/>
                <a:cs typeface="Calibri" pitchFamily="34" charset="-120"/>
              </a:rPr>
              <a:t>Linux Shell (Bash)</a:t>
            </a:r>
            <a:endParaRPr lang="en-US" sz="1300" dirty="0"/>
          </a:p>
        </p:txBody>
      </p:sp>
      <p:sp>
        <p:nvSpPr>
          <p:cNvPr id="5" name="Text 3"/>
          <p:cNvSpPr/>
          <p:nvPr/>
        </p:nvSpPr>
        <p:spPr>
          <a:xfrm>
            <a:off x="822960" y="1086730"/>
            <a:ext cx="7772400" cy="411480"/>
          </a:xfrm>
          <a:prstGeom prst="rect">
            <a:avLst/>
          </a:prstGeom>
          <a:noFill/>
          <a:ln>
            <a:noFill/>
          </a:ln>
          <a:effectLst/>
          <a:scene3d>
            <a:camera prst="orthographicFront">
              <a:rot lat="0" lon="0" rev="0"/>
            </a:camera>
            <a:lightRig rig="chilly" dir="t">
              <a:rot lat="0" lon="0" rev="18480000"/>
            </a:lightRig>
          </a:scene3d>
          <a:sp3d prstMaterial="clear">
            <a:bevelT h="63500"/>
          </a:sp3d>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Command-line interpreter for Linux systems. Bash (Bourne Again Shell) is the most common. Similar concepts to Windows but different commands.</a:t>
            </a:r>
            <a:endParaRPr lang="en-US" sz="1200" dirty="0"/>
          </a:p>
        </p:txBody>
      </p:sp>
      <p:sp>
        <p:nvSpPr>
          <p:cNvPr id="6" name="Text 4"/>
          <p:cNvSpPr/>
          <p:nvPr/>
        </p:nvSpPr>
        <p:spPr>
          <a:xfrm>
            <a:off x="548640" y="1600201"/>
            <a:ext cx="8046720" cy="365760"/>
          </a:xfrm>
          <a:prstGeom prst="rect">
            <a:avLst/>
          </a:prstGeom>
          <a:noFill/>
          <a:ln/>
        </p:spPr>
        <p:txBody>
          <a:bodyPr wrap="square" rtlCol="0" anchor="ctr"/>
          <a:lstStyle/>
          <a:p>
            <a:pPr marL="0" indent="0">
              <a:buNone/>
            </a:pPr>
            <a:r>
              <a:rPr lang="en-US" sz="1800" b="1" dirty="0">
                <a:solidFill>
                  <a:srgbClr val="1F4788"/>
                </a:solidFill>
                <a:latin typeface="Calibri" pitchFamily="34" charset="0"/>
                <a:ea typeface="Calibri" pitchFamily="34" charset="-122"/>
                <a:cs typeface="Calibri" pitchFamily="34" charset="-120"/>
              </a:rPr>
              <a:t>Basic Differences from Windows:</a:t>
            </a:r>
            <a:endParaRPr lang="en-US" sz="1800" dirty="0"/>
          </a:p>
        </p:txBody>
      </p:sp>
      <p:sp>
        <p:nvSpPr>
          <p:cNvPr id="7" name="Text 5"/>
          <p:cNvSpPr/>
          <p:nvPr/>
        </p:nvSpPr>
        <p:spPr>
          <a:xfrm>
            <a:off x="822960" y="2007108"/>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Case-sensitive: "File.txt" and "file.txt" are different</a:t>
            </a:r>
            <a:endParaRPr lang="en-US" sz="1300" dirty="0"/>
          </a:p>
        </p:txBody>
      </p:sp>
      <p:sp>
        <p:nvSpPr>
          <p:cNvPr id="8" name="Text 6"/>
          <p:cNvSpPr/>
          <p:nvPr/>
        </p:nvSpPr>
        <p:spPr>
          <a:xfrm>
            <a:off x="822960" y="2392739"/>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Path separator: Forward slash (/) not backslash (\)</a:t>
            </a:r>
            <a:endParaRPr lang="en-US" sz="1300" dirty="0"/>
          </a:p>
        </p:txBody>
      </p:sp>
      <p:sp>
        <p:nvSpPr>
          <p:cNvPr id="9" name="Text 7"/>
          <p:cNvSpPr/>
          <p:nvPr/>
        </p:nvSpPr>
        <p:spPr>
          <a:xfrm>
            <a:off x="822960" y="2783294"/>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Root directory: "/" not "C:\"</a:t>
            </a:r>
            <a:endParaRPr lang="en-US" sz="1300" dirty="0"/>
          </a:p>
        </p:txBody>
      </p:sp>
      <p:sp>
        <p:nvSpPr>
          <p:cNvPr id="10" name="Text 8"/>
          <p:cNvSpPr/>
          <p:nvPr/>
        </p:nvSpPr>
        <p:spPr>
          <a:xfrm>
            <a:off x="822960" y="3173849"/>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No drive letters: All paths from single root "/"</a:t>
            </a:r>
            <a:endParaRPr lang="en-US" sz="1300" dirty="0"/>
          </a:p>
        </p:txBody>
      </p:sp>
      <p:sp>
        <p:nvSpPr>
          <p:cNvPr id="11" name="Text 9"/>
          <p:cNvSpPr/>
          <p:nvPr/>
        </p:nvSpPr>
        <p:spPr>
          <a:xfrm>
            <a:off x="822960" y="3526067"/>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File permissions: More granular (read, write, execute for owner, group, others)</a:t>
            </a:r>
            <a:endParaRPr lang="en-US" sz="1300" dirty="0"/>
          </a:p>
        </p:txBody>
      </p:sp>
      <p:sp>
        <p:nvSpPr>
          <p:cNvPr id="12" name="Text 10"/>
          <p:cNvSpPr/>
          <p:nvPr/>
        </p:nvSpPr>
        <p:spPr>
          <a:xfrm>
            <a:off x="548640" y="3931920"/>
            <a:ext cx="8046720" cy="365760"/>
          </a:xfrm>
          <a:prstGeom prst="rect">
            <a:avLst/>
          </a:prstGeom>
          <a:noFill/>
          <a:ln/>
        </p:spPr>
        <p:txBody>
          <a:bodyPr wrap="square" rtlCol="0" anchor="ctr"/>
          <a:lstStyle/>
          <a:p>
            <a:pPr marL="0" indent="0">
              <a:buNone/>
            </a:pPr>
            <a:r>
              <a:rPr lang="en-US" sz="1800" b="1" dirty="0">
                <a:solidFill>
                  <a:srgbClr val="1F4788"/>
                </a:solidFill>
                <a:latin typeface="Calibri" pitchFamily="34" charset="0"/>
                <a:ea typeface="Calibri" pitchFamily="34" charset="-122"/>
                <a:cs typeface="Calibri" pitchFamily="34" charset="-120"/>
              </a:rPr>
              <a:t>Basic Structure:</a:t>
            </a:r>
            <a:endParaRPr lang="en-US" sz="1800" dirty="0"/>
          </a:p>
        </p:txBody>
      </p:sp>
      <p:sp>
        <p:nvSpPr>
          <p:cNvPr id="13" name="Shape 11"/>
          <p:cNvSpPr/>
          <p:nvPr/>
        </p:nvSpPr>
        <p:spPr>
          <a:xfrm>
            <a:off x="604911" y="4354653"/>
            <a:ext cx="5627077" cy="320040"/>
          </a:xfrm>
          <a:prstGeom prst="rect">
            <a:avLst/>
          </a:prstGeom>
          <a:solidFill>
            <a:srgbClr val="2D2D2D"/>
          </a:solidFill>
          <a:ln w="12700">
            <a:solidFill>
              <a:srgbClr val="666666"/>
            </a:solidFill>
            <a:prstDash val="solid"/>
          </a:ln>
        </p:spPr>
      </p:sp>
      <p:sp>
        <p:nvSpPr>
          <p:cNvPr id="14" name="Text 12"/>
          <p:cNvSpPr/>
          <p:nvPr/>
        </p:nvSpPr>
        <p:spPr>
          <a:xfrm>
            <a:off x="742071" y="4400373"/>
            <a:ext cx="5435245" cy="228600"/>
          </a:xfrm>
          <a:prstGeom prst="rect">
            <a:avLst/>
          </a:prstGeom>
          <a:noFill/>
          <a:ln/>
        </p:spPr>
        <p:txBody>
          <a:bodyPr wrap="square" rtlCol="0" anchor="t"/>
          <a:lstStyle/>
          <a:p>
            <a:pPr marL="0" indent="0" algn="l">
              <a:buNone/>
            </a:pPr>
            <a:r>
              <a:rPr lang="en-US" sz="1000" dirty="0">
                <a:solidFill>
                  <a:srgbClr val="00FF00"/>
                </a:solidFill>
                <a:latin typeface="Courier New" pitchFamily="34" charset="0"/>
                <a:ea typeface="Courier New" pitchFamily="34" charset="-122"/>
                <a:cs typeface="Courier New" pitchFamily="34" charset="-120"/>
              </a:rPr>
              <a:t>user@hostname:/home/user$ command [options] [arguments]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F4788"/>
          </a:solidFill>
          <a:ln/>
        </p:spPr>
      </p:sp>
      <p:sp>
        <p:nvSpPr>
          <p:cNvPr id="3" name="Text 1"/>
          <p:cNvSpPr/>
          <p:nvPr/>
        </p:nvSpPr>
        <p:spPr>
          <a:xfrm>
            <a:off x="457200" y="137160"/>
            <a:ext cx="777240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Linux File Navigation Commands</a:t>
            </a:r>
            <a:endParaRPr lang="en-US" sz="3200" dirty="0"/>
          </a:p>
        </p:txBody>
      </p:sp>
      <p:sp>
        <p:nvSpPr>
          <p:cNvPr id="4" name="Text 2"/>
          <p:cNvSpPr/>
          <p:nvPr/>
        </p:nvSpPr>
        <p:spPr>
          <a:xfrm>
            <a:off x="640080" y="851092"/>
            <a:ext cx="1336431" cy="292608"/>
          </a:xfrm>
          <a:prstGeom prst="rect">
            <a:avLst/>
          </a:prstGeom>
          <a:solidFill>
            <a:srgbClr val="1F4788"/>
          </a:solidFill>
          <a:ln/>
        </p:spPr>
        <p:txBody>
          <a:bodyPr wrap="square"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ls</a:t>
            </a:r>
            <a:endParaRPr lang="en-US" sz="1100" dirty="0"/>
          </a:p>
        </p:txBody>
      </p:sp>
      <p:sp>
        <p:nvSpPr>
          <p:cNvPr id="5" name="Text 3"/>
          <p:cNvSpPr/>
          <p:nvPr/>
        </p:nvSpPr>
        <p:spPr>
          <a:xfrm>
            <a:off x="2300060" y="851092"/>
            <a:ext cx="4114800" cy="292608"/>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List directory contents (files and folders)</a:t>
            </a:r>
            <a:endParaRPr lang="en-US" sz="1100" dirty="0"/>
          </a:p>
        </p:txBody>
      </p:sp>
      <p:sp>
        <p:nvSpPr>
          <p:cNvPr id="6" name="Text 4"/>
          <p:cNvSpPr/>
          <p:nvPr/>
        </p:nvSpPr>
        <p:spPr>
          <a:xfrm>
            <a:off x="640080" y="1235140"/>
            <a:ext cx="1336431" cy="292608"/>
          </a:xfrm>
          <a:prstGeom prst="rect">
            <a:avLst/>
          </a:prstGeom>
          <a:solidFill>
            <a:srgbClr val="1F4788"/>
          </a:solidFill>
          <a:ln/>
        </p:spPr>
        <p:txBody>
          <a:bodyPr wrap="square"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ls -la</a:t>
            </a:r>
            <a:endParaRPr lang="en-US" sz="1100" dirty="0"/>
          </a:p>
        </p:txBody>
      </p:sp>
      <p:sp>
        <p:nvSpPr>
          <p:cNvPr id="7" name="Text 5"/>
          <p:cNvSpPr/>
          <p:nvPr/>
        </p:nvSpPr>
        <p:spPr>
          <a:xfrm>
            <a:off x="2300060" y="1235140"/>
            <a:ext cx="4114800" cy="292608"/>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List with hidden files and detailed info</a:t>
            </a:r>
            <a:endParaRPr lang="en-US" sz="1100" dirty="0"/>
          </a:p>
        </p:txBody>
      </p:sp>
      <p:sp>
        <p:nvSpPr>
          <p:cNvPr id="8" name="Text 6"/>
          <p:cNvSpPr/>
          <p:nvPr/>
        </p:nvSpPr>
        <p:spPr>
          <a:xfrm>
            <a:off x="640080" y="1619188"/>
            <a:ext cx="1336431" cy="292608"/>
          </a:xfrm>
          <a:prstGeom prst="rect">
            <a:avLst/>
          </a:prstGeom>
          <a:solidFill>
            <a:srgbClr val="1F4788"/>
          </a:solidFill>
          <a:ln/>
        </p:spPr>
        <p:txBody>
          <a:bodyPr wrap="square"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pwd</a:t>
            </a:r>
            <a:endParaRPr lang="en-US" sz="1100" dirty="0"/>
          </a:p>
        </p:txBody>
      </p:sp>
      <p:sp>
        <p:nvSpPr>
          <p:cNvPr id="9" name="Text 7"/>
          <p:cNvSpPr/>
          <p:nvPr/>
        </p:nvSpPr>
        <p:spPr>
          <a:xfrm>
            <a:off x="2300060" y="1619188"/>
            <a:ext cx="4114800" cy="292608"/>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Print working directory (show current path)</a:t>
            </a:r>
            <a:endParaRPr lang="en-US" sz="1100" dirty="0"/>
          </a:p>
        </p:txBody>
      </p:sp>
      <p:sp>
        <p:nvSpPr>
          <p:cNvPr id="10" name="Text 8"/>
          <p:cNvSpPr/>
          <p:nvPr/>
        </p:nvSpPr>
        <p:spPr>
          <a:xfrm>
            <a:off x="640080" y="2003236"/>
            <a:ext cx="1336431" cy="292608"/>
          </a:xfrm>
          <a:prstGeom prst="rect">
            <a:avLst/>
          </a:prstGeom>
          <a:solidFill>
            <a:srgbClr val="1F4788"/>
          </a:solidFill>
          <a:ln/>
        </p:spPr>
        <p:txBody>
          <a:bodyPr wrap="square"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cd</a:t>
            </a:r>
            <a:endParaRPr lang="en-US" sz="1100" dirty="0"/>
          </a:p>
        </p:txBody>
      </p:sp>
      <p:sp>
        <p:nvSpPr>
          <p:cNvPr id="11" name="Text 9"/>
          <p:cNvSpPr/>
          <p:nvPr/>
        </p:nvSpPr>
        <p:spPr>
          <a:xfrm>
            <a:off x="2300060" y="2003236"/>
            <a:ext cx="4114800" cy="292608"/>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Change directory (navigate folders)</a:t>
            </a:r>
            <a:endParaRPr lang="en-US" sz="1100" dirty="0"/>
          </a:p>
        </p:txBody>
      </p:sp>
      <p:sp>
        <p:nvSpPr>
          <p:cNvPr id="12" name="Text 10"/>
          <p:cNvSpPr/>
          <p:nvPr/>
        </p:nvSpPr>
        <p:spPr>
          <a:xfrm>
            <a:off x="640080" y="2387284"/>
            <a:ext cx="1336431" cy="292608"/>
          </a:xfrm>
          <a:prstGeom prst="rect">
            <a:avLst/>
          </a:prstGeom>
          <a:solidFill>
            <a:srgbClr val="1F4788"/>
          </a:solidFill>
          <a:ln/>
        </p:spPr>
        <p:txBody>
          <a:bodyPr wrap="square"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cd ~</a:t>
            </a:r>
            <a:endParaRPr lang="en-US" sz="1100" dirty="0"/>
          </a:p>
        </p:txBody>
      </p:sp>
      <p:sp>
        <p:nvSpPr>
          <p:cNvPr id="13" name="Text 11"/>
          <p:cNvSpPr/>
          <p:nvPr/>
        </p:nvSpPr>
        <p:spPr>
          <a:xfrm>
            <a:off x="2300060" y="2387284"/>
            <a:ext cx="4114800" cy="292608"/>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Go to home directory</a:t>
            </a:r>
            <a:endParaRPr lang="en-US" sz="1100" dirty="0"/>
          </a:p>
        </p:txBody>
      </p:sp>
      <p:sp>
        <p:nvSpPr>
          <p:cNvPr id="14" name="Text 12"/>
          <p:cNvSpPr/>
          <p:nvPr/>
        </p:nvSpPr>
        <p:spPr>
          <a:xfrm>
            <a:off x="640080" y="2771332"/>
            <a:ext cx="1336431" cy="292608"/>
          </a:xfrm>
          <a:prstGeom prst="rect">
            <a:avLst/>
          </a:prstGeom>
          <a:solidFill>
            <a:srgbClr val="1F4788"/>
          </a:solidFill>
          <a:ln/>
        </p:spPr>
        <p:txBody>
          <a:bodyPr wrap="square"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cd /home</a:t>
            </a:r>
            <a:endParaRPr lang="en-US" sz="1100" dirty="0"/>
          </a:p>
        </p:txBody>
      </p:sp>
      <p:sp>
        <p:nvSpPr>
          <p:cNvPr id="15" name="Text 13"/>
          <p:cNvSpPr/>
          <p:nvPr/>
        </p:nvSpPr>
        <p:spPr>
          <a:xfrm>
            <a:off x="2300060" y="2771332"/>
            <a:ext cx="4114800" cy="292608"/>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Go to /home directory from anywhere</a:t>
            </a:r>
            <a:endParaRPr lang="en-US" sz="1100" dirty="0"/>
          </a:p>
        </p:txBody>
      </p:sp>
      <p:sp>
        <p:nvSpPr>
          <p:cNvPr id="16" name="Text 14"/>
          <p:cNvSpPr/>
          <p:nvPr/>
        </p:nvSpPr>
        <p:spPr>
          <a:xfrm>
            <a:off x="640080" y="3155380"/>
            <a:ext cx="1336431" cy="292608"/>
          </a:xfrm>
          <a:prstGeom prst="rect">
            <a:avLst/>
          </a:prstGeom>
          <a:solidFill>
            <a:srgbClr val="1F4788"/>
          </a:solidFill>
          <a:ln/>
        </p:spPr>
        <p:txBody>
          <a:bodyPr wrap="square"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mkdir</a:t>
            </a:r>
            <a:endParaRPr lang="en-US" sz="1100" dirty="0"/>
          </a:p>
        </p:txBody>
      </p:sp>
      <p:sp>
        <p:nvSpPr>
          <p:cNvPr id="17" name="Text 15"/>
          <p:cNvSpPr/>
          <p:nvPr/>
        </p:nvSpPr>
        <p:spPr>
          <a:xfrm>
            <a:off x="2300060" y="3155380"/>
            <a:ext cx="4114800" cy="292608"/>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Create new directory</a:t>
            </a:r>
            <a:endParaRPr lang="en-US" sz="1100" dirty="0"/>
          </a:p>
        </p:txBody>
      </p:sp>
      <p:sp>
        <p:nvSpPr>
          <p:cNvPr id="18" name="Text 16"/>
          <p:cNvSpPr/>
          <p:nvPr/>
        </p:nvSpPr>
        <p:spPr>
          <a:xfrm>
            <a:off x="640080" y="3539428"/>
            <a:ext cx="1336431" cy="292608"/>
          </a:xfrm>
          <a:prstGeom prst="rect">
            <a:avLst/>
          </a:prstGeom>
          <a:solidFill>
            <a:srgbClr val="1F4788"/>
          </a:solidFill>
          <a:ln/>
        </p:spPr>
        <p:txBody>
          <a:bodyPr wrap="square"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rmdir</a:t>
            </a:r>
            <a:endParaRPr lang="en-US" sz="1100" dirty="0"/>
          </a:p>
        </p:txBody>
      </p:sp>
      <p:sp>
        <p:nvSpPr>
          <p:cNvPr id="19" name="Text 17"/>
          <p:cNvSpPr/>
          <p:nvPr/>
        </p:nvSpPr>
        <p:spPr>
          <a:xfrm>
            <a:off x="2300060" y="3539428"/>
            <a:ext cx="4114800" cy="292608"/>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Remove empty directory</a:t>
            </a:r>
            <a:endParaRPr lang="en-US" sz="1100" dirty="0"/>
          </a:p>
        </p:txBody>
      </p:sp>
      <p:sp>
        <p:nvSpPr>
          <p:cNvPr id="20" name="Text 18"/>
          <p:cNvSpPr/>
          <p:nvPr/>
        </p:nvSpPr>
        <p:spPr>
          <a:xfrm>
            <a:off x="548640" y="3895344"/>
            <a:ext cx="8046720" cy="365760"/>
          </a:xfrm>
          <a:prstGeom prst="rect">
            <a:avLst/>
          </a:prstGeom>
          <a:noFill/>
          <a:ln/>
        </p:spPr>
        <p:txBody>
          <a:bodyPr wrap="square" rtlCol="0" anchor="ctr"/>
          <a:lstStyle/>
          <a:p>
            <a:pPr marL="0" indent="0">
              <a:buNone/>
            </a:pPr>
            <a:r>
              <a:rPr lang="en-US" sz="1800" b="1" dirty="0">
                <a:solidFill>
                  <a:srgbClr val="1F4788"/>
                </a:solidFill>
                <a:latin typeface="Calibri" pitchFamily="34" charset="0"/>
                <a:ea typeface="Calibri" pitchFamily="34" charset="-122"/>
                <a:cs typeface="Calibri" pitchFamily="34" charset="-120"/>
              </a:rPr>
              <a:t>Example:</a:t>
            </a:r>
            <a:endParaRPr lang="en-US" sz="1800" dirty="0"/>
          </a:p>
        </p:txBody>
      </p:sp>
      <p:sp>
        <p:nvSpPr>
          <p:cNvPr id="21" name="Shape 19"/>
          <p:cNvSpPr/>
          <p:nvPr/>
        </p:nvSpPr>
        <p:spPr>
          <a:xfrm>
            <a:off x="548640" y="4259696"/>
            <a:ext cx="8046720" cy="787791"/>
          </a:xfrm>
          <a:prstGeom prst="rect">
            <a:avLst/>
          </a:prstGeom>
          <a:solidFill>
            <a:srgbClr val="2D2D2D"/>
          </a:solidFill>
          <a:ln w="12700">
            <a:solidFill>
              <a:srgbClr val="666666"/>
            </a:solidFill>
            <a:prstDash val="solid"/>
          </a:ln>
        </p:spPr>
      </p:sp>
      <p:sp>
        <p:nvSpPr>
          <p:cNvPr id="22" name="Text 20"/>
          <p:cNvSpPr/>
          <p:nvPr/>
        </p:nvSpPr>
        <p:spPr>
          <a:xfrm>
            <a:off x="685800" y="4267438"/>
            <a:ext cx="7772400" cy="457200"/>
          </a:xfrm>
          <a:prstGeom prst="rect">
            <a:avLst/>
          </a:prstGeom>
          <a:noFill/>
          <a:ln/>
        </p:spPr>
        <p:txBody>
          <a:bodyPr wrap="square" rtlCol="0" anchor="t"/>
          <a:lstStyle/>
          <a:p>
            <a:pPr marL="0" indent="0" algn="l">
              <a:buNone/>
            </a:pPr>
            <a:r>
              <a:rPr lang="en-US" sz="1000" dirty="0">
                <a:solidFill>
                  <a:srgbClr val="00FF00"/>
                </a:solidFill>
                <a:latin typeface="Courier New" pitchFamily="34" charset="0"/>
                <a:ea typeface="Courier New" pitchFamily="34" charset="-122"/>
                <a:cs typeface="Courier New" pitchFamily="34" charset="-120"/>
              </a:rPr>
              <a:t>ls -la              →  List all files with permissions</a:t>
            </a:r>
            <a:endParaRPr lang="en-US" sz="1000" dirty="0"/>
          </a:p>
          <a:p>
            <a:pPr marL="0" indent="0" algn="l">
              <a:buNone/>
            </a:pPr>
            <a:r>
              <a:rPr lang="en-US" sz="1000" dirty="0">
                <a:solidFill>
                  <a:srgbClr val="00FF00"/>
                </a:solidFill>
                <a:latin typeface="Courier New" pitchFamily="34" charset="0"/>
                <a:ea typeface="Courier New" pitchFamily="34" charset="-122"/>
                <a:cs typeface="Courier New" pitchFamily="34" charset="-120"/>
              </a:rPr>
              <a:t>cd /home/user       →  Navigate to user directory</a:t>
            </a:r>
            <a:endParaRPr lang="en-US" sz="1000" dirty="0"/>
          </a:p>
          <a:p>
            <a:pPr marL="0" indent="0" algn="l">
              <a:buNone/>
            </a:pPr>
            <a:r>
              <a:rPr lang="en-US" sz="1000" dirty="0">
                <a:solidFill>
                  <a:srgbClr val="00FF00"/>
                </a:solidFill>
                <a:latin typeface="Courier New" pitchFamily="34" charset="0"/>
                <a:ea typeface="Courier New" pitchFamily="34" charset="-122"/>
                <a:cs typeface="Courier New" pitchFamily="34" charset="-120"/>
              </a:rPr>
              <a:t>mkdir projects      →  Create projects folder</a:t>
            </a:r>
            <a:endParaRPr lang="en-US" sz="1000" dirty="0"/>
          </a:p>
          <a:p>
            <a:pPr marL="0" indent="0" algn="l">
              <a:buNone/>
            </a:pPr>
            <a:r>
              <a:rPr lang="en-US" sz="1000" dirty="0">
                <a:solidFill>
                  <a:srgbClr val="00FF00"/>
                </a:solidFill>
                <a:latin typeface="Courier New" pitchFamily="34" charset="0"/>
                <a:ea typeface="Courier New" pitchFamily="34" charset="-122"/>
                <a:cs typeface="Courier New" pitchFamily="34" charset="-120"/>
              </a:rPr>
              <a:t>pwd                 →  Show: /home/user/projects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F4788"/>
          </a:solidFill>
          <a:ln/>
        </p:spPr>
      </p:sp>
      <p:sp>
        <p:nvSpPr>
          <p:cNvPr id="3" name="Text 1"/>
          <p:cNvSpPr/>
          <p:nvPr/>
        </p:nvSpPr>
        <p:spPr>
          <a:xfrm>
            <a:off x="457200" y="137160"/>
            <a:ext cx="777240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Linux File Operations Commands</a:t>
            </a:r>
            <a:endParaRPr lang="en-US" sz="3200" dirty="0"/>
          </a:p>
        </p:txBody>
      </p:sp>
      <p:sp>
        <p:nvSpPr>
          <p:cNvPr id="4" name="Text 2"/>
          <p:cNvSpPr/>
          <p:nvPr/>
        </p:nvSpPr>
        <p:spPr>
          <a:xfrm>
            <a:off x="640080" y="1005840"/>
            <a:ext cx="2926080" cy="292608"/>
          </a:xfrm>
          <a:prstGeom prst="rect">
            <a:avLst/>
          </a:prstGeom>
          <a:solidFill>
            <a:srgbClr val="1F4788"/>
          </a:solidFill>
          <a:ln/>
        </p:spPr>
        <p:txBody>
          <a:bodyPr wrap="square"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cp</a:t>
            </a:r>
            <a:endParaRPr lang="en-US" sz="1100" dirty="0"/>
          </a:p>
        </p:txBody>
      </p:sp>
      <p:sp>
        <p:nvSpPr>
          <p:cNvPr id="5" name="Text 3"/>
          <p:cNvSpPr/>
          <p:nvPr/>
        </p:nvSpPr>
        <p:spPr>
          <a:xfrm>
            <a:off x="3749040" y="1005840"/>
            <a:ext cx="4114800" cy="292608"/>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Copy file or directory to new location</a:t>
            </a:r>
            <a:endParaRPr lang="en-US" sz="1100" dirty="0"/>
          </a:p>
        </p:txBody>
      </p:sp>
      <p:sp>
        <p:nvSpPr>
          <p:cNvPr id="6" name="Text 4"/>
          <p:cNvSpPr/>
          <p:nvPr/>
        </p:nvSpPr>
        <p:spPr>
          <a:xfrm>
            <a:off x="640080" y="1389888"/>
            <a:ext cx="2926080" cy="292608"/>
          </a:xfrm>
          <a:prstGeom prst="rect">
            <a:avLst/>
          </a:prstGeom>
          <a:solidFill>
            <a:srgbClr val="1F4788"/>
          </a:solidFill>
          <a:ln/>
        </p:spPr>
        <p:txBody>
          <a:bodyPr wrap="square"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cp -r</a:t>
            </a:r>
            <a:endParaRPr lang="en-US" sz="1100" dirty="0"/>
          </a:p>
        </p:txBody>
      </p:sp>
      <p:sp>
        <p:nvSpPr>
          <p:cNvPr id="7" name="Text 5"/>
          <p:cNvSpPr/>
          <p:nvPr/>
        </p:nvSpPr>
        <p:spPr>
          <a:xfrm>
            <a:off x="3749040" y="1389888"/>
            <a:ext cx="4114800" cy="292608"/>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Copy directory and all contents recursively</a:t>
            </a:r>
            <a:endParaRPr lang="en-US" sz="1100" dirty="0"/>
          </a:p>
        </p:txBody>
      </p:sp>
      <p:sp>
        <p:nvSpPr>
          <p:cNvPr id="8" name="Text 6"/>
          <p:cNvSpPr/>
          <p:nvPr/>
        </p:nvSpPr>
        <p:spPr>
          <a:xfrm>
            <a:off x="640080" y="1773936"/>
            <a:ext cx="2926080" cy="292608"/>
          </a:xfrm>
          <a:prstGeom prst="rect">
            <a:avLst/>
          </a:prstGeom>
          <a:solidFill>
            <a:srgbClr val="1F4788"/>
          </a:solidFill>
          <a:ln/>
        </p:spPr>
        <p:txBody>
          <a:bodyPr wrap="square"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mv</a:t>
            </a:r>
            <a:endParaRPr lang="en-US" sz="1100" dirty="0"/>
          </a:p>
        </p:txBody>
      </p:sp>
      <p:sp>
        <p:nvSpPr>
          <p:cNvPr id="9" name="Text 7"/>
          <p:cNvSpPr/>
          <p:nvPr/>
        </p:nvSpPr>
        <p:spPr>
          <a:xfrm>
            <a:off x="3749040" y="1773936"/>
            <a:ext cx="4114800" cy="292608"/>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Move or rename file/directory</a:t>
            </a:r>
            <a:endParaRPr lang="en-US" sz="1100" dirty="0"/>
          </a:p>
        </p:txBody>
      </p:sp>
      <p:sp>
        <p:nvSpPr>
          <p:cNvPr id="10" name="Text 8"/>
          <p:cNvSpPr/>
          <p:nvPr/>
        </p:nvSpPr>
        <p:spPr>
          <a:xfrm>
            <a:off x="640080" y="2157984"/>
            <a:ext cx="2926080" cy="292608"/>
          </a:xfrm>
          <a:prstGeom prst="rect">
            <a:avLst/>
          </a:prstGeom>
          <a:solidFill>
            <a:srgbClr val="1F4788"/>
          </a:solidFill>
          <a:ln/>
        </p:spPr>
        <p:txBody>
          <a:bodyPr wrap="square"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rm</a:t>
            </a:r>
            <a:endParaRPr lang="en-US" sz="1100" dirty="0"/>
          </a:p>
        </p:txBody>
      </p:sp>
      <p:sp>
        <p:nvSpPr>
          <p:cNvPr id="11" name="Text 9"/>
          <p:cNvSpPr/>
          <p:nvPr/>
        </p:nvSpPr>
        <p:spPr>
          <a:xfrm>
            <a:off x="3749040" y="2157984"/>
            <a:ext cx="4114800" cy="292608"/>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Delete file permanently</a:t>
            </a:r>
            <a:endParaRPr lang="en-US" sz="1100" dirty="0"/>
          </a:p>
        </p:txBody>
      </p:sp>
      <p:sp>
        <p:nvSpPr>
          <p:cNvPr id="12" name="Text 10"/>
          <p:cNvSpPr/>
          <p:nvPr/>
        </p:nvSpPr>
        <p:spPr>
          <a:xfrm>
            <a:off x="640080" y="2542032"/>
            <a:ext cx="2926080" cy="292608"/>
          </a:xfrm>
          <a:prstGeom prst="rect">
            <a:avLst/>
          </a:prstGeom>
          <a:solidFill>
            <a:srgbClr val="1F4788"/>
          </a:solidFill>
          <a:ln/>
        </p:spPr>
        <p:txBody>
          <a:bodyPr wrap="square"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rm -r</a:t>
            </a:r>
            <a:endParaRPr lang="en-US" sz="1100" dirty="0"/>
          </a:p>
        </p:txBody>
      </p:sp>
      <p:sp>
        <p:nvSpPr>
          <p:cNvPr id="13" name="Text 11"/>
          <p:cNvSpPr/>
          <p:nvPr/>
        </p:nvSpPr>
        <p:spPr>
          <a:xfrm>
            <a:off x="3749040" y="2542032"/>
            <a:ext cx="4114800" cy="292608"/>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Delete directory and contents</a:t>
            </a:r>
            <a:endParaRPr lang="en-US" sz="1100" dirty="0"/>
          </a:p>
        </p:txBody>
      </p:sp>
      <p:sp>
        <p:nvSpPr>
          <p:cNvPr id="14" name="Text 12"/>
          <p:cNvSpPr/>
          <p:nvPr/>
        </p:nvSpPr>
        <p:spPr>
          <a:xfrm>
            <a:off x="640080" y="2926080"/>
            <a:ext cx="2926080" cy="292608"/>
          </a:xfrm>
          <a:prstGeom prst="rect">
            <a:avLst/>
          </a:prstGeom>
          <a:solidFill>
            <a:srgbClr val="1F4788"/>
          </a:solidFill>
          <a:ln/>
        </p:spPr>
        <p:txBody>
          <a:bodyPr wrap="square"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cat</a:t>
            </a:r>
            <a:endParaRPr lang="en-US" sz="1100" dirty="0"/>
          </a:p>
        </p:txBody>
      </p:sp>
      <p:sp>
        <p:nvSpPr>
          <p:cNvPr id="15" name="Text 13"/>
          <p:cNvSpPr/>
          <p:nvPr/>
        </p:nvSpPr>
        <p:spPr>
          <a:xfrm>
            <a:off x="3749040" y="2926080"/>
            <a:ext cx="4114800" cy="292608"/>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Display entire file contents</a:t>
            </a:r>
            <a:endParaRPr lang="en-US" sz="1100" dirty="0"/>
          </a:p>
        </p:txBody>
      </p:sp>
      <p:sp>
        <p:nvSpPr>
          <p:cNvPr id="16" name="Text 14"/>
          <p:cNvSpPr/>
          <p:nvPr/>
        </p:nvSpPr>
        <p:spPr>
          <a:xfrm>
            <a:off x="640080" y="3310128"/>
            <a:ext cx="2926080" cy="292608"/>
          </a:xfrm>
          <a:prstGeom prst="rect">
            <a:avLst/>
          </a:prstGeom>
          <a:solidFill>
            <a:srgbClr val="1F4788"/>
          </a:solidFill>
          <a:ln/>
        </p:spPr>
        <p:txBody>
          <a:bodyPr wrap="square"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cat file.txt</a:t>
            </a:r>
            <a:endParaRPr lang="en-US" sz="1100" dirty="0"/>
          </a:p>
        </p:txBody>
      </p:sp>
      <p:sp>
        <p:nvSpPr>
          <p:cNvPr id="17" name="Text 15"/>
          <p:cNvSpPr/>
          <p:nvPr/>
        </p:nvSpPr>
        <p:spPr>
          <a:xfrm>
            <a:off x="3749040" y="3310128"/>
            <a:ext cx="4114800" cy="292608"/>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View file contents</a:t>
            </a:r>
            <a:endParaRPr lang="en-US" sz="1100" dirty="0"/>
          </a:p>
        </p:txBody>
      </p:sp>
      <p:sp>
        <p:nvSpPr>
          <p:cNvPr id="18" name="Text 16"/>
          <p:cNvSpPr/>
          <p:nvPr/>
        </p:nvSpPr>
        <p:spPr>
          <a:xfrm>
            <a:off x="548640" y="3694176"/>
            <a:ext cx="8046720" cy="365760"/>
          </a:xfrm>
          <a:prstGeom prst="rect">
            <a:avLst/>
          </a:prstGeom>
          <a:noFill/>
          <a:ln/>
        </p:spPr>
        <p:txBody>
          <a:bodyPr wrap="square" rtlCol="0" anchor="ctr"/>
          <a:lstStyle/>
          <a:p>
            <a:pPr marL="0" indent="0">
              <a:buNone/>
            </a:pPr>
            <a:r>
              <a:rPr lang="en-US" sz="1800" b="1" dirty="0">
                <a:solidFill>
                  <a:srgbClr val="1F4788"/>
                </a:solidFill>
                <a:latin typeface="Calibri" pitchFamily="34" charset="0"/>
                <a:ea typeface="Calibri" pitchFamily="34" charset="-122"/>
                <a:cs typeface="Calibri" pitchFamily="34" charset="-120"/>
              </a:rPr>
              <a:t>File Operation Examples:</a:t>
            </a:r>
            <a:endParaRPr lang="en-US" sz="1800" dirty="0"/>
          </a:p>
        </p:txBody>
      </p:sp>
      <p:sp>
        <p:nvSpPr>
          <p:cNvPr id="19" name="Shape 17"/>
          <p:cNvSpPr/>
          <p:nvPr/>
        </p:nvSpPr>
        <p:spPr>
          <a:xfrm>
            <a:off x="548640" y="4151376"/>
            <a:ext cx="8046720" cy="768096"/>
          </a:xfrm>
          <a:prstGeom prst="rect">
            <a:avLst/>
          </a:prstGeom>
          <a:solidFill>
            <a:srgbClr val="2D2D2D"/>
          </a:solidFill>
          <a:ln w="12700">
            <a:solidFill>
              <a:srgbClr val="666666"/>
            </a:solidFill>
            <a:prstDash val="solid"/>
          </a:ln>
        </p:spPr>
      </p:sp>
      <p:sp>
        <p:nvSpPr>
          <p:cNvPr id="20" name="Text 18"/>
          <p:cNvSpPr/>
          <p:nvPr/>
        </p:nvSpPr>
        <p:spPr>
          <a:xfrm>
            <a:off x="685800" y="4197096"/>
            <a:ext cx="7772400" cy="457200"/>
          </a:xfrm>
          <a:prstGeom prst="rect">
            <a:avLst/>
          </a:prstGeom>
          <a:noFill/>
          <a:ln/>
        </p:spPr>
        <p:txBody>
          <a:bodyPr wrap="square" rtlCol="0" anchor="t"/>
          <a:lstStyle/>
          <a:p>
            <a:pPr marL="0" indent="0" algn="l">
              <a:buNone/>
            </a:pPr>
            <a:r>
              <a:rPr lang="en-US" sz="1000" dirty="0">
                <a:solidFill>
                  <a:srgbClr val="00FF00"/>
                </a:solidFill>
                <a:latin typeface="Courier New" pitchFamily="34" charset="0"/>
                <a:ea typeface="Courier New" pitchFamily="34" charset="-122"/>
                <a:cs typeface="Courier New" pitchFamily="34" charset="-120"/>
              </a:rPr>
              <a:t>cp document.txt backup/        →  Copy file to backup folder</a:t>
            </a:r>
            <a:endParaRPr lang="en-US" sz="1000" dirty="0"/>
          </a:p>
          <a:p>
            <a:pPr marL="0" indent="0" algn="l">
              <a:buNone/>
            </a:pPr>
            <a:r>
              <a:rPr lang="en-US" sz="1000" dirty="0">
                <a:solidFill>
                  <a:srgbClr val="00FF00"/>
                </a:solidFill>
                <a:latin typeface="Courier New" pitchFamily="34" charset="0"/>
                <a:ea typeface="Courier New" pitchFamily="34" charset="-122"/>
                <a:cs typeface="Courier New" pitchFamily="34" charset="-120"/>
              </a:rPr>
              <a:t>mv old_name.txt new_name.txt   →  Rename file</a:t>
            </a:r>
            <a:endParaRPr lang="en-US" sz="1000" dirty="0"/>
          </a:p>
          <a:p>
            <a:pPr marL="0" indent="0" algn="l">
              <a:buNone/>
            </a:pPr>
            <a:r>
              <a:rPr lang="en-US" sz="1000" dirty="0">
                <a:solidFill>
                  <a:srgbClr val="00FF00"/>
                </a:solidFill>
                <a:latin typeface="Courier New" pitchFamily="34" charset="0"/>
                <a:ea typeface="Courier New" pitchFamily="34" charset="-122"/>
                <a:cs typeface="Courier New" pitchFamily="34" charset="-120"/>
              </a:rPr>
              <a:t>rm temporary.log                →  Delete file</a:t>
            </a:r>
            <a:endParaRPr lang="en-US" sz="1000" dirty="0"/>
          </a:p>
          <a:p>
            <a:pPr marL="0" indent="0" algn="l">
              <a:buNone/>
            </a:pPr>
            <a:r>
              <a:rPr lang="en-US" sz="1000" dirty="0">
                <a:solidFill>
                  <a:srgbClr val="00FF00"/>
                </a:solidFill>
                <a:latin typeface="Courier New" pitchFamily="34" charset="0"/>
                <a:ea typeface="Courier New" pitchFamily="34" charset="-122"/>
                <a:cs typeface="Courier New" pitchFamily="34" charset="-120"/>
              </a:rPr>
              <a:t>cat /etc/hostname              →  View system hostname</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F4788"/>
          </a:solidFill>
          <a:ln/>
        </p:spPr>
      </p:sp>
      <p:sp>
        <p:nvSpPr>
          <p:cNvPr id="3" name="Text 1"/>
          <p:cNvSpPr/>
          <p:nvPr/>
        </p:nvSpPr>
        <p:spPr>
          <a:xfrm>
            <a:off x="457200" y="137160"/>
            <a:ext cx="777240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Searching &amp; Filtering Text (grep, find)</a:t>
            </a:r>
            <a:endParaRPr lang="en-US" sz="3200" dirty="0"/>
          </a:p>
        </p:txBody>
      </p:sp>
      <p:sp>
        <p:nvSpPr>
          <p:cNvPr id="4" name="Text 2"/>
          <p:cNvSpPr/>
          <p:nvPr/>
        </p:nvSpPr>
        <p:spPr>
          <a:xfrm>
            <a:off x="640080" y="1005840"/>
            <a:ext cx="2926080" cy="292608"/>
          </a:xfrm>
          <a:prstGeom prst="rect">
            <a:avLst/>
          </a:prstGeom>
          <a:solidFill>
            <a:srgbClr val="1F4788"/>
          </a:solidFill>
          <a:ln/>
        </p:spPr>
        <p:txBody>
          <a:bodyPr wrap="square"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grep</a:t>
            </a:r>
            <a:endParaRPr lang="en-US" sz="1100" dirty="0"/>
          </a:p>
        </p:txBody>
      </p:sp>
      <p:sp>
        <p:nvSpPr>
          <p:cNvPr id="5" name="Text 3"/>
          <p:cNvSpPr/>
          <p:nvPr/>
        </p:nvSpPr>
        <p:spPr>
          <a:xfrm>
            <a:off x="3749040" y="1005840"/>
            <a:ext cx="4114800" cy="292608"/>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Search for text pattern in file(s)</a:t>
            </a:r>
            <a:endParaRPr lang="en-US" sz="1100" dirty="0"/>
          </a:p>
        </p:txBody>
      </p:sp>
      <p:sp>
        <p:nvSpPr>
          <p:cNvPr id="6" name="Text 4"/>
          <p:cNvSpPr/>
          <p:nvPr/>
        </p:nvSpPr>
        <p:spPr>
          <a:xfrm>
            <a:off x="640080" y="1389888"/>
            <a:ext cx="2926080" cy="292608"/>
          </a:xfrm>
          <a:prstGeom prst="rect">
            <a:avLst/>
          </a:prstGeom>
          <a:solidFill>
            <a:srgbClr val="1F4788"/>
          </a:solidFill>
          <a:ln/>
        </p:spPr>
        <p:txBody>
          <a:bodyPr wrap="square"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grep -i</a:t>
            </a:r>
            <a:endParaRPr lang="en-US" sz="1100" dirty="0"/>
          </a:p>
        </p:txBody>
      </p:sp>
      <p:sp>
        <p:nvSpPr>
          <p:cNvPr id="7" name="Text 5"/>
          <p:cNvSpPr/>
          <p:nvPr/>
        </p:nvSpPr>
        <p:spPr>
          <a:xfrm>
            <a:off x="3749040" y="1389888"/>
            <a:ext cx="4114800" cy="292608"/>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Case-insensitive search</a:t>
            </a:r>
            <a:endParaRPr lang="en-US" sz="1100" dirty="0"/>
          </a:p>
        </p:txBody>
      </p:sp>
      <p:sp>
        <p:nvSpPr>
          <p:cNvPr id="8" name="Text 6"/>
          <p:cNvSpPr/>
          <p:nvPr/>
        </p:nvSpPr>
        <p:spPr>
          <a:xfrm>
            <a:off x="640080" y="1773936"/>
            <a:ext cx="2926080" cy="292608"/>
          </a:xfrm>
          <a:prstGeom prst="rect">
            <a:avLst/>
          </a:prstGeom>
          <a:solidFill>
            <a:srgbClr val="1F4788"/>
          </a:solidFill>
          <a:ln/>
        </p:spPr>
        <p:txBody>
          <a:bodyPr wrap="square"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grep -n</a:t>
            </a:r>
            <a:endParaRPr lang="en-US" sz="1100" dirty="0"/>
          </a:p>
        </p:txBody>
      </p:sp>
      <p:sp>
        <p:nvSpPr>
          <p:cNvPr id="9" name="Text 7"/>
          <p:cNvSpPr/>
          <p:nvPr/>
        </p:nvSpPr>
        <p:spPr>
          <a:xfrm>
            <a:off x="3749040" y="1773936"/>
            <a:ext cx="4114800" cy="292608"/>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Show line numbers with matches</a:t>
            </a:r>
            <a:endParaRPr lang="en-US" sz="1100" dirty="0"/>
          </a:p>
        </p:txBody>
      </p:sp>
      <p:sp>
        <p:nvSpPr>
          <p:cNvPr id="10" name="Text 8"/>
          <p:cNvSpPr/>
          <p:nvPr/>
        </p:nvSpPr>
        <p:spPr>
          <a:xfrm>
            <a:off x="640080" y="2157984"/>
            <a:ext cx="2926080" cy="292608"/>
          </a:xfrm>
          <a:prstGeom prst="rect">
            <a:avLst/>
          </a:prstGeom>
          <a:solidFill>
            <a:srgbClr val="1F4788"/>
          </a:solidFill>
          <a:ln/>
        </p:spPr>
        <p:txBody>
          <a:bodyPr wrap="square"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grep -r</a:t>
            </a:r>
            <a:endParaRPr lang="en-US" sz="1100" dirty="0"/>
          </a:p>
        </p:txBody>
      </p:sp>
      <p:sp>
        <p:nvSpPr>
          <p:cNvPr id="11" name="Text 9"/>
          <p:cNvSpPr/>
          <p:nvPr/>
        </p:nvSpPr>
        <p:spPr>
          <a:xfrm>
            <a:off x="3749040" y="2157984"/>
            <a:ext cx="4114800" cy="292608"/>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Search recursively in directories</a:t>
            </a:r>
            <a:endParaRPr lang="en-US" sz="1100" dirty="0"/>
          </a:p>
        </p:txBody>
      </p:sp>
      <p:sp>
        <p:nvSpPr>
          <p:cNvPr id="12" name="Text 10"/>
          <p:cNvSpPr/>
          <p:nvPr/>
        </p:nvSpPr>
        <p:spPr>
          <a:xfrm>
            <a:off x="640080" y="2542032"/>
            <a:ext cx="2926080" cy="292608"/>
          </a:xfrm>
          <a:prstGeom prst="rect">
            <a:avLst/>
          </a:prstGeom>
          <a:solidFill>
            <a:srgbClr val="1F4788"/>
          </a:solidFill>
          <a:ln/>
        </p:spPr>
        <p:txBody>
          <a:bodyPr wrap="square"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find</a:t>
            </a:r>
            <a:endParaRPr lang="en-US" sz="1100" dirty="0"/>
          </a:p>
        </p:txBody>
      </p:sp>
      <p:sp>
        <p:nvSpPr>
          <p:cNvPr id="13" name="Text 11"/>
          <p:cNvSpPr/>
          <p:nvPr/>
        </p:nvSpPr>
        <p:spPr>
          <a:xfrm>
            <a:off x="3749040" y="2542032"/>
            <a:ext cx="4114800" cy="292608"/>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Search for files by name/properties</a:t>
            </a:r>
            <a:endParaRPr lang="en-US" sz="1100" dirty="0"/>
          </a:p>
        </p:txBody>
      </p:sp>
      <p:sp>
        <p:nvSpPr>
          <p:cNvPr id="14" name="Text 12"/>
          <p:cNvSpPr/>
          <p:nvPr/>
        </p:nvSpPr>
        <p:spPr>
          <a:xfrm>
            <a:off x="548640" y="2926080"/>
            <a:ext cx="8046720" cy="365760"/>
          </a:xfrm>
          <a:prstGeom prst="rect">
            <a:avLst/>
          </a:prstGeom>
          <a:noFill/>
          <a:ln/>
        </p:spPr>
        <p:txBody>
          <a:bodyPr wrap="square" rtlCol="0" anchor="ctr"/>
          <a:lstStyle/>
          <a:p>
            <a:pPr marL="0" indent="0">
              <a:buNone/>
            </a:pPr>
            <a:r>
              <a:rPr lang="en-US" sz="1800" b="1" dirty="0">
                <a:solidFill>
                  <a:srgbClr val="1F4788"/>
                </a:solidFill>
                <a:latin typeface="Calibri" pitchFamily="34" charset="0"/>
                <a:ea typeface="Calibri" pitchFamily="34" charset="-122"/>
                <a:cs typeface="Calibri" pitchFamily="34" charset="-120"/>
              </a:rPr>
              <a:t>Practical Examples:</a:t>
            </a:r>
            <a:endParaRPr lang="en-US" sz="1800" dirty="0"/>
          </a:p>
        </p:txBody>
      </p:sp>
      <p:sp>
        <p:nvSpPr>
          <p:cNvPr id="15" name="Shape 13"/>
          <p:cNvSpPr/>
          <p:nvPr/>
        </p:nvSpPr>
        <p:spPr>
          <a:xfrm>
            <a:off x="548640" y="3383280"/>
            <a:ext cx="8046720" cy="768096"/>
          </a:xfrm>
          <a:prstGeom prst="rect">
            <a:avLst/>
          </a:prstGeom>
          <a:solidFill>
            <a:srgbClr val="2D2D2D"/>
          </a:solidFill>
          <a:ln w="12700">
            <a:solidFill>
              <a:srgbClr val="666666"/>
            </a:solidFill>
            <a:prstDash val="solid"/>
          </a:ln>
        </p:spPr>
      </p:sp>
      <p:sp>
        <p:nvSpPr>
          <p:cNvPr id="16" name="Text 14"/>
          <p:cNvSpPr/>
          <p:nvPr/>
        </p:nvSpPr>
        <p:spPr>
          <a:xfrm>
            <a:off x="685800" y="3429000"/>
            <a:ext cx="7772400" cy="502920"/>
          </a:xfrm>
          <a:prstGeom prst="rect">
            <a:avLst/>
          </a:prstGeom>
          <a:noFill/>
          <a:ln/>
        </p:spPr>
        <p:txBody>
          <a:bodyPr wrap="square" rtlCol="0" anchor="t"/>
          <a:lstStyle/>
          <a:p>
            <a:pPr marL="0" indent="0" algn="l">
              <a:buNone/>
            </a:pPr>
            <a:r>
              <a:rPr lang="en-US" sz="1000" dirty="0">
                <a:solidFill>
                  <a:srgbClr val="00FF00"/>
                </a:solidFill>
                <a:latin typeface="Courier New" pitchFamily="34" charset="0"/>
                <a:ea typeface="Courier New" pitchFamily="34" charset="-122"/>
                <a:cs typeface="Courier New" pitchFamily="34" charset="-120"/>
              </a:rPr>
              <a:t>grep "error" logfile.txt          →  Find all "error" lines</a:t>
            </a:r>
            <a:endParaRPr lang="en-US" sz="1000" dirty="0"/>
          </a:p>
          <a:p>
            <a:pPr marL="0" indent="0" algn="l">
              <a:buNone/>
            </a:pPr>
            <a:r>
              <a:rPr lang="en-US" sz="1000" dirty="0">
                <a:solidFill>
                  <a:srgbClr val="00FF00"/>
                </a:solidFill>
                <a:latin typeface="Courier New" pitchFamily="34" charset="0"/>
                <a:ea typeface="Courier New" pitchFamily="34" charset="-122"/>
                <a:cs typeface="Courier New" pitchFamily="34" charset="-120"/>
              </a:rPr>
              <a:t>grep -i "ERROR" app.log         →  Case-insensitive search</a:t>
            </a:r>
            <a:endParaRPr lang="en-US" sz="1000" dirty="0"/>
          </a:p>
          <a:p>
            <a:pPr marL="0" indent="0" algn="l">
              <a:buNone/>
            </a:pPr>
            <a:r>
              <a:rPr lang="en-US" sz="1000" dirty="0">
                <a:solidFill>
                  <a:srgbClr val="00FF00"/>
                </a:solidFill>
                <a:latin typeface="Courier New" pitchFamily="34" charset="0"/>
                <a:ea typeface="Courier New" pitchFamily="34" charset="-122"/>
                <a:cs typeface="Courier New" pitchFamily="34" charset="-120"/>
              </a:rPr>
              <a:t>grep -r "TODO" /home/projects   →  Find TODO comments in all files</a:t>
            </a:r>
            <a:endParaRPr lang="en-US" sz="1000" dirty="0"/>
          </a:p>
          <a:p>
            <a:pPr marL="0" indent="0" algn="l">
              <a:buNone/>
            </a:pPr>
            <a:r>
              <a:rPr lang="en-US" sz="1000" dirty="0">
                <a:solidFill>
                  <a:srgbClr val="00FF00"/>
                </a:solidFill>
                <a:latin typeface="Courier New" pitchFamily="34" charset="0"/>
                <a:ea typeface="Courier New" pitchFamily="34" charset="-122"/>
                <a:cs typeface="Courier New" pitchFamily="34" charset="-120"/>
              </a:rPr>
              <a:t>find . -name "*.pdf"            →  Find all PDF files in current folder</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F4788"/>
          </a:solidFill>
          <a:ln/>
        </p:spPr>
      </p:sp>
      <p:sp>
        <p:nvSpPr>
          <p:cNvPr id="3" name="Text 1"/>
          <p:cNvSpPr/>
          <p:nvPr/>
        </p:nvSpPr>
        <p:spPr>
          <a:xfrm>
            <a:off x="457200" y="137160"/>
            <a:ext cx="777240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I/O Redirection &amp; Pipes (Introduction)</a:t>
            </a:r>
            <a:endParaRPr lang="en-US" sz="3200" dirty="0"/>
          </a:p>
        </p:txBody>
      </p:sp>
      <p:sp>
        <p:nvSpPr>
          <p:cNvPr id="4" name="Text 2"/>
          <p:cNvSpPr/>
          <p:nvPr/>
        </p:nvSpPr>
        <p:spPr>
          <a:xfrm>
            <a:off x="548640" y="1005840"/>
            <a:ext cx="8046720" cy="274320"/>
          </a:xfrm>
          <a:prstGeom prst="rect">
            <a:avLst/>
          </a:prstGeom>
          <a:noFill/>
          <a:ln/>
        </p:spPr>
        <p:txBody>
          <a:bodyPr wrap="square" rtlCol="0" anchor="ctr"/>
          <a:lstStyle/>
          <a:p>
            <a:pPr marL="0" indent="0">
              <a:buNone/>
            </a:pPr>
            <a:r>
              <a:rPr lang="en-US" sz="1300" b="1" dirty="0">
                <a:solidFill>
                  <a:srgbClr val="E64A19"/>
                </a:solidFill>
                <a:latin typeface="Calibri" pitchFamily="34" charset="0"/>
                <a:ea typeface="Calibri" pitchFamily="34" charset="-122"/>
                <a:cs typeface="Calibri" pitchFamily="34" charset="-120"/>
              </a:rPr>
              <a:t>Redirection</a:t>
            </a:r>
            <a:endParaRPr lang="en-US" sz="1300" dirty="0"/>
          </a:p>
        </p:txBody>
      </p:sp>
      <p:sp>
        <p:nvSpPr>
          <p:cNvPr id="5" name="Text 3"/>
          <p:cNvSpPr/>
          <p:nvPr/>
        </p:nvSpPr>
        <p:spPr>
          <a:xfrm>
            <a:off x="822960" y="1325880"/>
            <a:ext cx="7772400" cy="365760"/>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Directing output of one command to file or input from file. Uses &gt;, &gt;&gt;, &lt; symbols.</a:t>
            </a:r>
            <a:endParaRPr lang="en-US" sz="1200" dirty="0"/>
          </a:p>
        </p:txBody>
      </p:sp>
      <p:sp>
        <p:nvSpPr>
          <p:cNvPr id="6" name="Text 4"/>
          <p:cNvSpPr/>
          <p:nvPr/>
        </p:nvSpPr>
        <p:spPr>
          <a:xfrm>
            <a:off x="548640" y="1920240"/>
            <a:ext cx="8046720" cy="274320"/>
          </a:xfrm>
          <a:prstGeom prst="rect">
            <a:avLst/>
          </a:prstGeom>
          <a:noFill/>
          <a:ln/>
        </p:spPr>
        <p:txBody>
          <a:bodyPr wrap="square" rtlCol="0" anchor="ctr"/>
          <a:lstStyle/>
          <a:p>
            <a:pPr marL="0" indent="0">
              <a:buNone/>
            </a:pPr>
            <a:r>
              <a:rPr lang="en-US" sz="1300" b="1" dirty="0">
                <a:solidFill>
                  <a:srgbClr val="E64A19"/>
                </a:solidFill>
                <a:latin typeface="Calibri" pitchFamily="34" charset="0"/>
                <a:ea typeface="Calibri" pitchFamily="34" charset="-122"/>
                <a:cs typeface="Calibri" pitchFamily="34" charset="-120"/>
              </a:rPr>
              <a:t>Pipe (|)</a:t>
            </a:r>
            <a:endParaRPr lang="en-US" sz="1300" dirty="0"/>
          </a:p>
        </p:txBody>
      </p:sp>
      <p:sp>
        <p:nvSpPr>
          <p:cNvPr id="7" name="Text 5"/>
          <p:cNvSpPr/>
          <p:nvPr/>
        </p:nvSpPr>
        <p:spPr>
          <a:xfrm>
            <a:off x="822960" y="2240280"/>
            <a:ext cx="7772400" cy="365760"/>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Connecting output of one command as input to another command. Chains commands together for complex operations.</a:t>
            </a:r>
            <a:endParaRPr lang="en-US" sz="1200" dirty="0"/>
          </a:p>
        </p:txBody>
      </p:sp>
      <p:sp>
        <p:nvSpPr>
          <p:cNvPr id="8" name="Text 6"/>
          <p:cNvSpPr/>
          <p:nvPr/>
        </p:nvSpPr>
        <p:spPr>
          <a:xfrm>
            <a:off x="548640" y="2834640"/>
            <a:ext cx="8046720" cy="365760"/>
          </a:xfrm>
          <a:prstGeom prst="rect">
            <a:avLst/>
          </a:prstGeom>
          <a:noFill/>
          <a:ln/>
        </p:spPr>
        <p:txBody>
          <a:bodyPr wrap="square" rtlCol="0" anchor="ctr"/>
          <a:lstStyle/>
          <a:p>
            <a:pPr marL="0" indent="0">
              <a:buNone/>
            </a:pPr>
            <a:r>
              <a:rPr lang="en-US" sz="1800" b="1" dirty="0">
                <a:solidFill>
                  <a:srgbClr val="1F4788"/>
                </a:solidFill>
                <a:latin typeface="Calibri" pitchFamily="34" charset="0"/>
                <a:ea typeface="Calibri" pitchFamily="34" charset="-122"/>
                <a:cs typeface="Calibri" pitchFamily="34" charset="-120"/>
              </a:rPr>
              <a:t>Redirection Examples:</a:t>
            </a:r>
            <a:endParaRPr lang="en-US" sz="1800" dirty="0"/>
          </a:p>
        </p:txBody>
      </p:sp>
      <p:sp>
        <p:nvSpPr>
          <p:cNvPr id="9" name="Shape 7"/>
          <p:cNvSpPr/>
          <p:nvPr/>
        </p:nvSpPr>
        <p:spPr>
          <a:xfrm>
            <a:off x="548640" y="3291840"/>
            <a:ext cx="8046720" cy="594360"/>
          </a:xfrm>
          <a:prstGeom prst="rect">
            <a:avLst/>
          </a:prstGeom>
          <a:solidFill>
            <a:srgbClr val="2D2D2D"/>
          </a:solidFill>
          <a:ln w="12700">
            <a:solidFill>
              <a:srgbClr val="666666"/>
            </a:solidFill>
            <a:prstDash val="solid"/>
          </a:ln>
        </p:spPr>
      </p:sp>
      <p:sp>
        <p:nvSpPr>
          <p:cNvPr id="10" name="Text 8"/>
          <p:cNvSpPr/>
          <p:nvPr/>
        </p:nvSpPr>
        <p:spPr>
          <a:xfrm>
            <a:off x="685800" y="3337560"/>
            <a:ext cx="7772400" cy="365760"/>
          </a:xfrm>
          <a:prstGeom prst="rect">
            <a:avLst/>
          </a:prstGeom>
          <a:noFill/>
          <a:ln/>
        </p:spPr>
        <p:txBody>
          <a:bodyPr wrap="square" rtlCol="0" anchor="t"/>
          <a:lstStyle/>
          <a:p>
            <a:pPr marL="0" indent="0" algn="l">
              <a:buNone/>
            </a:pPr>
            <a:r>
              <a:rPr lang="en-US" sz="1000" dirty="0">
                <a:solidFill>
                  <a:srgbClr val="00FF00"/>
                </a:solidFill>
                <a:latin typeface="Courier New" pitchFamily="34" charset="0"/>
                <a:ea typeface="Courier New" pitchFamily="34" charset="-122"/>
                <a:cs typeface="Courier New" pitchFamily="34" charset="-120"/>
              </a:rPr>
              <a:t>dir &gt; results.txt            →  Save directory listing to file</a:t>
            </a:r>
            <a:endParaRPr lang="en-US" sz="1000" dirty="0"/>
          </a:p>
          <a:p>
            <a:pPr marL="0" indent="0" algn="l">
              <a:buNone/>
            </a:pPr>
            <a:r>
              <a:rPr lang="en-US" sz="1000" dirty="0">
                <a:solidFill>
                  <a:srgbClr val="00FF00"/>
                </a:solidFill>
                <a:latin typeface="Courier New" pitchFamily="34" charset="0"/>
                <a:ea typeface="Courier New" pitchFamily="34" charset="-122"/>
                <a:cs typeface="Courier New" pitchFamily="34" charset="-120"/>
              </a:rPr>
              <a:t>echo "Text" &gt;&gt; notes.txt     →  Append to existing file</a:t>
            </a:r>
            <a:endParaRPr lang="en-US" sz="1000" dirty="0"/>
          </a:p>
          <a:p>
            <a:pPr marL="0" indent="0" algn="l">
              <a:buNone/>
            </a:pPr>
            <a:r>
              <a:rPr lang="en-US" sz="1000" dirty="0">
                <a:solidFill>
                  <a:srgbClr val="00FF00"/>
                </a:solidFill>
                <a:latin typeface="Courier New" pitchFamily="34" charset="0"/>
                <a:ea typeface="Courier New" pitchFamily="34" charset="-122"/>
                <a:cs typeface="Courier New" pitchFamily="34" charset="-120"/>
              </a:rPr>
              <a:t>cat &lt; input.txt              →  Read from file as input</a:t>
            </a:r>
            <a:endParaRPr lang="en-US" sz="1000" dirty="0"/>
          </a:p>
        </p:txBody>
      </p:sp>
      <p:sp>
        <p:nvSpPr>
          <p:cNvPr id="11" name="Text 9"/>
          <p:cNvSpPr/>
          <p:nvPr/>
        </p:nvSpPr>
        <p:spPr>
          <a:xfrm>
            <a:off x="548640" y="3886200"/>
            <a:ext cx="8046720" cy="365760"/>
          </a:xfrm>
          <a:prstGeom prst="rect">
            <a:avLst/>
          </a:prstGeom>
          <a:noFill/>
          <a:ln/>
        </p:spPr>
        <p:txBody>
          <a:bodyPr wrap="square" rtlCol="0" anchor="ctr"/>
          <a:lstStyle/>
          <a:p>
            <a:pPr marL="0" indent="0">
              <a:buNone/>
            </a:pPr>
            <a:r>
              <a:rPr lang="en-US" sz="1800" b="1" dirty="0">
                <a:solidFill>
                  <a:srgbClr val="1F4788"/>
                </a:solidFill>
                <a:latin typeface="Calibri" pitchFamily="34" charset="0"/>
                <a:ea typeface="Calibri" pitchFamily="34" charset="-122"/>
                <a:cs typeface="Calibri" pitchFamily="34" charset="-120"/>
              </a:rPr>
              <a:t>Pipe Examples:</a:t>
            </a:r>
            <a:endParaRPr lang="en-US" sz="1800" dirty="0"/>
          </a:p>
        </p:txBody>
      </p:sp>
      <p:sp>
        <p:nvSpPr>
          <p:cNvPr id="12" name="Shape 10"/>
          <p:cNvSpPr/>
          <p:nvPr/>
        </p:nvSpPr>
        <p:spPr>
          <a:xfrm>
            <a:off x="548640" y="4343400"/>
            <a:ext cx="8046720" cy="594360"/>
          </a:xfrm>
          <a:prstGeom prst="rect">
            <a:avLst/>
          </a:prstGeom>
          <a:solidFill>
            <a:srgbClr val="2D2D2D"/>
          </a:solidFill>
          <a:ln w="12700">
            <a:solidFill>
              <a:srgbClr val="666666"/>
            </a:solidFill>
            <a:prstDash val="solid"/>
          </a:ln>
        </p:spPr>
      </p:sp>
      <p:sp>
        <p:nvSpPr>
          <p:cNvPr id="13" name="Text 11"/>
          <p:cNvSpPr/>
          <p:nvPr/>
        </p:nvSpPr>
        <p:spPr>
          <a:xfrm>
            <a:off x="685800" y="4389120"/>
            <a:ext cx="7772400" cy="365760"/>
          </a:xfrm>
          <a:prstGeom prst="rect">
            <a:avLst/>
          </a:prstGeom>
          <a:noFill/>
          <a:ln/>
        </p:spPr>
        <p:txBody>
          <a:bodyPr wrap="square" rtlCol="0" anchor="t"/>
          <a:lstStyle/>
          <a:p>
            <a:pPr marL="0" indent="0" algn="l">
              <a:buNone/>
            </a:pPr>
            <a:r>
              <a:rPr lang="en-US" sz="1000" dirty="0">
                <a:solidFill>
                  <a:srgbClr val="00FF00"/>
                </a:solidFill>
                <a:latin typeface="Courier New" pitchFamily="34" charset="0"/>
                <a:ea typeface="Courier New" pitchFamily="34" charset="-122"/>
                <a:cs typeface="Courier New" pitchFamily="34" charset="-120"/>
              </a:rPr>
              <a:t>ls -la | grep ".txt"        →  List files, show only .txt files</a:t>
            </a:r>
            <a:endParaRPr lang="en-US" sz="1000" dirty="0"/>
          </a:p>
          <a:p>
            <a:pPr marL="0" indent="0" algn="l">
              <a:buNone/>
            </a:pPr>
            <a:r>
              <a:rPr lang="en-US" sz="1000" dirty="0">
                <a:solidFill>
                  <a:srgbClr val="00FF00"/>
                </a:solidFill>
                <a:latin typeface="Courier New" pitchFamily="34" charset="0"/>
                <a:ea typeface="Courier New" pitchFamily="34" charset="-122"/>
                <a:cs typeface="Courier New" pitchFamily="34" charset="-120"/>
              </a:rPr>
              <a:t>cat logfile | grep "error"   →  View file, filter error lines</a:t>
            </a:r>
            <a:endParaRPr lang="en-US" sz="1000" dirty="0"/>
          </a:p>
          <a:p>
            <a:pPr marL="0" indent="0" algn="l">
              <a:buNone/>
            </a:pPr>
            <a:r>
              <a:rPr lang="en-US" sz="1000" dirty="0">
                <a:solidFill>
                  <a:srgbClr val="00FF00"/>
                </a:solidFill>
                <a:latin typeface="Courier New" pitchFamily="34" charset="0"/>
                <a:ea typeface="Courier New" pitchFamily="34" charset="-122"/>
                <a:cs typeface="Courier New" pitchFamily="34" charset="-120"/>
              </a:rPr>
              <a:t>ps aux | wc -l               →  Count running processes</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E7D32"/>
        </a:solidFill>
        <a:effectLst/>
      </p:bgPr>
    </p:bg>
    <p:spTree>
      <p:nvGrpSpPr>
        <p:cNvPr id="1" name=""/>
        <p:cNvGrpSpPr/>
        <p:nvPr/>
      </p:nvGrpSpPr>
      <p:grpSpPr>
        <a:xfrm>
          <a:off x="0" y="0"/>
          <a:ext cx="0" cy="0"/>
          <a:chOff x="0" y="0"/>
          <a:chExt cx="0" cy="0"/>
        </a:xfrm>
      </p:grpSpPr>
      <p:sp>
        <p:nvSpPr>
          <p:cNvPr id="2" name="Shape 0"/>
          <p:cNvSpPr/>
          <p:nvPr/>
        </p:nvSpPr>
        <p:spPr>
          <a:xfrm>
            <a:off x="457200" y="1371600"/>
            <a:ext cx="731520" cy="731520"/>
          </a:xfrm>
          <a:prstGeom prst="ellipse">
            <a:avLst/>
          </a:prstGeom>
          <a:solidFill>
            <a:srgbClr val="E64A19"/>
          </a:solidFill>
          <a:ln w="25400">
            <a:solidFill>
              <a:srgbClr val="FFFFFF"/>
            </a:solidFill>
            <a:prstDash val="solid"/>
          </a:ln>
        </p:spPr>
      </p:sp>
      <p:sp>
        <p:nvSpPr>
          <p:cNvPr id="3" name="Text 1"/>
          <p:cNvSpPr/>
          <p:nvPr/>
        </p:nvSpPr>
        <p:spPr>
          <a:xfrm>
            <a:off x="457200" y="1371600"/>
            <a:ext cx="731520" cy="731520"/>
          </a:xfrm>
          <a:prstGeom prst="rect">
            <a:avLst/>
          </a:prstGeom>
          <a:noFill/>
          <a:ln/>
        </p:spPr>
        <p:txBody>
          <a:bodyPr wrap="square" rtlCol="0" anchor="ctr"/>
          <a:lstStyle/>
          <a:p>
            <a:pPr marL="0" indent="0" algn="ctr">
              <a:buNone/>
            </a:pPr>
            <a:r>
              <a:rPr lang="en-US" sz="3200" b="1" dirty="0">
                <a:solidFill>
                  <a:srgbClr val="FFFFFF"/>
                </a:solidFill>
                <a:latin typeface="Calibri" pitchFamily="34" charset="0"/>
                <a:ea typeface="Calibri" pitchFamily="34" charset="-122"/>
                <a:cs typeface="Calibri" pitchFamily="34" charset="-120"/>
              </a:rPr>
              <a:t>02</a:t>
            </a:r>
            <a:endParaRPr lang="en-US" sz="3200" dirty="0"/>
          </a:p>
        </p:txBody>
      </p:sp>
      <p:sp>
        <p:nvSpPr>
          <p:cNvPr id="4" name="Text 2"/>
          <p:cNvSpPr/>
          <p:nvPr/>
        </p:nvSpPr>
        <p:spPr>
          <a:xfrm>
            <a:off x="1371600" y="1463040"/>
            <a:ext cx="6858000" cy="731520"/>
          </a:xfrm>
          <a:prstGeom prst="rect">
            <a:avLst/>
          </a:prstGeom>
          <a:noFill/>
          <a:ln/>
        </p:spPr>
        <p:txBody>
          <a:bodyPr wrap="square" rtlCol="0" anchor="ctr"/>
          <a:lstStyle/>
          <a:p>
            <a:pPr marL="0" indent="0" algn="l">
              <a:buNone/>
            </a:pPr>
            <a:r>
              <a:rPr lang="en-US" sz="4400" b="1" dirty="0">
                <a:solidFill>
                  <a:srgbClr val="FFFFFF"/>
                </a:solidFill>
                <a:latin typeface="Calibri" pitchFamily="34" charset="0"/>
                <a:ea typeface="Calibri" pitchFamily="34" charset="-122"/>
                <a:cs typeface="Calibri" pitchFamily="34" charset="-120"/>
              </a:rPr>
              <a:t>Process &amp; Resource Monitoring</a:t>
            </a:r>
            <a:endParaRPr lang="en-US" sz="4400" dirty="0"/>
          </a:p>
        </p:txBody>
      </p:sp>
      <p:sp>
        <p:nvSpPr>
          <p:cNvPr id="5" name="Text 3"/>
          <p:cNvSpPr/>
          <p:nvPr/>
        </p:nvSpPr>
        <p:spPr>
          <a:xfrm>
            <a:off x="457200" y="2560320"/>
            <a:ext cx="7772400" cy="914400"/>
          </a:xfrm>
          <a:prstGeom prst="rect">
            <a:avLst/>
          </a:prstGeom>
          <a:noFill/>
          <a:ln/>
        </p:spPr>
        <p:txBody>
          <a:bodyPr wrap="square" rtlCol="0" anchor="ctr"/>
          <a:lstStyle/>
          <a:p>
            <a:pPr marL="0" indent="0" algn="l">
              <a:buNone/>
            </a:pPr>
            <a:r>
              <a:rPr lang="en-US" sz="2000" dirty="0">
                <a:solidFill>
                  <a:srgbClr val="F5F7FA"/>
                </a:solidFill>
                <a:latin typeface="Calibri" pitchFamily="34" charset="0"/>
                <a:ea typeface="Calibri" pitchFamily="34" charset="-122"/>
                <a:cs typeface="Calibri" pitchFamily="34" charset="-120"/>
              </a:rPr>
              <a:t>Viewing Processes, Resource Usage &amp; System Management</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F4788"/>
          </a:solidFill>
          <a:ln/>
        </p:spPr>
      </p:sp>
      <p:sp>
        <p:nvSpPr>
          <p:cNvPr id="3" name="Text 1"/>
          <p:cNvSpPr/>
          <p:nvPr/>
        </p:nvSpPr>
        <p:spPr>
          <a:xfrm>
            <a:off x="457200" y="137160"/>
            <a:ext cx="777240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Process Monitoring Fundamentals</a:t>
            </a:r>
            <a:endParaRPr lang="en-US" sz="3200" dirty="0"/>
          </a:p>
        </p:txBody>
      </p:sp>
      <p:sp>
        <p:nvSpPr>
          <p:cNvPr id="4" name="Text 2"/>
          <p:cNvSpPr/>
          <p:nvPr/>
        </p:nvSpPr>
        <p:spPr>
          <a:xfrm>
            <a:off x="548640" y="745588"/>
            <a:ext cx="8046720" cy="274320"/>
          </a:xfrm>
          <a:prstGeom prst="rect">
            <a:avLst/>
          </a:prstGeom>
          <a:noFill/>
          <a:ln/>
        </p:spPr>
        <p:txBody>
          <a:bodyPr wrap="square" rtlCol="0" anchor="ctr"/>
          <a:lstStyle/>
          <a:p>
            <a:pPr marL="0" indent="0">
              <a:buNone/>
            </a:pPr>
            <a:r>
              <a:rPr lang="en-US" sz="1400" b="1" dirty="0">
                <a:solidFill>
                  <a:srgbClr val="E64A19"/>
                </a:solidFill>
                <a:latin typeface="Calibri" pitchFamily="34" charset="0"/>
                <a:ea typeface="Calibri" pitchFamily="34" charset="-122"/>
                <a:cs typeface="Calibri" pitchFamily="34" charset="-120"/>
              </a:rPr>
              <a:t>Process</a:t>
            </a:r>
            <a:endParaRPr lang="en-US" sz="1400" dirty="0"/>
          </a:p>
        </p:txBody>
      </p:sp>
      <p:sp>
        <p:nvSpPr>
          <p:cNvPr id="5" name="Text 3"/>
          <p:cNvSpPr/>
          <p:nvPr/>
        </p:nvSpPr>
        <p:spPr>
          <a:xfrm>
            <a:off x="822960" y="1065628"/>
            <a:ext cx="7772400" cy="411480"/>
          </a:xfrm>
          <a:prstGeom prst="rect">
            <a:avLst/>
          </a:prstGeom>
          <a:noFill/>
          <a:ln/>
        </p:spPr>
        <p:txBody>
          <a:bodyPr wrap="square" rtlCol="0" anchor="ctr"/>
          <a:lstStyle/>
          <a:p>
            <a:pPr marL="0" indent="0">
              <a:buNone/>
            </a:pPr>
            <a:r>
              <a:rPr lang="en-US" sz="1400" dirty="0">
                <a:solidFill>
                  <a:srgbClr val="1A1A1A"/>
                </a:solidFill>
                <a:latin typeface="Calibri" pitchFamily="34" charset="0"/>
                <a:ea typeface="Calibri" pitchFamily="34" charset="-122"/>
                <a:cs typeface="Calibri" pitchFamily="34" charset="-120"/>
              </a:rPr>
              <a:t>Running instance of a program with dedicated memory, resources, and process ID (PID). Each process is independent.</a:t>
            </a:r>
            <a:endParaRPr lang="en-US" sz="1400" dirty="0"/>
          </a:p>
        </p:txBody>
      </p:sp>
      <p:sp>
        <p:nvSpPr>
          <p:cNvPr id="6" name="Text 4"/>
          <p:cNvSpPr/>
          <p:nvPr/>
        </p:nvSpPr>
        <p:spPr>
          <a:xfrm>
            <a:off x="548640" y="1705708"/>
            <a:ext cx="8046720" cy="274320"/>
          </a:xfrm>
          <a:prstGeom prst="rect">
            <a:avLst/>
          </a:prstGeom>
          <a:noFill/>
          <a:ln/>
        </p:spPr>
        <p:txBody>
          <a:bodyPr wrap="square" rtlCol="0" anchor="ctr"/>
          <a:lstStyle/>
          <a:p>
            <a:pPr marL="0" indent="0">
              <a:buNone/>
            </a:pPr>
            <a:r>
              <a:rPr lang="en-US" sz="1400" b="1" dirty="0">
                <a:solidFill>
                  <a:srgbClr val="E64A19"/>
                </a:solidFill>
                <a:latin typeface="Calibri" pitchFamily="34" charset="0"/>
                <a:ea typeface="Calibri" pitchFamily="34" charset="-122"/>
                <a:cs typeface="Calibri" pitchFamily="34" charset="-120"/>
              </a:rPr>
              <a:t>Process ID (PID)</a:t>
            </a:r>
            <a:endParaRPr lang="en-US" sz="1400" dirty="0"/>
          </a:p>
        </p:txBody>
      </p:sp>
      <p:sp>
        <p:nvSpPr>
          <p:cNvPr id="7" name="Text 5"/>
          <p:cNvSpPr/>
          <p:nvPr/>
        </p:nvSpPr>
        <p:spPr>
          <a:xfrm>
            <a:off x="822960" y="2025748"/>
            <a:ext cx="7772400" cy="365760"/>
          </a:xfrm>
          <a:prstGeom prst="rect">
            <a:avLst/>
          </a:prstGeom>
          <a:noFill/>
          <a:ln/>
        </p:spPr>
        <p:txBody>
          <a:bodyPr wrap="square" rtlCol="0" anchor="ctr"/>
          <a:lstStyle/>
          <a:p>
            <a:pPr marL="0" indent="0">
              <a:buNone/>
            </a:pPr>
            <a:r>
              <a:rPr lang="en-US" sz="1400" dirty="0">
                <a:solidFill>
                  <a:srgbClr val="1A1A1A"/>
                </a:solidFill>
                <a:latin typeface="Calibri" pitchFamily="34" charset="0"/>
                <a:ea typeface="Calibri" pitchFamily="34" charset="-122"/>
                <a:cs typeface="Calibri" pitchFamily="34" charset="-120"/>
              </a:rPr>
              <a:t>Unique identifier assigned to each running process. Used to reference, monitor, and terminate processes.</a:t>
            </a:r>
            <a:endParaRPr lang="en-US" sz="1400" dirty="0"/>
          </a:p>
        </p:txBody>
      </p:sp>
      <p:sp>
        <p:nvSpPr>
          <p:cNvPr id="8" name="Text 6"/>
          <p:cNvSpPr/>
          <p:nvPr/>
        </p:nvSpPr>
        <p:spPr>
          <a:xfrm>
            <a:off x="548640" y="2620108"/>
            <a:ext cx="8046720" cy="365760"/>
          </a:xfrm>
          <a:prstGeom prst="rect">
            <a:avLst/>
          </a:prstGeom>
          <a:noFill/>
          <a:ln/>
        </p:spPr>
        <p:txBody>
          <a:bodyPr wrap="square" rtlCol="0" anchor="ctr"/>
          <a:lstStyle/>
          <a:p>
            <a:pPr marL="0" indent="0">
              <a:buNone/>
            </a:pPr>
            <a:r>
              <a:rPr lang="en-US" sz="1800" b="1" dirty="0">
                <a:solidFill>
                  <a:srgbClr val="1F4788"/>
                </a:solidFill>
                <a:latin typeface="Calibri" pitchFamily="34" charset="0"/>
                <a:ea typeface="Calibri" pitchFamily="34" charset="-122"/>
                <a:cs typeface="Calibri" pitchFamily="34" charset="-120"/>
              </a:rPr>
              <a:t>Why Monitor Processes?</a:t>
            </a:r>
            <a:endParaRPr lang="en-US" sz="1800" dirty="0"/>
          </a:p>
        </p:txBody>
      </p:sp>
      <p:sp>
        <p:nvSpPr>
          <p:cNvPr id="9" name="Text 7"/>
          <p:cNvSpPr/>
          <p:nvPr/>
        </p:nvSpPr>
        <p:spPr>
          <a:xfrm>
            <a:off x="822960" y="3010487"/>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Resource usage: Check CPU and memory consumption</a:t>
            </a:r>
            <a:endParaRPr lang="en-US" sz="1300" dirty="0"/>
          </a:p>
        </p:txBody>
      </p:sp>
      <p:sp>
        <p:nvSpPr>
          <p:cNvPr id="10" name="Text 8"/>
          <p:cNvSpPr/>
          <p:nvPr/>
        </p:nvSpPr>
        <p:spPr>
          <a:xfrm>
            <a:off x="822960" y="3355146"/>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Performance: Identify slow or hung applications</a:t>
            </a:r>
            <a:endParaRPr lang="en-US" sz="1300" dirty="0"/>
          </a:p>
        </p:txBody>
      </p:sp>
      <p:sp>
        <p:nvSpPr>
          <p:cNvPr id="11" name="Text 9"/>
          <p:cNvSpPr/>
          <p:nvPr/>
        </p:nvSpPr>
        <p:spPr>
          <a:xfrm>
            <a:off x="822960" y="3673076"/>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Troubleshooting: Locate problematic processes</a:t>
            </a:r>
            <a:endParaRPr lang="en-US" sz="1300" dirty="0"/>
          </a:p>
        </p:txBody>
      </p:sp>
      <p:sp>
        <p:nvSpPr>
          <p:cNvPr id="12" name="Text 10"/>
          <p:cNvSpPr/>
          <p:nvPr/>
        </p:nvSpPr>
        <p:spPr>
          <a:xfrm>
            <a:off x="822960" y="4026879"/>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Security: Detect unauthorized or malicious processes</a:t>
            </a:r>
            <a:endParaRPr lang="en-US" sz="1300" dirty="0"/>
          </a:p>
        </p:txBody>
      </p:sp>
      <p:sp>
        <p:nvSpPr>
          <p:cNvPr id="13" name="Text 11"/>
          <p:cNvSpPr/>
          <p:nvPr/>
        </p:nvSpPr>
        <p:spPr>
          <a:xfrm>
            <a:off x="822960" y="4397912"/>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Kill stuck processes: Terminate frozen applications</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F4788"/>
          </a:solidFill>
          <a:ln/>
        </p:spPr>
      </p:sp>
      <p:sp>
        <p:nvSpPr>
          <p:cNvPr id="3" name="Text 1"/>
          <p:cNvSpPr/>
          <p:nvPr/>
        </p:nvSpPr>
        <p:spPr>
          <a:xfrm>
            <a:off x="457200" y="137160"/>
            <a:ext cx="777240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Windows Process Monitoring Commands</a:t>
            </a:r>
            <a:endParaRPr lang="en-US" sz="3200" dirty="0"/>
          </a:p>
        </p:txBody>
      </p:sp>
      <p:sp>
        <p:nvSpPr>
          <p:cNvPr id="4" name="Text 2"/>
          <p:cNvSpPr/>
          <p:nvPr/>
        </p:nvSpPr>
        <p:spPr>
          <a:xfrm>
            <a:off x="640080" y="1005840"/>
            <a:ext cx="2926080" cy="292608"/>
          </a:xfrm>
          <a:prstGeom prst="rect">
            <a:avLst/>
          </a:prstGeom>
          <a:solidFill>
            <a:srgbClr val="1F4788"/>
          </a:solidFill>
          <a:ln/>
        </p:spPr>
        <p:txBody>
          <a:bodyPr wrap="square"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tasklist</a:t>
            </a:r>
            <a:endParaRPr lang="en-US" sz="1100" dirty="0"/>
          </a:p>
        </p:txBody>
      </p:sp>
      <p:sp>
        <p:nvSpPr>
          <p:cNvPr id="5" name="Text 3"/>
          <p:cNvSpPr/>
          <p:nvPr/>
        </p:nvSpPr>
        <p:spPr>
          <a:xfrm>
            <a:off x="3749040" y="1005840"/>
            <a:ext cx="4114800" cy="292608"/>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Show all running processes and PIDs</a:t>
            </a:r>
            <a:endParaRPr lang="en-US" sz="1100" dirty="0"/>
          </a:p>
        </p:txBody>
      </p:sp>
      <p:sp>
        <p:nvSpPr>
          <p:cNvPr id="6" name="Text 4"/>
          <p:cNvSpPr/>
          <p:nvPr/>
        </p:nvSpPr>
        <p:spPr>
          <a:xfrm>
            <a:off x="640080" y="1389888"/>
            <a:ext cx="2926080" cy="292608"/>
          </a:xfrm>
          <a:prstGeom prst="rect">
            <a:avLst/>
          </a:prstGeom>
          <a:solidFill>
            <a:srgbClr val="1F4788"/>
          </a:solidFill>
          <a:ln/>
        </p:spPr>
        <p:txBody>
          <a:bodyPr wrap="square"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tasklist /v</a:t>
            </a:r>
            <a:endParaRPr lang="en-US" sz="1100" dirty="0"/>
          </a:p>
        </p:txBody>
      </p:sp>
      <p:sp>
        <p:nvSpPr>
          <p:cNvPr id="7" name="Text 5"/>
          <p:cNvSpPr/>
          <p:nvPr/>
        </p:nvSpPr>
        <p:spPr>
          <a:xfrm>
            <a:off x="3749040" y="1389888"/>
            <a:ext cx="4114800" cy="292608"/>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Verbose: detailed info (CPU, memory, status)</a:t>
            </a:r>
            <a:endParaRPr lang="en-US" sz="1100" dirty="0"/>
          </a:p>
        </p:txBody>
      </p:sp>
      <p:sp>
        <p:nvSpPr>
          <p:cNvPr id="8" name="Text 6"/>
          <p:cNvSpPr/>
          <p:nvPr/>
        </p:nvSpPr>
        <p:spPr>
          <a:xfrm>
            <a:off x="640080" y="1773936"/>
            <a:ext cx="2926080" cy="292608"/>
          </a:xfrm>
          <a:prstGeom prst="rect">
            <a:avLst/>
          </a:prstGeom>
          <a:solidFill>
            <a:srgbClr val="1F4788"/>
          </a:solidFill>
          <a:ln/>
        </p:spPr>
        <p:txBody>
          <a:bodyPr wrap="square"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tasklist | find "java"</a:t>
            </a:r>
            <a:endParaRPr lang="en-US" sz="1100" dirty="0"/>
          </a:p>
        </p:txBody>
      </p:sp>
      <p:sp>
        <p:nvSpPr>
          <p:cNvPr id="9" name="Text 7"/>
          <p:cNvSpPr/>
          <p:nvPr/>
        </p:nvSpPr>
        <p:spPr>
          <a:xfrm>
            <a:off x="3749040" y="1773936"/>
            <a:ext cx="4114800" cy="292608"/>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Find specific process (java)</a:t>
            </a:r>
            <a:endParaRPr lang="en-US" sz="1100" dirty="0"/>
          </a:p>
        </p:txBody>
      </p:sp>
      <p:sp>
        <p:nvSpPr>
          <p:cNvPr id="10" name="Text 8"/>
          <p:cNvSpPr/>
          <p:nvPr/>
        </p:nvSpPr>
        <p:spPr>
          <a:xfrm>
            <a:off x="640080" y="2157984"/>
            <a:ext cx="2926080" cy="292608"/>
          </a:xfrm>
          <a:prstGeom prst="rect">
            <a:avLst/>
          </a:prstGeom>
          <a:solidFill>
            <a:srgbClr val="1F4788"/>
          </a:solidFill>
          <a:ln/>
        </p:spPr>
        <p:txBody>
          <a:bodyPr wrap="square"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taskkill /PID 1234</a:t>
            </a:r>
            <a:endParaRPr lang="en-US" sz="1100" dirty="0"/>
          </a:p>
        </p:txBody>
      </p:sp>
      <p:sp>
        <p:nvSpPr>
          <p:cNvPr id="11" name="Text 9"/>
          <p:cNvSpPr/>
          <p:nvPr/>
        </p:nvSpPr>
        <p:spPr>
          <a:xfrm>
            <a:off x="3749040" y="2157984"/>
            <a:ext cx="4114800" cy="292608"/>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Terminate process with specific PID</a:t>
            </a:r>
            <a:endParaRPr lang="en-US" sz="1100" dirty="0"/>
          </a:p>
        </p:txBody>
      </p:sp>
      <p:sp>
        <p:nvSpPr>
          <p:cNvPr id="12" name="Text 10"/>
          <p:cNvSpPr/>
          <p:nvPr/>
        </p:nvSpPr>
        <p:spPr>
          <a:xfrm>
            <a:off x="640080" y="2542032"/>
            <a:ext cx="2926080" cy="292608"/>
          </a:xfrm>
          <a:prstGeom prst="rect">
            <a:avLst/>
          </a:prstGeom>
          <a:solidFill>
            <a:srgbClr val="1F4788"/>
          </a:solidFill>
          <a:ln/>
        </p:spPr>
        <p:txBody>
          <a:bodyPr wrap="square"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taskkill /IM notepad.exe</a:t>
            </a:r>
            <a:endParaRPr lang="en-US" sz="1100" dirty="0"/>
          </a:p>
        </p:txBody>
      </p:sp>
      <p:sp>
        <p:nvSpPr>
          <p:cNvPr id="13" name="Text 11"/>
          <p:cNvSpPr/>
          <p:nvPr/>
        </p:nvSpPr>
        <p:spPr>
          <a:xfrm>
            <a:off x="3749040" y="2542032"/>
            <a:ext cx="4114800" cy="292608"/>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Terminate by process name</a:t>
            </a:r>
            <a:endParaRPr lang="en-US" sz="1100" dirty="0"/>
          </a:p>
        </p:txBody>
      </p:sp>
      <p:sp>
        <p:nvSpPr>
          <p:cNvPr id="14" name="Text 12"/>
          <p:cNvSpPr/>
          <p:nvPr/>
        </p:nvSpPr>
        <p:spPr>
          <a:xfrm>
            <a:off x="548640" y="2926080"/>
            <a:ext cx="8046720" cy="365760"/>
          </a:xfrm>
          <a:prstGeom prst="rect">
            <a:avLst/>
          </a:prstGeom>
          <a:noFill/>
          <a:ln/>
        </p:spPr>
        <p:txBody>
          <a:bodyPr wrap="square" rtlCol="0" anchor="ctr"/>
          <a:lstStyle/>
          <a:p>
            <a:pPr marL="0" indent="0">
              <a:buNone/>
            </a:pPr>
            <a:r>
              <a:rPr lang="en-US" sz="1800" b="1" dirty="0">
                <a:solidFill>
                  <a:srgbClr val="1F4788"/>
                </a:solidFill>
                <a:latin typeface="Calibri" pitchFamily="34" charset="0"/>
                <a:ea typeface="Calibri" pitchFamily="34" charset="-122"/>
                <a:cs typeface="Calibri" pitchFamily="34" charset="-120"/>
              </a:rPr>
              <a:t>Windows Task Manager (GUI):</a:t>
            </a:r>
            <a:endParaRPr lang="en-US" sz="1800" dirty="0"/>
          </a:p>
        </p:txBody>
      </p:sp>
      <p:sp>
        <p:nvSpPr>
          <p:cNvPr id="15" name="Text 13"/>
          <p:cNvSpPr/>
          <p:nvPr/>
        </p:nvSpPr>
        <p:spPr>
          <a:xfrm>
            <a:off x="822960" y="3383280"/>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Press Ctrl+Shift+Esc or Ctrl+Alt+Delete → Task Manager</a:t>
            </a:r>
            <a:endParaRPr lang="en-US" sz="1300" dirty="0"/>
          </a:p>
        </p:txBody>
      </p:sp>
      <p:sp>
        <p:nvSpPr>
          <p:cNvPr id="16" name="Text 14"/>
          <p:cNvSpPr/>
          <p:nvPr/>
        </p:nvSpPr>
        <p:spPr>
          <a:xfrm>
            <a:off x="822960" y="3813048"/>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Processes tab: Shows all running processes</a:t>
            </a:r>
            <a:endParaRPr lang="en-US" sz="1300" dirty="0"/>
          </a:p>
        </p:txBody>
      </p:sp>
      <p:sp>
        <p:nvSpPr>
          <p:cNvPr id="17" name="Text 15"/>
          <p:cNvSpPr/>
          <p:nvPr/>
        </p:nvSpPr>
        <p:spPr>
          <a:xfrm>
            <a:off x="822960" y="4242816"/>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Performance tab: CPU, memory, disk, network usage</a:t>
            </a:r>
            <a:endParaRPr lang="en-US" sz="1300" dirty="0"/>
          </a:p>
        </p:txBody>
      </p:sp>
      <p:sp>
        <p:nvSpPr>
          <p:cNvPr id="18" name="Text 16"/>
          <p:cNvSpPr/>
          <p:nvPr/>
        </p:nvSpPr>
        <p:spPr>
          <a:xfrm>
            <a:off x="822960" y="4672584"/>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Startup tab: Programs that run at startup</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F4788"/>
          </a:solidFill>
          <a:ln/>
        </p:spPr>
      </p:sp>
      <p:sp>
        <p:nvSpPr>
          <p:cNvPr id="3" name="Text 1"/>
          <p:cNvSpPr/>
          <p:nvPr/>
        </p:nvSpPr>
        <p:spPr>
          <a:xfrm>
            <a:off x="457200" y="137160"/>
            <a:ext cx="777240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Linux Process Monitoring Commands</a:t>
            </a:r>
            <a:endParaRPr lang="en-US" sz="3200" dirty="0"/>
          </a:p>
        </p:txBody>
      </p:sp>
      <p:sp>
        <p:nvSpPr>
          <p:cNvPr id="4" name="Text 2"/>
          <p:cNvSpPr/>
          <p:nvPr/>
        </p:nvSpPr>
        <p:spPr>
          <a:xfrm>
            <a:off x="640080" y="1005840"/>
            <a:ext cx="2926080" cy="292608"/>
          </a:xfrm>
          <a:prstGeom prst="rect">
            <a:avLst/>
          </a:prstGeom>
          <a:solidFill>
            <a:srgbClr val="1F4788"/>
          </a:solidFill>
          <a:ln/>
        </p:spPr>
        <p:txBody>
          <a:bodyPr wrap="square"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ps</a:t>
            </a:r>
            <a:endParaRPr lang="en-US" sz="1100" dirty="0"/>
          </a:p>
        </p:txBody>
      </p:sp>
      <p:sp>
        <p:nvSpPr>
          <p:cNvPr id="5" name="Text 3"/>
          <p:cNvSpPr/>
          <p:nvPr/>
        </p:nvSpPr>
        <p:spPr>
          <a:xfrm>
            <a:off x="3749040" y="1005840"/>
            <a:ext cx="4114800" cy="292608"/>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List current running processes</a:t>
            </a:r>
            <a:endParaRPr lang="en-US" sz="1100" dirty="0"/>
          </a:p>
        </p:txBody>
      </p:sp>
      <p:sp>
        <p:nvSpPr>
          <p:cNvPr id="6" name="Text 4"/>
          <p:cNvSpPr/>
          <p:nvPr/>
        </p:nvSpPr>
        <p:spPr>
          <a:xfrm>
            <a:off x="640080" y="1389888"/>
            <a:ext cx="2926080" cy="292608"/>
          </a:xfrm>
          <a:prstGeom prst="rect">
            <a:avLst/>
          </a:prstGeom>
          <a:solidFill>
            <a:srgbClr val="1F4788"/>
          </a:solidFill>
          <a:ln/>
        </p:spPr>
        <p:txBody>
          <a:bodyPr wrap="square"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ps aux</a:t>
            </a:r>
            <a:endParaRPr lang="en-US" sz="1100" dirty="0"/>
          </a:p>
        </p:txBody>
      </p:sp>
      <p:sp>
        <p:nvSpPr>
          <p:cNvPr id="7" name="Text 5"/>
          <p:cNvSpPr/>
          <p:nvPr/>
        </p:nvSpPr>
        <p:spPr>
          <a:xfrm>
            <a:off x="3749040" y="1389888"/>
            <a:ext cx="4114800" cy="292608"/>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Show all processes with detailed info</a:t>
            </a:r>
            <a:endParaRPr lang="en-US" sz="1100" dirty="0"/>
          </a:p>
        </p:txBody>
      </p:sp>
      <p:sp>
        <p:nvSpPr>
          <p:cNvPr id="8" name="Text 6"/>
          <p:cNvSpPr/>
          <p:nvPr/>
        </p:nvSpPr>
        <p:spPr>
          <a:xfrm>
            <a:off x="640080" y="1773936"/>
            <a:ext cx="2926080" cy="292608"/>
          </a:xfrm>
          <a:prstGeom prst="rect">
            <a:avLst/>
          </a:prstGeom>
          <a:solidFill>
            <a:srgbClr val="1F4788"/>
          </a:solidFill>
          <a:ln/>
        </p:spPr>
        <p:txBody>
          <a:bodyPr wrap="square"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ps aux | grep firefox</a:t>
            </a:r>
            <a:endParaRPr lang="en-US" sz="1100" dirty="0"/>
          </a:p>
        </p:txBody>
      </p:sp>
      <p:sp>
        <p:nvSpPr>
          <p:cNvPr id="9" name="Text 7"/>
          <p:cNvSpPr/>
          <p:nvPr/>
        </p:nvSpPr>
        <p:spPr>
          <a:xfrm>
            <a:off x="3749040" y="1773936"/>
            <a:ext cx="4114800" cy="292608"/>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Find specific process</a:t>
            </a:r>
            <a:endParaRPr lang="en-US" sz="1100" dirty="0"/>
          </a:p>
        </p:txBody>
      </p:sp>
      <p:sp>
        <p:nvSpPr>
          <p:cNvPr id="10" name="Text 8"/>
          <p:cNvSpPr/>
          <p:nvPr/>
        </p:nvSpPr>
        <p:spPr>
          <a:xfrm>
            <a:off x="640080" y="2157984"/>
            <a:ext cx="2926080" cy="292608"/>
          </a:xfrm>
          <a:prstGeom prst="rect">
            <a:avLst/>
          </a:prstGeom>
          <a:solidFill>
            <a:srgbClr val="1F4788"/>
          </a:solidFill>
          <a:ln/>
        </p:spPr>
        <p:txBody>
          <a:bodyPr wrap="square"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top</a:t>
            </a:r>
            <a:endParaRPr lang="en-US" sz="1100" dirty="0"/>
          </a:p>
        </p:txBody>
      </p:sp>
      <p:sp>
        <p:nvSpPr>
          <p:cNvPr id="11" name="Text 9"/>
          <p:cNvSpPr/>
          <p:nvPr/>
        </p:nvSpPr>
        <p:spPr>
          <a:xfrm>
            <a:off x="3749040" y="2157984"/>
            <a:ext cx="4114800" cy="292608"/>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Real-time process monitoring (interactive)</a:t>
            </a:r>
            <a:endParaRPr lang="en-US" sz="1100" dirty="0"/>
          </a:p>
        </p:txBody>
      </p:sp>
      <p:sp>
        <p:nvSpPr>
          <p:cNvPr id="12" name="Text 10"/>
          <p:cNvSpPr/>
          <p:nvPr/>
        </p:nvSpPr>
        <p:spPr>
          <a:xfrm>
            <a:off x="640080" y="2542032"/>
            <a:ext cx="2926080" cy="292608"/>
          </a:xfrm>
          <a:prstGeom prst="rect">
            <a:avLst/>
          </a:prstGeom>
          <a:solidFill>
            <a:srgbClr val="1F4788"/>
          </a:solidFill>
          <a:ln/>
        </p:spPr>
        <p:txBody>
          <a:bodyPr wrap="square"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kill PID</a:t>
            </a:r>
            <a:endParaRPr lang="en-US" sz="1100" dirty="0"/>
          </a:p>
        </p:txBody>
      </p:sp>
      <p:sp>
        <p:nvSpPr>
          <p:cNvPr id="13" name="Text 11"/>
          <p:cNvSpPr/>
          <p:nvPr/>
        </p:nvSpPr>
        <p:spPr>
          <a:xfrm>
            <a:off x="3749040" y="2542032"/>
            <a:ext cx="4114800" cy="292608"/>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Terminate process by PID</a:t>
            </a:r>
            <a:endParaRPr lang="en-US" sz="1100" dirty="0"/>
          </a:p>
        </p:txBody>
      </p:sp>
      <p:sp>
        <p:nvSpPr>
          <p:cNvPr id="14" name="Text 12"/>
          <p:cNvSpPr/>
          <p:nvPr/>
        </p:nvSpPr>
        <p:spPr>
          <a:xfrm>
            <a:off x="640080" y="2926080"/>
            <a:ext cx="2926080" cy="292608"/>
          </a:xfrm>
          <a:prstGeom prst="rect">
            <a:avLst/>
          </a:prstGeom>
          <a:solidFill>
            <a:srgbClr val="1F4788"/>
          </a:solidFill>
          <a:ln/>
        </p:spPr>
        <p:txBody>
          <a:bodyPr wrap="square"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kill -9 PID</a:t>
            </a:r>
            <a:endParaRPr lang="en-US" sz="1100" dirty="0"/>
          </a:p>
        </p:txBody>
      </p:sp>
      <p:sp>
        <p:nvSpPr>
          <p:cNvPr id="15" name="Text 13"/>
          <p:cNvSpPr/>
          <p:nvPr/>
        </p:nvSpPr>
        <p:spPr>
          <a:xfrm>
            <a:off x="3749040" y="2926080"/>
            <a:ext cx="4114800" cy="292608"/>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Force terminate process</a:t>
            </a:r>
            <a:endParaRPr lang="en-US" sz="1100" dirty="0"/>
          </a:p>
        </p:txBody>
      </p:sp>
      <p:sp>
        <p:nvSpPr>
          <p:cNvPr id="16" name="Text 14"/>
          <p:cNvSpPr/>
          <p:nvPr/>
        </p:nvSpPr>
        <p:spPr>
          <a:xfrm>
            <a:off x="548640" y="3310128"/>
            <a:ext cx="8046720" cy="365760"/>
          </a:xfrm>
          <a:prstGeom prst="rect">
            <a:avLst/>
          </a:prstGeom>
          <a:noFill/>
          <a:ln/>
        </p:spPr>
        <p:txBody>
          <a:bodyPr wrap="square" rtlCol="0" anchor="ctr"/>
          <a:lstStyle/>
          <a:p>
            <a:pPr marL="0" indent="0">
              <a:buNone/>
            </a:pPr>
            <a:r>
              <a:rPr lang="en-US" sz="1800" b="1" dirty="0">
                <a:solidFill>
                  <a:srgbClr val="1F4788"/>
                </a:solidFill>
                <a:latin typeface="Calibri" pitchFamily="34" charset="0"/>
                <a:ea typeface="Calibri" pitchFamily="34" charset="-122"/>
                <a:cs typeface="Calibri" pitchFamily="34" charset="-120"/>
              </a:rPr>
              <a:t>Resource Monitoring:</a:t>
            </a:r>
            <a:endParaRPr lang="en-US" sz="1800" dirty="0"/>
          </a:p>
        </p:txBody>
      </p:sp>
      <p:sp>
        <p:nvSpPr>
          <p:cNvPr id="17" name="Text 15"/>
          <p:cNvSpPr/>
          <p:nvPr/>
        </p:nvSpPr>
        <p:spPr>
          <a:xfrm>
            <a:off x="640080" y="3767328"/>
            <a:ext cx="2926080" cy="292608"/>
          </a:xfrm>
          <a:prstGeom prst="rect">
            <a:avLst/>
          </a:prstGeom>
          <a:solidFill>
            <a:srgbClr val="1F4788"/>
          </a:solidFill>
          <a:ln/>
        </p:spPr>
        <p:txBody>
          <a:bodyPr wrap="square"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free -h</a:t>
            </a:r>
            <a:endParaRPr lang="en-US" sz="1100" dirty="0"/>
          </a:p>
        </p:txBody>
      </p:sp>
      <p:sp>
        <p:nvSpPr>
          <p:cNvPr id="18" name="Text 16"/>
          <p:cNvSpPr/>
          <p:nvPr/>
        </p:nvSpPr>
        <p:spPr>
          <a:xfrm>
            <a:off x="3749040" y="3767328"/>
            <a:ext cx="4114800" cy="292608"/>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Show memory usage (human readable)</a:t>
            </a:r>
            <a:endParaRPr lang="en-US" sz="1100" dirty="0"/>
          </a:p>
        </p:txBody>
      </p:sp>
      <p:sp>
        <p:nvSpPr>
          <p:cNvPr id="19" name="Text 17"/>
          <p:cNvSpPr/>
          <p:nvPr/>
        </p:nvSpPr>
        <p:spPr>
          <a:xfrm>
            <a:off x="640080" y="4151376"/>
            <a:ext cx="2926080" cy="292608"/>
          </a:xfrm>
          <a:prstGeom prst="rect">
            <a:avLst/>
          </a:prstGeom>
          <a:solidFill>
            <a:srgbClr val="1F4788"/>
          </a:solidFill>
          <a:ln/>
        </p:spPr>
        <p:txBody>
          <a:bodyPr wrap="square"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df -h</a:t>
            </a:r>
            <a:endParaRPr lang="en-US" sz="1100" dirty="0"/>
          </a:p>
        </p:txBody>
      </p:sp>
      <p:sp>
        <p:nvSpPr>
          <p:cNvPr id="20" name="Text 18"/>
          <p:cNvSpPr/>
          <p:nvPr/>
        </p:nvSpPr>
        <p:spPr>
          <a:xfrm>
            <a:off x="3749040" y="4151376"/>
            <a:ext cx="4114800" cy="292608"/>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Show disk space usage</a:t>
            </a:r>
            <a:endParaRPr lang="en-US" sz="1100" dirty="0"/>
          </a:p>
        </p:txBody>
      </p:sp>
      <p:sp>
        <p:nvSpPr>
          <p:cNvPr id="21" name="Text 19"/>
          <p:cNvSpPr/>
          <p:nvPr/>
        </p:nvSpPr>
        <p:spPr>
          <a:xfrm>
            <a:off x="640080" y="4535424"/>
            <a:ext cx="2926080" cy="292608"/>
          </a:xfrm>
          <a:prstGeom prst="rect">
            <a:avLst/>
          </a:prstGeom>
          <a:solidFill>
            <a:srgbClr val="1F4788"/>
          </a:solidFill>
          <a:ln/>
        </p:spPr>
        <p:txBody>
          <a:bodyPr wrap="square"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uptime</a:t>
            </a:r>
            <a:endParaRPr lang="en-US" sz="1100" dirty="0"/>
          </a:p>
        </p:txBody>
      </p:sp>
      <p:sp>
        <p:nvSpPr>
          <p:cNvPr id="22" name="Text 20"/>
          <p:cNvSpPr/>
          <p:nvPr/>
        </p:nvSpPr>
        <p:spPr>
          <a:xfrm>
            <a:off x="3749040" y="4535424"/>
            <a:ext cx="4114800" cy="292608"/>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Show system uptime and load average</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F4788"/>
          </a:solidFill>
          <a:ln/>
        </p:spPr>
      </p:sp>
      <p:sp>
        <p:nvSpPr>
          <p:cNvPr id="3" name="Text 1"/>
          <p:cNvSpPr/>
          <p:nvPr/>
        </p:nvSpPr>
        <p:spPr>
          <a:xfrm>
            <a:off x="457200" y="137160"/>
            <a:ext cx="777240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System Resource Monitoring</a:t>
            </a:r>
            <a:endParaRPr lang="en-US" sz="3200" dirty="0"/>
          </a:p>
        </p:txBody>
      </p:sp>
      <p:sp>
        <p:nvSpPr>
          <p:cNvPr id="4" name="Text 2"/>
          <p:cNvSpPr/>
          <p:nvPr/>
        </p:nvSpPr>
        <p:spPr>
          <a:xfrm>
            <a:off x="548640" y="741680"/>
            <a:ext cx="8046720" cy="365760"/>
          </a:xfrm>
          <a:prstGeom prst="rect">
            <a:avLst/>
          </a:prstGeom>
          <a:noFill/>
          <a:ln/>
        </p:spPr>
        <p:txBody>
          <a:bodyPr wrap="square" rtlCol="0" anchor="ctr"/>
          <a:lstStyle/>
          <a:p>
            <a:pPr marL="0" indent="0">
              <a:buNone/>
            </a:pPr>
            <a:r>
              <a:rPr lang="en-US" b="1" dirty="0">
                <a:solidFill>
                  <a:srgbClr val="1F4788"/>
                </a:solidFill>
                <a:latin typeface="Calibri" pitchFamily="34" charset="0"/>
                <a:ea typeface="Calibri" pitchFamily="34" charset="-122"/>
                <a:cs typeface="Calibri" pitchFamily="34" charset="-120"/>
              </a:rPr>
              <a:t>Key Resources to Monitor:</a:t>
            </a:r>
            <a:endParaRPr lang="en-US" dirty="0"/>
          </a:p>
        </p:txBody>
      </p:sp>
      <p:sp>
        <p:nvSpPr>
          <p:cNvPr id="5" name="Text 3"/>
          <p:cNvSpPr/>
          <p:nvPr/>
        </p:nvSpPr>
        <p:spPr>
          <a:xfrm>
            <a:off x="822960" y="1107440"/>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CPU Usage: Percentage of CPU being used. Over 80% = potential issue.</a:t>
            </a:r>
            <a:endParaRPr lang="en-US" sz="1300" dirty="0"/>
          </a:p>
        </p:txBody>
      </p:sp>
      <p:sp>
        <p:nvSpPr>
          <p:cNvPr id="6" name="Text 4"/>
          <p:cNvSpPr/>
          <p:nvPr/>
        </p:nvSpPr>
        <p:spPr>
          <a:xfrm>
            <a:off x="822960" y="1427480"/>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Memory (RAM): Physical memory consumption. Running out = system slows down.</a:t>
            </a:r>
            <a:endParaRPr lang="en-US" sz="1300" dirty="0"/>
          </a:p>
        </p:txBody>
      </p:sp>
      <p:sp>
        <p:nvSpPr>
          <p:cNvPr id="7" name="Text 5"/>
          <p:cNvSpPr/>
          <p:nvPr/>
        </p:nvSpPr>
        <p:spPr>
          <a:xfrm>
            <a:off x="822960" y="1770888"/>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Disk Space: Available storage. Low disk (&lt; 10%) = performance issues.</a:t>
            </a:r>
            <a:endParaRPr lang="en-US" sz="1300" dirty="0"/>
          </a:p>
        </p:txBody>
      </p:sp>
      <p:sp>
        <p:nvSpPr>
          <p:cNvPr id="8" name="Text 6"/>
          <p:cNvSpPr/>
          <p:nvPr/>
        </p:nvSpPr>
        <p:spPr>
          <a:xfrm>
            <a:off x="822960" y="2076704"/>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Network: Bandwidth usage. High = potential bottleneck or malware.</a:t>
            </a:r>
            <a:endParaRPr lang="en-US" sz="1300" dirty="0"/>
          </a:p>
        </p:txBody>
      </p:sp>
      <p:sp>
        <p:nvSpPr>
          <p:cNvPr id="9" name="Text 7"/>
          <p:cNvSpPr/>
          <p:nvPr/>
        </p:nvSpPr>
        <p:spPr>
          <a:xfrm>
            <a:off x="548640" y="2454148"/>
            <a:ext cx="8046720" cy="365760"/>
          </a:xfrm>
          <a:prstGeom prst="rect">
            <a:avLst/>
          </a:prstGeom>
          <a:noFill/>
          <a:ln/>
        </p:spPr>
        <p:txBody>
          <a:bodyPr wrap="square" rtlCol="0" anchor="ctr"/>
          <a:lstStyle/>
          <a:p>
            <a:pPr marL="0" indent="0">
              <a:buNone/>
            </a:pPr>
            <a:r>
              <a:rPr lang="en-US" b="1" dirty="0">
                <a:solidFill>
                  <a:srgbClr val="1F4788"/>
                </a:solidFill>
                <a:latin typeface="Calibri" pitchFamily="34" charset="0"/>
                <a:ea typeface="Calibri" pitchFamily="34" charset="-122"/>
                <a:cs typeface="Calibri" pitchFamily="34" charset="-120"/>
              </a:rPr>
              <a:t>Windows GUI Tools:</a:t>
            </a:r>
            <a:endParaRPr lang="en-US" dirty="0"/>
          </a:p>
        </p:txBody>
      </p:sp>
      <p:sp>
        <p:nvSpPr>
          <p:cNvPr id="10" name="Text 8"/>
          <p:cNvSpPr/>
          <p:nvPr/>
        </p:nvSpPr>
        <p:spPr>
          <a:xfrm>
            <a:off x="822960" y="2865628"/>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Task Manager: Ctrl+Shift+Esc → Performance tab</a:t>
            </a:r>
            <a:endParaRPr lang="en-US" sz="1300" dirty="0"/>
          </a:p>
        </p:txBody>
      </p:sp>
      <p:sp>
        <p:nvSpPr>
          <p:cNvPr id="11" name="Text 9"/>
          <p:cNvSpPr/>
          <p:nvPr/>
        </p:nvSpPr>
        <p:spPr>
          <a:xfrm>
            <a:off x="822960" y="3125724"/>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Resource Monitor: Type "resmon" in search</a:t>
            </a:r>
            <a:endParaRPr lang="en-US" sz="1300" dirty="0"/>
          </a:p>
        </p:txBody>
      </p:sp>
      <p:sp>
        <p:nvSpPr>
          <p:cNvPr id="12" name="Text 10"/>
          <p:cNvSpPr/>
          <p:nvPr/>
        </p:nvSpPr>
        <p:spPr>
          <a:xfrm>
            <a:off x="822960" y="3409696"/>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Performance Monitor: Advanced monitoring (perfmon)</a:t>
            </a:r>
            <a:endParaRPr lang="en-US" sz="1300" dirty="0"/>
          </a:p>
        </p:txBody>
      </p:sp>
      <p:sp>
        <p:nvSpPr>
          <p:cNvPr id="13" name="Text 11"/>
          <p:cNvSpPr/>
          <p:nvPr/>
        </p:nvSpPr>
        <p:spPr>
          <a:xfrm>
            <a:off x="457200" y="3729736"/>
            <a:ext cx="8046720" cy="365760"/>
          </a:xfrm>
          <a:prstGeom prst="rect">
            <a:avLst/>
          </a:prstGeom>
          <a:noFill/>
          <a:ln/>
        </p:spPr>
        <p:txBody>
          <a:bodyPr wrap="square" rtlCol="0" anchor="ctr"/>
          <a:lstStyle/>
          <a:p>
            <a:pPr marL="0" indent="0">
              <a:buNone/>
            </a:pPr>
            <a:r>
              <a:rPr lang="en-US" b="1" dirty="0">
                <a:solidFill>
                  <a:srgbClr val="1F4788"/>
                </a:solidFill>
                <a:latin typeface="Calibri" pitchFamily="34" charset="0"/>
                <a:ea typeface="Calibri" pitchFamily="34" charset="-122"/>
                <a:cs typeface="Calibri" pitchFamily="34" charset="-120"/>
              </a:rPr>
              <a:t>Linux Command Tools:</a:t>
            </a:r>
            <a:endParaRPr lang="en-US" dirty="0"/>
          </a:p>
        </p:txBody>
      </p:sp>
      <p:sp>
        <p:nvSpPr>
          <p:cNvPr id="14" name="Shape 12"/>
          <p:cNvSpPr/>
          <p:nvPr/>
        </p:nvSpPr>
        <p:spPr>
          <a:xfrm>
            <a:off x="548640" y="4152392"/>
            <a:ext cx="8046720" cy="852932"/>
          </a:xfrm>
          <a:prstGeom prst="rect">
            <a:avLst/>
          </a:prstGeom>
          <a:solidFill>
            <a:srgbClr val="2D2D2D"/>
          </a:solidFill>
          <a:ln w="12700">
            <a:solidFill>
              <a:srgbClr val="666666"/>
            </a:solidFill>
            <a:prstDash val="solid"/>
          </a:ln>
        </p:spPr>
      </p:sp>
      <p:sp>
        <p:nvSpPr>
          <p:cNvPr id="15" name="Text 13"/>
          <p:cNvSpPr/>
          <p:nvPr/>
        </p:nvSpPr>
        <p:spPr>
          <a:xfrm>
            <a:off x="685800" y="4198112"/>
            <a:ext cx="7772400" cy="365760"/>
          </a:xfrm>
          <a:prstGeom prst="rect">
            <a:avLst/>
          </a:prstGeom>
          <a:noFill/>
          <a:ln/>
        </p:spPr>
        <p:txBody>
          <a:bodyPr wrap="square" rtlCol="0" anchor="t"/>
          <a:lstStyle/>
          <a:p>
            <a:pPr marL="0" indent="0" algn="l">
              <a:buNone/>
            </a:pPr>
            <a:r>
              <a:rPr lang="en-US" sz="1000" dirty="0">
                <a:solidFill>
                  <a:srgbClr val="00FF00"/>
                </a:solidFill>
                <a:latin typeface="Courier New" pitchFamily="34" charset="0"/>
                <a:ea typeface="Courier New" pitchFamily="34" charset="-122"/>
                <a:cs typeface="Courier New" pitchFamily="34" charset="-120"/>
              </a:rPr>
              <a:t>top              →  Real-time CPU and memory usage</a:t>
            </a:r>
            <a:endParaRPr lang="en-US" sz="1000" dirty="0"/>
          </a:p>
          <a:p>
            <a:pPr marL="0" indent="0" algn="l">
              <a:buNone/>
            </a:pPr>
            <a:r>
              <a:rPr lang="en-US" sz="1000" dirty="0">
                <a:solidFill>
                  <a:srgbClr val="00FF00"/>
                </a:solidFill>
                <a:latin typeface="Courier New" pitchFamily="34" charset="0"/>
                <a:ea typeface="Courier New" pitchFamily="34" charset="-122"/>
                <a:cs typeface="Courier New" pitchFamily="34" charset="-120"/>
              </a:rPr>
              <a:t>free -h          →  Memory information</a:t>
            </a:r>
            <a:endParaRPr lang="en-US" sz="1000" dirty="0"/>
          </a:p>
          <a:p>
            <a:pPr marL="0" indent="0" algn="l">
              <a:buNone/>
            </a:pPr>
            <a:r>
              <a:rPr lang="en-US" sz="1000" dirty="0">
                <a:solidFill>
                  <a:srgbClr val="00FF00"/>
                </a:solidFill>
                <a:latin typeface="Courier New" pitchFamily="34" charset="0"/>
                <a:ea typeface="Courier New" pitchFamily="34" charset="-122"/>
                <a:cs typeface="Courier New" pitchFamily="34" charset="-120"/>
              </a:rPr>
              <a:t>df -h            →  Disk space per partition</a:t>
            </a:r>
            <a:endParaRPr lang="en-US" sz="1000" dirty="0"/>
          </a:p>
          <a:p>
            <a:pPr marL="0" indent="0" algn="l">
              <a:buNone/>
            </a:pPr>
            <a:r>
              <a:rPr lang="en-US" sz="1000" dirty="0">
                <a:solidFill>
                  <a:srgbClr val="00FF00"/>
                </a:solidFill>
                <a:latin typeface="Courier New" pitchFamily="34" charset="0"/>
                <a:ea typeface="Courier New" pitchFamily="34" charset="-122"/>
                <a:cs typeface="Courier New" pitchFamily="34" charset="-120"/>
              </a:rPr>
              <a:t>iostat 1 5       →  Disk I/O statistics</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F4788"/>
          </a:solidFill>
          <a:ln/>
        </p:spPr>
      </p:sp>
      <p:sp>
        <p:nvSpPr>
          <p:cNvPr id="3" name="Text 1"/>
          <p:cNvSpPr/>
          <p:nvPr/>
        </p:nvSpPr>
        <p:spPr>
          <a:xfrm>
            <a:off x="457200" y="137160"/>
            <a:ext cx="777240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Managing Startup Items &amp; Services</a:t>
            </a:r>
            <a:endParaRPr lang="en-US" sz="3200" dirty="0"/>
          </a:p>
        </p:txBody>
      </p:sp>
      <p:sp>
        <p:nvSpPr>
          <p:cNvPr id="4" name="Text 2"/>
          <p:cNvSpPr/>
          <p:nvPr/>
        </p:nvSpPr>
        <p:spPr>
          <a:xfrm>
            <a:off x="365760" y="802640"/>
            <a:ext cx="8046720" cy="274320"/>
          </a:xfrm>
          <a:prstGeom prst="rect">
            <a:avLst/>
          </a:prstGeom>
          <a:noFill/>
          <a:ln/>
        </p:spPr>
        <p:txBody>
          <a:bodyPr wrap="square" rtlCol="0" anchor="ctr"/>
          <a:lstStyle/>
          <a:p>
            <a:pPr marL="0" indent="0">
              <a:buNone/>
            </a:pPr>
            <a:r>
              <a:rPr lang="en-US" sz="1600" b="1" dirty="0">
                <a:solidFill>
                  <a:srgbClr val="E64A19"/>
                </a:solidFill>
                <a:latin typeface="Calibri" pitchFamily="34" charset="0"/>
                <a:ea typeface="Calibri" pitchFamily="34" charset="-122"/>
                <a:cs typeface="Calibri" pitchFamily="34" charset="-120"/>
              </a:rPr>
              <a:t>Startup Programs</a:t>
            </a:r>
            <a:endParaRPr lang="en-US" sz="1600" dirty="0"/>
          </a:p>
        </p:txBody>
      </p:sp>
      <p:sp>
        <p:nvSpPr>
          <p:cNvPr id="5" name="Text 3"/>
          <p:cNvSpPr/>
          <p:nvPr/>
        </p:nvSpPr>
        <p:spPr>
          <a:xfrm>
            <a:off x="731520" y="1071880"/>
            <a:ext cx="7772400" cy="411480"/>
          </a:xfrm>
          <a:prstGeom prst="rect">
            <a:avLst/>
          </a:prstGeom>
          <a:noFill/>
          <a:ln/>
        </p:spPr>
        <p:txBody>
          <a:bodyPr wrap="square" rtlCol="0" anchor="ctr"/>
          <a:lstStyle/>
          <a:p>
            <a:pPr marL="0" indent="0">
              <a:buNone/>
            </a:pPr>
            <a:r>
              <a:rPr lang="en-US" sz="1400" dirty="0">
                <a:solidFill>
                  <a:srgbClr val="1A1A1A"/>
                </a:solidFill>
                <a:latin typeface="Calibri" pitchFamily="34" charset="0"/>
                <a:ea typeface="Calibri" pitchFamily="34" charset="-122"/>
                <a:cs typeface="Calibri" pitchFamily="34" charset="-120"/>
              </a:rPr>
              <a:t>Applications that automatically launch when system boots. Can significantly impact startup time and memory usage.</a:t>
            </a:r>
            <a:endParaRPr lang="en-US" sz="1400" dirty="0"/>
          </a:p>
        </p:txBody>
      </p:sp>
      <p:sp>
        <p:nvSpPr>
          <p:cNvPr id="6" name="Text 4"/>
          <p:cNvSpPr/>
          <p:nvPr/>
        </p:nvSpPr>
        <p:spPr>
          <a:xfrm>
            <a:off x="457200" y="1397000"/>
            <a:ext cx="8046720" cy="365760"/>
          </a:xfrm>
          <a:prstGeom prst="rect">
            <a:avLst/>
          </a:prstGeom>
          <a:noFill/>
          <a:ln/>
        </p:spPr>
        <p:txBody>
          <a:bodyPr wrap="square" rtlCol="0" anchor="ctr"/>
          <a:lstStyle/>
          <a:p>
            <a:pPr marL="0" indent="0">
              <a:buNone/>
            </a:pPr>
            <a:r>
              <a:rPr lang="en-US" sz="1800" b="1" dirty="0">
                <a:solidFill>
                  <a:srgbClr val="1F4788"/>
                </a:solidFill>
                <a:latin typeface="Calibri" pitchFamily="34" charset="0"/>
                <a:ea typeface="Calibri" pitchFamily="34" charset="-122"/>
                <a:cs typeface="Calibri" pitchFamily="34" charset="-120"/>
              </a:rPr>
              <a:t>Windows Startup Management:</a:t>
            </a:r>
            <a:endParaRPr lang="en-US" sz="1800" dirty="0"/>
          </a:p>
        </p:txBody>
      </p:sp>
      <p:sp>
        <p:nvSpPr>
          <p:cNvPr id="7" name="Text 5"/>
          <p:cNvSpPr/>
          <p:nvPr/>
        </p:nvSpPr>
        <p:spPr>
          <a:xfrm>
            <a:off x="731520" y="1671320"/>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Task Manager → Startup tab: See programs that run at boot</a:t>
            </a:r>
            <a:endParaRPr lang="en-US" sz="1300" dirty="0"/>
          </a:p>
        </p:txBody>
      </p:sp>
      <p:sp>
        <p:nvSpPr>
          <p:cNvPr id="8" name="Text 6"/>
          <p:cNvSpPr/>
          <p:nvPr/>
        </p:nvSpPr>
        <p:spPr>
          <a:xfrm>
            <a:off x="731520" y="1938528"/>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Right-click program → Disable: Prevent auto-launch</a:t>
            </a:r>
            <a:endParaRPr lang="en-US" sz="1300" dirty="0"/>
          </a:p>
        </p:txBody>
      </p:sp>
      <p:sp>
        <p:nvSpPr>
          <p:cNvPr id="9" name="Text 7"/>
          <p:cNvSpPr/>
          <p:nvPr/>
        </p:nvSpPr>
        <p:spPr>
          <a:xfrm>
            <a:off x="731520" y="2205736"/>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Services management: Type "services.msc" for system services</a:t>
            </a:r>
            <a:endParaRPr lang="en-US" sz="1300" dirty="0"/>
          </a:p>
        </p:txBody>
      </p:sp>
      <p:sp>
        <p:nvSpPr>
          <p:cNvPr id="10" name="Text 8"/>
          <p:cNvSpPr/>
          <p:nvPr/>
        </p:nvSpPr>
        <p:spPr>
          <a:xfrm>
            <a:off x="457200" y="2554224"/>
            <a:ext cx="8046720" cy="365760"/>
          </a:xfrm>
          <a:prstGeom prst="rect">
            <a:avLst/>
          </a:prstGeom>
          <a:noFill/>
          <a:ln/>
        </p:spPr>
        <p:txBody>
          <a:bodyPr wrap="square" rtlCol="0" anchor="ctr"/>
          <a:lstStyle/>
          <a:p>
            <a:pPr marL="0" indent="0">
              <a:buNone/>
            </a:pPr>
            <a:r>
              <a:rPr lang="en-US" sz="1800" b="1" dirty="0">
                <a:solidFill>
                  <a:srgbClr val="1F4788"/>
                </a:solidFill>
                <a:latin typeface="Calibri" pitchFamily="34" charset="0"/>
                <a:ea typeface="Calibri" pitchFamily="34" charset="-122"/>
                <a:cs typeface="Calibri" pitchFamily="34" charset="-120"/>
              </a:rPr>
              <a:t>Linux Startup Management:</a:t>
            </a:r>
            <a:endParaRPr lang="en-US" sz="1800" dirty="0"/>
          </a:p>
        </p:txBody>
      </p:sp>
      <p:sp>
        <p:nvSpPr>
          <p:cNvPr id="11" name="Text 9"/>
          <p:cNvSpPr/>
          <p:nvPr/>
        </p:nvSpPr>
        <p:spPr>
          <a:xfrm>
            <a:off x="731520" y="2848864"/>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systemctl status nginx: Check service status</a:t>
            </a:r>
            <a:endParaRPr lang="en-US" sz="1300" dirty="0"/>
          </a:p>
        </p:txBody>
      </p:sp>
      <p:sp>
        <p:nvSpPr>
          <p:cNvPr id="12" name="Text 10"/>
          <p:cNvSpPr/>
          <p:nvPr/>
        </p:nvSpPr>
        <p:spPr>
          <a:xfrm>
            <a:off x="731520" y="3126232"/>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systemctl start/stop/restart: Control services</a:t>
            </a:r>
            <a:endParaRPr lang="en-US" sz="1300" dirty="0"/>
          </a:p>
        </p:txBody>
      </p:sp>
      <p:sp>
        <p:nvSpPr>
          <p:cNvPr id="13" name="Text 11"/>
          <p:cNvSpPr/>
          <p:nvPr/>
        </p:nvSpPr>
        <p:spPr>
          <a:xfrm>
            <a:off x="731520" y="3464560"/>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systemctl enable/disable: Set auto-start</a:t>
            </a:r>
            <a:endParaRPr lang="en-US" sz="1300" dirty="0"/>
          </a:p>
        </p:txBody>
      </p:sp>
      <p:sp>
        <p:nvSpPr>
          <p:cNvPr id="14" name="Text 12"/>
          <p:cNvSpPr/>
          <p:nvPr/>
        </p:nvSpPr>
        <p:spPr>
          <a:xfrm>
            <a:off x="457200" y="3772408"/>
            <a:ext cx="8046720" cy="365760"/>
          </a:xfrm>
          <a:prstGeom prst="rect">
            <a:avLst/>
          </a:prstGeom>
          <a:noFill/>
          <a:ln/>
        </p:spPr>
        <p:txBody>
          <a:bodyPr wrap="square" rtlCol="0" anchor="ctr"/>
          <a:lstStyle/>
          <a:p>
            <a:pPr marL="0" indent="0">
              <a:buNone/>
            </a:pPr>
            <a:r>
              <a:rPr lang="en-US" sz="1800" b="1" dirty="0">
                <a:solidFill>
                  <a:srgbClr val="1F4788"/>
                </a:solidFill>
                <a:latin typeface="Calibri" pitchFamily="34" charset="0"/>
                <a:ea typeface="Calibri" pitchFamily="34" charset="-122"/>
                <a:cs typeface="Calibri" pitchFamily="34" charset="-120"/>
              </a:rPr>
              <a:t>Performance Impact:</a:t>
            </a:r>
            <a:endParaRPr lang="en-US" sz="1800" dirty="0"/>
          </a:p>
        </p:txBody>
      </p:sp>
      <p:sp>
        <p:nvSpPr>
          <p:cNvPr id="15" name="Text 13"/>
          <p:cNvSpPr/>
          <p:nvPr/>
        </p:nvSpPr>
        <p:spPr>
          <a:xfrm>
            <a:off x="731520" y="4077208"/>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Each startup program increases boot time</a:t>
            </a:r>
            <a:endParaRPr lang="en-US" sz="1300" dirty="0"/>
          </a:p>
        </p:txBody>
      </p:sp>
      <p:sp>
        <p:nvSpPr>
          <p:cNvPr id="16" name="Text 14"/>
          <p:cNvSpPr/>
          <p:nvPr/>
        </p:nvSpPr>
        <p:spPr>
          <a:xfrm>
            <a:off x="731520" y="4354576"/>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Unnecessary programs waste memory and CPU</a:t>
            </a:r>
            <a:endParaRPr lang="en-US" sz="1300" dirty="0"/>
          </a:p>
        </p:txBody>
      </p:sp>
      <p:sp>
        <p:nvSpPr>
          <p:cNvPr id="17" name="Text 15"/>
          <p:cNvSpPr/>
          <p:nvPr/>
        </p:nvSpPr>
        <p:spPr>
          <a:xfrm>
            <a:off x="731520" y="4672584"/>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Malware often adds itself to startup to persist</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F4788"/>
          </a:solidFill>
          <a:ln/>
        </p:spPr>
      </p:sp>
      <p:sp>
        <p:nvSpPr>
          <p:cNvPr id="3" name="Text 1"/>
          <p:cNvSpPr/>
          <p:nvPr/>
        </p:nvSpPr>
        <p:spPr>
          <a:xfrm>
            <a:off x="457200" y="137160"/>
            <a:ext cx="777240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Log Files and Basic Log Analysis</a:t>
            </a:r>
            <a:endParaRPr lang="en-US" sz="3200" dirty="0"/>
          </a:p>
        </p:txBody>
      </p:sp>
      <p:sp>
        <p:nvSpPr>
          <p:cNvPr id="4" name="Text 2"/>
          <p:cNvSpPr/>
          <p:nvPr/>
        </p:nvSpPr>
        <p:spPr>
          <a:xfrm>
            <a:off x="548640" y="833120"/>
            <a:ext cx="8046720" cy="274320"/>
          </a:xfrm>
          <a:prstGeom prst="rect">
            <a:avLst/>
          </a:prstGeom>
          <a:noFill/>
          <a:ln/>
        </p:spPr>
        <p:txBody>
          <a:bodyPr wrap="square" rtlCol="0" anchor="ctr"/>
          <a:lstStyle/>
          <a:p>
            <a:pPr marL="0" indent="0">
              <a:buNone/>
            </a:pPr>
            <a:r>
              <a:rPr lang="en-US" sz="1300" b="1" dirty="0">
                <a:solidFill>
                  <a:srgbClr val="E64A19"/>
                </a:solidFill>
                <a:latin typeface="Calibri" pitchFamily="34" charset="0"/>
                <a:ea typeface="Calibri" pitchFamily="34" charset="-122"/>
                <a:cs typeface="Calibri" pitchFamily="34" charset="-120"/>
              </a:rPr>
              <a:t>Log File</a:t>
            </a:r>
            <a:endParaRPr lang="en-US" sz="1300" dirty="0"/>
          </a:p>
        </p:txBody>
      </p:sp>
      <p:sp>
        <p:nvSpPr>
          <p:cNvPr id="5" name="Text 3"/>
          <p:cNvSpPr/>
          <p:nvPr/>
        </p:nvSpPr>
        <p:spPr>
          <a:xfrm>
            <a:off x="822960" y="1041400"/>
            <a:ext cx="7772400" cy="411480"/>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Text file recording events, errors, and activities of system/application. Essential for troubleshooting and security.</a:t>
            </a:r>
            <a:endParaRPr lang="en-US" sz="1200" dirty="0"/>
          </a:p>
        </p:txBody>
      </p:sp>
      <p:sp>
        <p:nvSpPr>
          <p:cNvPr id="6" name="Text 4"/>
          <p:cNvSpPr/>
          <p:nvPr/>
        </p:nvSpPr>
        <p:spPr>
          <a:xfrm>
            <a:off x="548640" y="1397000"/>
            <a:ext cx="8046720" cy="365760"/>
          </a:xfrm>
          <a:prstGeom prst="rect">
            <a:avLst/>
          </a:prstGeom>
          <a:noFill/>
          <a:ln/>
        </p:spPr>
        <p:txBody>
          <a:bodyPr wrap="square" rtlCol="0" anchor="ctr"/>
          <a:lstStyle/>
          <a:p>
            <a:pPr marL="0" indent="0">
              <a:buNone/>
            </a:pPr>
            <a:r>
              <a:rPr lang="en-US" sz="1800" b="1" dirty="0">
                <a:solidFill>
                  <a:srgbClr val="1F4788"/>
                </a:solidFill>
                <a:latin typeface="Calibri" pitchFamily="34" charset="0"/>
                <a:ea typeface="Calibri" pitchFamily="34" charset="-122"/>
                <a:cs typeface="Calibri" pitchFamily="34" charset="-120"/>
              </a:rPr>
              <a:t>Common Log Locations:</a:t>
            </a:r>
            <a:endParaRPr lang="en-US" sz="1800" dirty="0"/>
          </a:p>
        </p:txBody>
      </p:sp>
      <p:sp>
        <p:nvSpPr>
          <p:cNvPr id="7" name="Text 5"/>
          <p:cNvSpPr/>
          <p:nvPr/>
        </p:nvSpPr>
        <p:spPr>
          <a:xfrm>
            <a:off x="822960" y="1813560"/>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Windows: Event Viewer (eventvwr.msc), Application logs in C:\ProgramData</a:t>
            </a:r>
            <a:endParaRPr lang="en-US" sz="1300" dirty="0"/>
          </a:p>
        </p:txBody>
      </p:sp>
      <p:sp>
        <p:nvSpPr>
          <p:cNvPr id="8" name="Text 6"/>
          <p:cNvSpPr/>
          <p:nvPr/>
        </p:nvSpPr>
        <p:spPr>
          <a:xfrm>
            <a:off x="822960" y="2101088"/>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Linux: /var/log/ directory (system.log, auth.log, syslog)</a:t>
            </a:r>
            <a:endParaRPr lang="en-US" sz="1300" dirty="0"/>
          </a:p>
        </p:txBody>
      </p:sp>
      <p:sp>
        <p:nvSpPr>
          <p:cNvPr id="9" name="Text 7"/>
          <p:cNvSpPr/>
          <p:nvPr/>
        </p:nvSpPr>
        <p:spPr>
          <a:xfrm>
            <a:off x="822960" y="2408936"/>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Applications: Logs in installation directory or /var/log/appname</a:t>
            </a:r>
            <a:endParaRPr lang="en-US" sz="1300" dirty="0"/>
          </a:p>
        </p:txBody>
      </p:sp>
      <p:sp>
        <p:nvSpPr>
          <p:cNvPr id="10" name="Text 8"/>
          <p:cNvSpPr/>
          <p:nvPr/>
        </p:nvSpPr>
        <p:spPr>
          <a:xfrm>
            <a:off x="548640" y="2686304"/>
            <a:ext cx="8046720" cy="365760"/>
          </a:xfrm>
          <a:prstGeom prst="rect">
            <a:avLst/>
          </a:prstGeom>
          <a:noFill/>
          <a:ln/>
        </p:spPr>
        <p:txBody>
          <a:bodyPr wrap="square" rtlCol="0" anchor="ctr"/>
          <a:lstStyle/>
          <a:p>
            <a:pPr marL="0" indent="0">
              <a:buNone/>
            </a:pPr>
            <a:r>
              <a:rPr lang="en-US" sz="1800" b="1" dirty="0">
                <a:solidFill>
                  <a:srgbClr val="1F4788"/>
                </a:solidFill>
                <a:latin typeface="Calibri" pitchFamily="34" charset="0"/>
                <a:ea typeface="Calibri" pitchFamily="34" charset="-122"/>
                <a:cs typeface="Calibri" pitchFamily="34" charset="-120"/>
              </a:rPr>
              <a:t>Log Entry Components:</a:t>
            </a:r>
            <a:endParaRPr lang="en-US" sz="1800" dirty="0"/>
          </a:p>
        </p:txBody>
      </p:sp>
      <p:sp>
        <p:nvSpPr>
          <p:cNvPr id="11" name="Shape 9"/>
          <p:cNvSpPr/>
          <p:nvPr/>
        </p:nvSpPr>
        <p:spPr>
          <a:xfrm>
            <a:off x="548640" y="3052064"/>
            <a:ext cx="8046720" cy="778256"/>
          </a:xfrm>
          <a:prstGeom prst="rect">
            <a:avLst/>
          </a:prstGeom>
          <a:solidFill>
            <a:srgbClr val="2D2D2D"/>
          </a:solidFill>
          <a:ln w="12700">
            <a:solidFill>
              <a:srgbClr val="666666"/>
            </a:solidFill>
            <a:prstDash val="solid"/>
          </a:ln>
        </p:spPr>
      </p:sp>
      <p:sp>
        <p:nvSpPr>
          <p:cNvPr id="12" name="Text 10"/>
          <p:cNvSpPr/>
          <p:nvPr/>
        </p:nvSpPr>
        <p:spPr>
          <a:xfrm>
            <a:off x="685800" y="3097784"/>
            <a:ext cx="7772400" cy="365760"/>
          </a:xfrm>
          <a:prstGeom prst="rect">
            <a:avLst/>
          </a:prstGeom>
          <a:noFill/>
          <a:ln/>
        </p:spPr>
        <p:txBody>
          <a:bodyPr wrap="square" rtlCol="0" anchor="t"/>
          <a:lstStyle/>
          <a:p>
            <a:pPr marL="0" indent="0" algn="l">
              <a:buNone/>
            </a:pPr>
            <a:r>
              <a:rPr lang="en-US" sz="1000" dirty="0">
                <a:solidFill>
                  <a:srgbClr val="00FF00"/>
                </a:solidFill>
                <a:latin typeface="Courier New" pitchFamily="34" charset="0"/>
                <a:ea typeface="Courier New" pitchFamily="34" charset="-122"/>
                <a:cs typeface="Courier New" pitchFamily="34" charset="-120"/>
              </a:rPr>
              <a:t>2024-01-15 14:32:45 [ERROR] Database connection failed</a:t>
            </a:r>
            <a:endParaRPr lang="en-US" sz="1000" dirty="0"/>
          </a:p>
          <a:p>
            <a:pPr marL="0" indent="0" algn="l">
              <a:buNone/>
            </a:pPr>
            <a:r>
              <a:rPr lang="en-US" sz="1000" dirty="0">
                <a:solidFill>
                  <a:srgbClr val="00FF00"/>
                </a:solidFill>
                <a:latin typeface="Courier New" pitchFamily="34" charset="0"/>
                <a:ea typeface="Courier New" pitchFamily="34" charset="-122"/>
                <a:cs typeface="Courier New" pitchFamily="34" charset="-120"/>
              </a:rPr>
              <a:t>Date/Time | Level | Message</a:t>
            </a:r>
            <a:endParaRPr lang="en-US" sz="1000" dirty="0"/>
          </a:p>
          <a:p>
            <a:pPr marL="0" indent="0" algn="l">
              <a:buNone/>
            </a:pPr>
            <a:endParaRPr lang="en-US" sz="1000" dirty="0"/>
          </a:p>
          <a:p>
            <a:pPr marL="0" indent="0" algn="l">
              <a:buNone/>
            </a:pPr>
            <a:r>
              <a:rPr lang="en-US" sz="1000" dirty="0">
                <a:solidFill>
                  <a:srgbClr val="00FF00"/>
                </a:solidFill>
                <a:latin typeface="Courier New" pitchFamily="34" charset="0"/>
                <a:ea typeface="Courier New" pitchFamily="34" charset="-122"/>
                <a:cs typeface="Courier New" pitchFamily="34" charset="-120"/>
              </a:rPr>
              <a:t>Levels: DEBUG &lt; INFO &lt; WARNING &lt; ERROR &lt; CRITICAL</a:t>
            </a:r>
            <a:endParaRPr lang="en-US" sz="1000" dirty="0"/>
          </a:p>
        </p:txBody>
      </p:sp>
      <p:sp>
        <p:nvSpPr>
          <p:cNvPr id="13" name="Text 11"/>
          <p:cNvSpPr/>
          <p:nvPr/>
        </p:nvSpPr>
        <p:spPr>
          <a:xfrm>
            <a:off x="548640" y="3890264"/>
            <a:ext cx="8046720" cy="365760"/>
          </a:xfrm>
          <a:prstGeom prst="rect">
            <a:avLst/>
          </a:prstGeom>
          <a:noFill/>
          <a:ln/>
        </p:spPr>
        <p:txBody>
          <a:bodyPr wrap="square" rtlCol="0" anchor="ctr"/>
          <a:lstStyle/>
          <a:p>
            <a:pPr marL="0" indent="0">
              <a:buNone/>
            </a:pPr>
            <a:r>
              <a:rPr lang="en-US" sz="1800" b="1" dirty="0">
                <a:solidFill>
                  <a:srgbClr val="1F4788"/>
                </a:solidFill>
                <a:latin typeface="Calibri" pitchFamily="34" charset="0"/>
                <a:ea typeface="Calibri" pitchFamily="34" charset="-122"/>
                <a:cs typeface="Calibri" pitchFamily="34" charset="-120"/>
              </a:rPr>
              <a:t>Basic Analysis:</a:t>
            </a:r>
            <a:endParaRPr lang="en-US" sz="1800" dirty="0"/>
          </a:p>
        </p:txBody>
      </p:sp>
      <p:sp>
        <p:nvSpPr>
          <p:cNvPr id="14" name="Shape 12"/>
          <p:cNvSpPr/>
          <p:nvPr/>
        </p:nvSpPr>
        <p:spPr>
          <a:xfrm>
            <a:off x="548640" y="4266184"/>
            <a:ext cx="8046720" cy="590296"/>
          </a:xfrm>
          <a:prstGeom prst="rect">
            <a:avLst/>
          </a:prstGeom>
          <a:solidFill>
            <a:srgbClr val="2D2D2D"/>
          </a:solidFill>
          <a:ln w="12700">
            <a:solidFill>
              <a:srgbClr val="666666"/>
            </a:solidFill>
            <a:prstDash val="solid"/>
          </a:ln>
        </p:spPr>
      </p:sp>
      <p:sp>
        <p:nvSpPr>
          <p:cNvPr id="15" name="Text 13"/>
          <p:cNvSpPr/>
          <p:nvPr/>
        </p:nvSpPr>
        <p:spPr>
          <a:xfrm>
            <a:off x="685800" y="4311904"/>
            <a:ext cx="7772400" cy="365760"/>
          </a:xfrm>
          <a:prstGeom prst="rect">
            <a:avLst/>
          </a:prstGeom>
          <a:noFill/>
          <a:ln/>
        </p:spPr>
        <p:txBody>
          <a:bodyPr wrap="square" rtlCol="0" anchor="t"/>
          <a:lstStyle/>
          <a:p>
            <a:pPr marL="0" indent="0" algn="l">
              <a:buNone/>
            </a:pPr>
            <a:r>
              <a:rPr lang="en-US" sz="1000" dirty="0">
                <a:solidFill>
                  <a:srgbClr val="00FF00"/>
                </a:solidFill>
                <a:latin typeface="Courier New" pitchFamily="34" charset="0"/>
                <a:ea typeface="Courier New" pitchFamily="34" charset="-122"/>
                <a:cs typeface="Courier New" pitchFamily="34" charset="-120"/>
              </a:rPr>
              <a:t>grep "ERROR" /var/log/app.log          →  Find all errors</a:t>
            </a:r>
            <a:endParaRPr lang="en-US" sz="1000" dirty="0"/>
          </a:p>
          <a:p>
            <a:pPr marL="0" indent="0" algn="l">
              <a:buNone/>
            </a:pPr>
            <a:r>
              <a:rPr lang="en-US" sz="1000" dirty="0">
                <a:solidFill>
                  <a:srgbClr val="00FF00"/>
                </a:solidFill>
                <a:latin typeface="Courier New" pitchFamily="34" charset="0"/>
                <a:ea typeface="Courier New" pitchFamily="34" charset="-122"/>
                <a:cs typeface="Courier New" pitchFamily="34" charset="-120"/>
              </a:rPr>
              <a:t>grep -c "ERROR" /var/log/app.log    →  Count errors</a:t>
            </a:r>
            <a:endParaRPr lang="en-US" sz="1000" dirty="0"/>
          </a:p>
          <a:p>
            <a:pPr marL="0" indent="0" algn="l">
              <a:buNone/>
            </a:pPr>
            <a:r>
              <a:rPr lang="en-US" sz="1000" dirty="0">
                <a:solidFill>
                  <a:srgbClr val="00FF00"/>
                </a:solidFill>
                <a:latin typeface="Courier New" pitchFamily="34" charset="0"/>
                <a:ea typeface="Courier New" pitchFamily="34" charset="-122"/>
                <a:cs typeface="Courier New" pitchFamily="34" charset="-120"/>
              </a:rPr>
              <a:t>tail -20 /var/log/syslog            →  Show last 20 lines</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2E7D32"/>
        </a:solidFill>
        <a:effectLst/>
      </p:bgPr>
    </p:bg>
    <p:spTree>
      <p:nvGrpSpPr>
        <p:cNvPr id="1" name=""/>
        <p:cNvGrpSpPr/>
        <p:nvPr/>
      </p:nvGrpSpPr>
      <p:grpSpPr>
        <a:xfrm>
          <a:off x="0" y="0"/>
          <a:ext cx="0" cy="0"/>
          <a:chOff x="0" y="0"/>
          <a:chExt cx="0" cy="0"/>
        </a:xfrm>
      </p:grpSpPr>
      <p:sp>
        <p:nvSpPr>
          <p:cNvPr id="2" name="Shape 0"/>
          <p:cNvSpPr/>
          <p:nvPr/>
        </p:nvSpPr>
        <p:spPr>
          <a:xfrm>
            <a:off x="457200" y="1371600"/>
            <a:ext cx="731520" cy="731520"/>
          </a:xfrm>
          <a:prstGeom prst="ellipse">
            <a:avLst/>
          </a:prstGeom>
          <a:solidFill>
            <a:srgbClr val="E64A19"/>
          </a:solidFill>
          <a:ln w="25400">
            <a:solidFill>
              <a:srgbClr val="FFFFFF"/>
            </a:solidFill>
            <a:prstDash val="solid"/>
          </a:ln>
        </p:spPr>
      </p:sp>
      <p:sp>
        <p:nvSpPr>
          <p:cNvPr id="3" name="Text 1"/>
          <p:cNvSpPr/>
          <p:nvPr/>
        </p:nvSpPr>
        <p:spPr>
          <a:xfrm>
            <a:off x="457200" y="1371600"/>
            <a:ext cx="731520" cy="731520"/>
          </a:xfrm>
          <a:prstGeom prst="rect">
            <a:avLst/>
          </a:prstGeom>
          <a:noFill/>
          <a:ln/>
        </p:spPr>
        <p:txBody>
          <a:bodyPr wrap="square" rtlCol="0" anchor="ctr"/>
          <a:lstStyle/>
          <a:p>
            <a:pPr marL="0" indent="0" algn="ctr">
              <a:buNone/>
            </a:pPr>
            <a:r>
              <a:rPr lang="en-US" sz="3200" b="1" dirty="0">
                <a:solidFill>
                  <a:srgbClr val="FFFFFF"/>
                </a:solidFill>
                <a:latin typeface="Calibri" pitchFamily="34" charset="0"/>
                <a:ea typeface="Calibri" pitchFamily="34" charset="-122"/>
                <a:cs typeface="Calibri" pitchFamily="34" charset="-120"/>
              </a:rPr>
              <a:t>03</a:t>
            </a:r>
            <a:endParaRPr lang="en-US" sz="3200" dirty="0"/>
          </a:p>
        </p:txBody>
      </p:sp>
      <p:sp>
        <p:nvSpPr>
          <p:cNvPr id="4" name="Text 2"/>
          <p:cNvSpPr/>
          <p:nvPr/>
        </p:nvSpPr>
        <p:spPr>
          <a:xfrm>
            <a:off x="1371600" y="1463040"/>
            <a:ext cx="6858000" cy="731520"/>
          </a:xfrm>
          <a:prstGeom prst="rect">
            <a:avLst/>
          </a:prstGeom>
          <a:noFill/>
          <a:ln/>
        </p:spPr>
        <p:txBody>
          <a:bodyPr wrap="square" rtlCol="0" anchor="ctr"/>
          <a:lstStyle/>
          <a:p>
            <a:pPr marL="0" indent="0" algn="l">
              <a:buNone/>
            </a:pPr>
            <a:r>
              <a:rPr lang="en-US" sz="4400" b="1" dirty="0">
                <a:solidFill>
                  <a:srgbClr val="FFFFFF"/>
                </a:solidFill>
                <a:latin typeface="Calibri" pitchFamily="34" charset="0"/>
                <a:ea typeface="Calibri" pitchFamily="34" charset="-122"/>
                <a:cs typeface="Calibri" pitchFamily="34" charset="-120"/>
              </a:rPr>
              <a:t>Basic Troubleshooting Mindset</a:t>
            </a:r>
            <a:endParaRPr lang="en-US" sz="4400" dirty="0"/>
          </a:p>
        </p:txBody>
      </p:sp>
      <p:sp>
        <p:nvSpPr>
          <p:cNvPr id="5" name="Text 3"/>
          <p:cNvSpPr/>
          <p:nvPr/>
        </p:nvSpPr>
        <p:spPr>
          <a:xfrm>
            <a:off x="457200" y="2560320"/>
            <a:ext cx="7772400" cy="914400"/>
          </a:xfrm>
          <a:prstGeom prst="rect">
            <a:avLst/>
          </a:prstGeom>
          <a:noFill/>
          <a:ln/>
        </p:spPr>
        <p:txBody>
          <a:bodyPr wrap="square" rtlCol="0" anchor="ctr"/>
          <a:lstStyle/>
          <a:p>
            <a:pPr marL="0" indent="0" algn="l">
              <a:buNone/>
            </a:pPr>
            <a:r>
              <a:rPr lang="en-US" sz="2000" dirty="0">
                <a:solidFill>
                  <a:srgbClr val="F5F7FA"/>
                </a:solidFill>
                <a:latin typeface="Calibri" pitchFamily="34" charset="0"/>
                <a:ea typeface="Calibri" pitchFamily="34" charset="-122"/>
                <a:cs typeface="Calibri" pitchFamily="34" charset="-120"/>
              </a:rPr>
              <a:t>Systematic Problem-Solving Approach</a:t>
            </a:r>
            <a:endParaRPr lang="en-US" sz="2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F4788"/>
          </a:solidFill>
          <a:ln/>
        </p:spPr>
      </p:sp>
      <p:sp>
        <p:nvSpPr>
          <p:cNvPr id="3" name="Text 1"/>
          <p:cNvSpPr/>
          <p:nvPr/>
        </p:nvSpPr>
        <p:spPr>
          <a:xfrm>
            <a:off x="457200" y="137160"/>
            <a:ext cx="777240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Troubleshooting Methodology</a:t>
            </a:r>
            <a:endParaRPr lang="en-US" sz="3200" dirty="0"/>
          </a:p>
        </p:txBody>
      </p:sp>
      <p:sp>
        <p:nvSpPr>
          <p:cNvPr id="4" name="Text 2"/>
          <p:cNvSpPr/>
          <p:nvPr/>
        </p:nvSpPr>
        <p:spPr>
          <a:xfrm>
            <a:off x="548640" y="782320"/>
            <a:ext cx="8046720" cy="274320"/>
          </a:xfrm>
          <a:prstGeom prst="rect">
            <a:avLst/>
          </a:prstGeom>
          <a:noFill/>
          <a:ln/>
        </p:spPr>
        <p:txBody>
          <a:bodyPr wrap="square" rtlCol="0" anchor="ctr"/>
          <a:lstStyle/>
          <a:p>
            <a:pPr marL="0" indent="0">
              <a:buNone/>
            </a:pPr>
            <a:r>
              <a:rPr lang="en-US" sz="1300" b="1" dirty="0">
                <a:solidFill>
                  <a:srgbClr val="E64A19"/>
                </a:solidFill>
                <a:latin typeface="Calibri" pitchFamily="34" charset="0"/>
                <a:ea typeface="Calibri" pitchFamily="34" charset="-122"/>
                <a:cs typeface="Calibri" pitchFamily="34" charset="-120"/>
              </a:rPr>
              <a:t>Troubleshooting</a:t>
            </a:r>
            <a:endParaRPr lang="en-US" sz="1300" dirty="0"/>
          </a:p>
        </p:txBody>
      </p:sp>
      <p:sp>
        <p:nvSpPr>
          <p:cNvPr id="5" name="Text 3"/>
          <p:cNvSpPr/>
          <p:nvPr/>
        </p:nvSpPr>
        <p:spPr>
          <a:xfrm>
            <a:off x="822960" y="1102360"/>
            <a:ext cx="7772400" cy="411480"/>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Systematic approach to identifying and resolving technical problems. Follows structured steps rather than random guessing.</a:t>
            </a:r>
            <a:endParaRPr lang="en-US" sz="1200" dirty="0"/>
          </a:p>
        </p:txBody>
      </p:sp>
      <p:sp>
        <p:nvSpPr>
          <p:cNvPr id="6" name="Text 4"/>
          <p:cNvSpPr/>
          <p:nvPr/>
        </p:nvSpPr>
        <p:spPr>
          <a:xfrm>
            <a:off x="548640" y="1742440"/>
            <a:ext cx="8046720" cy="365760"/>
          </a:xfrm>
          <a:prstGeom prst="rect">
            <a:avLst/>
          </a:prstGeom>
          <a:noFill/>
          <a:ln/>
        </p:spPr>
        <p:txBody>
          <a:bodyPr wrap="square" rtlCol="0" anchor="ctr"/>
          <a:lstStyle/>
          <a:p>
            <a:pPr marL="0" indent="0">
              <a:buNone/>
            </a:pPr>
            <a:r>
              <a:rPr lang="en-US" sz="1800" b="1" dirty="0">
                <a:solidFill>
                  <a:srgbClr val="1F4788"/>
                </a:solidFill>
                <a:latin typeface="Calibri" pitchFamily="34" charset="0"/>
                <a:ea typeface="Calibri" pitchFamily="34" charset="-122"/>
                <a:cs typeface="Calibri" pitchFamily="34" charset="-120"/>
              </a:rPr>
              <a:t>Core Troubleshooting Steps:</a:t>
            </a:r>
            <a:endParaRPr lang="en-US" sz="1800" dirty="0"/>
          </a:p>
        </p:txBody>
      </p:sp>
      <p:sp>
        <p:nvSpPr>
          <p:cNvPr id="7" name="Text 5"/>
          <p:cNvSpPr/>
          <p:nvPr/>
        </p:nvSpPr>
        <p:spPr>
          <a:xfrm>
            <a:off x="822960" y="2199640"/>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1. Isolate: Determine exactly what is NOT working and what IS working</a:t>
            </a:r>
            <a:endParaRPr lang="en-US" sz="1300" dirty="0"/>
          </a:p>
        </p:txBody>
      </p:sp>
      <p:sp>
        <p:nvSpPr>
          <p:cNvPr id="8" name="Text 6"/>
          <p:cNvSpPr/>
          <p:nvPr/>
        </p:nvSpPr>
        <p:spPr>
          <a:xfrm>
            <a:off x="822960" y="2629408"/>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2. Reproduce: Try to recreate the problem consistently</a:t>
            </a:r>
            <a:endParaRPr lang="en-US" sz="1300" dirty="0"/>
          </a:p>
        </p:txBody>
      </p:sp>
      <p:sp>
        <p:nvSpPr>
          <p:cNvPr id="9" name="Text 7"/>
          <p:cNvSpPr/>
          <p:nvPr/>
        </p:nvSpPr>
        <p:spPr>
          <a:xfrm>
            <a:off x="822960" y="3059176"/>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3. Check Logs: Review system/application logs for error messages</a:t>
            </a:r>
            <a:endParaRPr lang="en-US" sz="1300" dirty="0"/>
          </a:p>
        </p:txBody>
      </p:sp>
      <p:sp>
        <p:nvSpPr>
          <p:cNvPr id="10" name="Text 8"/>
          <p:cNvSpPr/>
          <p:nvPr/>
        </p:nvSpPr>
        <p:spPr>
          <a:xfrm>
            <a:off x="822960" y="3488944"/>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4. Research: Search for known solutions based on error messages</a:t>
            </a:r>
            <a:endParaRPr lang="en-US" sz="1300" dirty="0"/>
          </a:p>
        </p:txBody>
      </p:sp>
      <p:sp>
        <p:nvSpPr>
          <p:cNvPr id="11" name="Text 9"/>
          <p:cNvSpPr/>
          <p:nvPr/>
        </p:nvSpPr>
        <p:spPr>
          <a:xfrm>
            <a:off x="822960" y="3918712"/>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5. Rollback: Undo recent changes if problem started after update</a:t>
            </a:r>
            <a:endParaRPr lang="en-US" sz="1300" dirty="0"/>
          </a:p>
        </p:txBody>
      </p:sp>
      <p:sp>
        <p:nvSpPr>
          <p:cNvPr id="12" name="Text 10"/>
          <p:cNvSpPr/>
          <p:nvPr/>
        </p:nvSpPr>
        <p:spPr>
          <a:xfrm>
            <a:off x="822960" y="4348480"/>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6. Test: Verify fix works; don't assume it's resolved</a:t>
            </a:r>
            <a:endParaRPr lang="en-US" sz="1300" dirty="0"/>
          </a:p>
        </p:txBody>
      </p:sp>
      <p:sp>
        <p:nvSpPr>
          <p:cNvPr id="13" name="Text 11"/>
          <p:cNvSpPr/>
          <p:nvPr/>
        </p:nvSpPr>
        <p:spPr>
          <a:xfrm>
            <a:off x="822960" y="4778248"/>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7. Document: Record what was done, cause, and solution for future</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F4788"/>
          </a:solidFill>
          <a:ln/>
        </p:spPr>
      </p:sp>
      <p:sp>
        <p:nvSpPr>
          <p:cNvPr id="3" name="Text 1"/>
          <p:cNvSpPr/>
          <p:nvPr/>
        </p:nvSpPr>
        <p:spPr>
          <a:xfrm>
            <a:off x="457200" y="137160"/>
            <a:ext cx="777240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Step 1: Isolate the Problem</a:t>
            </a:r>
            <a:endParaRPr lang="en-US" sz="3200" dirty="0"/>
          </a:p>
        </p:txBody>
      </p:sp>
      <p:sp>
        <p:nvSpPr>
          <p:cNvPr id="4" name="Text 2"/>
          <p:cNvSpPr/>
          <p:nvPr/>
        </p:nvSpPr>
        <p:spPr>
          <a:xfrm>
            <a:off x="548640" y="701040"/>
            <a:ext cx="8046720" cy="365760"/>
          </a:xfrm>
          <a:prstGeom prst="rect">
            <a:avLst/>
          </a:prstGeom>
          <a:noFill/>
          <a:ln/>
        </p:spPr>
        <p:txBody>
          <a:bodyPr wrap="square" rtlCol="0" anchor="ctr"/>
          <a:lstStyle/>
          <a:p>
            <a:pPr marL="0" indent="0">
              <a:buNone/>
            </a:pPr>
            <a:r>
              <a:rPr lang="en-US" sz="1800" b="1" dirty="0">
                <a:solidFill>
                  <a:srgbClr val="1F4788"/>
                </a:solidFill>
                <a:latin typeface="Calibri" pitchFamily="34" charset="0"/>
                <a:ea typeface="Calibri" pitchFamily="34" charset="-122"/>
                <a:cs typeface="Calibri" pitchFamily="34" charset="-120"/>
              </a:rPr>
              <a:t>Questions to Ask:</a:t>
            </a:r>
            <a:endParaRPr lang="en-US" sz="1800" dirty="0"/>
          </a:p>
        </p:txBody>
      </p:sp>
      <p:sp>
        <p:nvSpPr>
          <p:cNvPr id="5" name="Text 3"/>
          <p:cNvSpPr/>
          <p:nvPr/>
        </p:nvSpPr>
        <p:spPr>
          <a:xfrm>
            <a:off x="822960" y="1158240"/>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What exactly is broken? (Be specific, not "doesn't work")</a:t>
            </a:r>
            <a:endParaRPr lang="en-US" sz="1300" dirty="0"/>
          </a:p>
        </p:txBody>
      </p:sp>
      <p:sp>
        <p:nvSpPr>
          <p:cNvPr id="6" name="Text 4"/>
          <p:cNvSpPr/>
          <p:nvPr/>
        </p:nvSpPr>
        <p:spPr>
          <a:xfrm>
            <a:off x="822960" y="1445768"/>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When did it stop working? (After update? New software?)</a:t>
            </a:r>
            <a:endParaRPr lang="en-US" sz="1300" dirty="0"/>
          </a:p>
        </p:txBody>
      </p:sp>
      <p:sp>
        <p:nvSpPr>
          <p:cNvPr id="7" name="Text 5"/>
          <p:cNvSpPr/>
          <p:nvPr/>
        </p:nvSpPr>
        <p:spPr>
          <a:xfrm>
            <a:off x="822960" y="1733296"/>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What was the last change before the problem started?</a:t>
            </a:r>
            <a:endParaRPr lang="en-US" sz="1300" dirty="0"/>
          </a:p>
        </p:txBody>
      </p:sp>
      <p:sp>
        <p:nvSpPr>
          <p:cNvPr id="8" name="Text 6"/>
          <p:cNvSpPr/>
          <p:nvPr/>
        </p:nvSpPr>
        <p:spPr>
          <a:xfrm>
            <a:off x="822960" y="2030984"/>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Does it affect all users or just one computer?</a:t>
            </a:r>
            <a:endParaRPr lang="en-US" sz="1300" dirty="0"/>
          </a:p>
        </p:txBody>
      </p:sp>
      <p:sp>
        <p:nvSpPr>
          <p:cNvPr id="9" name="Text 7"/>
          <p:cNvSpPr/>
          <p:nvPr/>
        </p:nvSpPr>
        <p:spPr>
          <a:xfrm>
            <a:off x="822960" y="2318512"/>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Are related systems working? (e.g., printer works but scanner doesn't)</a:t>
            </a:r>
            <a:endParaRPr lang="en-US" sz="1300" dirty="0"/>
          </a:p>
        </p:txBody>
      </p:sp>
      <p:sp>
        <p:nvSpPr>
          <p:cNvPr id="10" name="Text 8"/>
          <p:cNvSpPr/>
          <p:nvPr/>
        </p:nvSpPr>
        <p:spPr>
          <a:xfrm>
            <a:off x="548640" y="2738120"/>
            <a:ext cx="8046720" cy="365760"/>
          </a:xfrm>
          <a:prstGeom prst="rect">
            <a:avLst/>
          </a:prstGeom>
          <a:noFill/>
          <a:ln/>
        </p:spPr>
        <p:txBody>
          <a:bodyPr wrap="square" rtlCol="0" anchor="ctr"/>
          <a:lstStyle/>
          <a:p>
            <a:pPr marL="0" indent="0">
              <a:buNone/>
            </a:pPr>
            <a:r>
              <a:rPr lang="en-US" sz="1800" b="1" dirty="0">
                <a:solidFill>
                  <a:srgbClr val="1F4788"/>
                </a:solidFill>
                <a:latin typeface="Calibri" pitchFamily="34" charset="0"/>
                <a:ea typeface="Calibri" pitchFamily="34" charset="-122"/>
                <a:cs typeface="Calibri" pitchFamily="34" charset="-120"/>
              </a:rPr>
              <a:t>Isolation Techniques:</a:t>
            </a:r>
            <a:endParaRPr lang="en-US" sz="1800" dirty="0"/>
          </a:p>
        </p:txBody>
      </p:sp>
      <p:sp>
        <p:nvSpPr>
          <p:cNvPr id="11" name="Text 9"/>
          <p:cNvSpPr/>
          <p:nvPr/>
        </p:nvSpPr>
        <p:spPr>
          <a:xfrm>
            <a:off x="822960" y="3164840"/>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Divide and conquer: Test system parts one by one</a:t>
            </a:r>
            <a:endParaRPr lang="en-US" sz="1300" dirty="0"/>
          </a:p>
        </p:txBody>
      </p:sp>
      <p:sp>
        <p:nvSpPr>
          <p:cNvPr id="12" name="Text 10"/>
          <p:cNvSpPr/>
          <p:nvPr/>
        </p:nvSpPr>
        <p:spPr>
          <a:xfrm>
            <a:off x="822960" y="3452368"/>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Known good: Use working system to compare settings</a:t>
            </a:r>
            <a:endParaRPr lang="en-US" sz="1300" dirty="0"/>
          </a:p>
        </p:txBody>
      </p:sp>
      <p:sp>
        <p:nvSpPr>
          <p:cNvPr id="13" name="Text 11"/>
          <p:cNvSpPr/>
          <p:nvPr/>
        </p:nvSpPr>
        <p:spPr>
          <a:xfrm>
            <a:off x="822960" y="3770376"/>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Remove variables: Disable antivirus, extensions to test</a:t>
            </a:r>
            <a:endParaRPr lang="en-US" sz="1300" dirty="0"/>
          </a:p>
        </p:txBody>
      </p:sp>
      <p:sp>
        <p:nvSpPr>
          <p:cNvPr id="14" name="Text 12"/>
          <p:cNvSpPr/>
          <p:nvPr/>
        </p:nvSpPr>
        <p:spPr>
          <a:xfrm>
            <a:off x="822960" y="4139184"/>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Scope: If whole department down vs one person → different causes</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F4788"/>
          </a:solidFill>
          <a:ln/>
        </p:spPr>
      </p:sp>
      <p:sp>
        <p:nvSpPr>
          <p:cNvPr id="3" name="Text 1"/>
          <p:cNvSpPr/>
          <p:nvPr/>
        </p:nvSpPr>
        <p:spPr>
          <a:xfrm>
            <a:off x="457200" y="137160"/>
            <a:ext cx="777240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Step 2: Reproduce &amp; Step 3: Check Logs</a:t>
            </a:r>
            <a:endParaRPr lang="en-US" sz="3200" dirty="0"/>
          </a:p>
        </p:txBody>
      </p:sp>
      <p:sp>
        <p:nvSpPr>
          <p:cNvPr id="4" name="Text 2"/>
          <p:cNvSpPr/>
          <p:nvPr/>
        </p:nvSpPr>
        <p:spPr>
          <a:xfrm>
            <a:off x="548640" y="1005840"/>
            <a:ext cx="8046720" cy="365760"/>
          </a:xfrm>
          <a:prstGeom prst="rect">
            <a:avLst/>
          </a:prstGeom>
          <a:noFill/>
          <a:ln/>
        </p:spPr>
        <p:txBody>
          <a:bodyPr wrap="square" rtlCol="0" anchor="ctr"/>
          <a:lstStyle/>
          <a:p>
            <a:pPr marL="0" indent="0">
              <a:buNone/>
            </a:pPr>
            <a:r>
              <a:rPr lang="en-US" sz="1800" b="1" dirty="0">
                <a:solidFill>
                  <a:srgbClr val="1F4788"/>
                </a:solidFill>
                <a:latin typeface="Calibri" pitchFamily="34" charset="0"/>
                <a:ea typeface="Calibri" pitchFamily="34" charset="-122"/>
                <a:cs typeface="Calibri" pitchFamily="34" charset="-120"/>
              </a:rPr>
              <a:t>Reproducing the Problem:</a:t>
            </a:r>
            <a:endParaRPr lang="en-US" sz="1800" dirty="0"/>
          </a:p>
        </p:txBody>
      </p:sp>
      <p:sp>
        <p:nvSpPr>
          <p:cNvPr id="5" name="Text 3"/>
          <p:cNvSpPr/>
          <p:nvPr/>
        </p:nvSpPr>
        <p:spPr>
          <a:xfrm>
            <a:off x="822960" y="1463040"/>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Try to make the error happen again consistently</a:t>
            </a:r>
            <a:endParaRPr lang="en-US" sz="1300" dirty="0"/>
          </a:p>
        </p:txBody>
      </p:sp>
      <p:sp>
        <p:nvSpPr>
          <p:cNvPr id="6" name="Text 4"/>
          <p:cNvSpPr/>
          <p:nvPr/>
        </p:nvSpPr>
        <p:spPr>
          <a:xfrm>
            <a:off x="822960" y="1801368"/>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If reproducible: Predictable, easier to fix</a:t>
            </a:r>
            <a:endParaRPr lang="en-US" sz="1300" dirty="0"/>
          </a:p>
        </p:txBody>
      </p:sp>
      <p:sp>
        <p:nvSpPr>
          <p:cNvPr id="7" name="Text 5"/>
          <p:cNvSpPr/>
          <p:nvPr/>
        </p:nvSpPr>
        <p:spPr>
          <a:xfrm>
            <a:off x="822960" y="2149856"/>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If random: Intermittent issues, harder to debug</a:t>
            </a:r>
            <a:endParaRPr lang="en-US" sz="1300" dirty="0"/>
          </a:p>
        </p:txBody>
      </p:sp>
      <p:sp>
        <p:nvSpPr>
          <p:cNvPr id="8" name="Text 6"/>
          <p:cNvSpPr/>
          <p:nvPr/>
        </p:nvSpPr>
        <p:spPr>
          <a:xfrm>
            <a:off x="822960" y="2488184"/>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Document exact steps: "Start app → Click File → Select Large File"</a:t>
            </a:r>
            <a:endParaRPr lang="en-US" sz="1300" dirty="0"/>
          </a:p>
        </p:txBody>
      </p:sp>
      <p:sp>
        <p:nvSpPr>
          <p:cNvPr id="9" name="Text 7"/>
          <p:cNvSpPr/>
          <p:nvPr/>
        </p:nvSpPr>
        <p:spPr>
          <a:xfrm>
            <a:off x="548640" y="2856992"/>
            <a:ext cx="8046720" cy="365760"/>
          </a:xfrm>
          <a:prstGeom prst="rect">
            <a:avLst/>
          </a:prstGeom>
          <a:noFill/>
          <a:ln/>
        </p:spPr>
        <p:txBody>
          <a:bodyPr wrap="square" rtlCol="0" anchor="ctr"/>
          <a:lstStyle/>
          <a:p>
            <a:pPr marL="0" indent="0">
              <a:buNone/>
            </a:pPr>
            <a:r>
              <a:rPr lang="en-US" sz="1800" b="1" dirty="0">
                <a:solidFill>
                  <a:srgbClr val="1F4788"/>
                </a:solidFill>
                <a:latin typeface="Calibri" pitchFamily="34" charset="0"/>
                <a:ea typeface="Calibri" pitchFamily="34" charset="-122"/>
                <a:cs typeface="Calibri" pitchFamily="34" charset="-120"/>
              </a:rPr>
              <a:t>Checking Logs (Most Important!)</a:t>
            </a:r>
            <a:endParaRPr lang="en-US" sz="1800" dirty="0"/>
          </a:p>
        </p:txBody>
      </p:sp>
      <p:sp>
        <p:nvSpPr>
          <p:cNvPr id="10" name="Text 8"/>
          <p:cNvSpPr/>
          <p:nvPr/>
        </p:nvSpPr>
        <p:spPr>
          <a:xfrm>
            <a:off x="822960" y="3263392"/>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Error messages tell cause: Don't ignore them!</a:t>
            </a:r>
            <a:endParaRPr lang="en-US" sz="1300" dirty="0"/>
          </a:p>
        </p:txBody>
      </p:sp>
      <p:sp>
        <p:nvSpPr>
          <p:cNvPr id="11" name="Text 9"/>
          <p:cNvSpPr/>
          <p:nvPr/>
        </p:nvSpPr>
        <p:spPr>
          <a:xfrm>
            <a:off x="822960" y="3591560"/>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Windows: Event Viewer → Windows Logs → System/Application</a:t>
            </a:r>
            <a:endParaRPr lang="en-US" sz="1300" dirty="0"/>
          </a:p>
        </p:txBody>
      </p:sp>
      <p:sp>
        <p:nvSpPr>
          <p:cNvPr id="12" name="Text 10"/>
          <p:cNvSpPr/>
          <p:nvPr/>
        </p:nvSpPr>
        <p:spPr>
          <a:xfrm>
            <a:off x="822960" y="4021328"/>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Linux: tail -50 /var/log/syslog to see recent errors</a:t>
            </a:r>
            <a:endParaRPr lang="en-US" sz="1300" dirty="0"/>
          </a:p>
        </p:txBody>
      </p:sp>
      <p:sp>
        <p:nvSpPr>
          <p:cNvPr id="13" name="Text 11"/>
          <p:cNvSpPr/>
          <p:nvPr/>
        </p:nvSpPr>
        <p:spPr>
          <a:xfrm>
            <a:off x="822960" y="4420616"/>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Application logs: Usually in Program Files or /var/log/appname</a:t>
            </a:r>
            <a:endParaRPr lang="en-US" sz="1300" dirty="0"/>
          </a:p>
        </p:txBody>
      </p:sp>
      <p:sp>
        <p:nvSpPr>
          <p:cNvPr id="14" name="Text 12"/>
          <p:cNvSpPr/>
          <p:nvPr/>
        </p:nvSpPr>
        <p:spPr>
          <a:xfrm>
            <a:off x="822960" y="4819904"/>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Look for timestamps near when problem occurred</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F4788"/>
          </a:solidFill>
          <a:ln/>
        </p:spPr>
      </p:sp>
      <p:sp>
        <p:nvSpPr>
          <p:cNvPr id="3" name="Text 1"/>
          <p:cNvSpPr/>
          <p:nvPr/>
        </p:nvSpPr>
        <p:spPr>
          <a:xfrm>
            <a:off x="457200" y="137160"/>
            <a:ext cx="777240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Step 4: Research &amp; Step 5: Rollback</a:t>
            </a:r>
            <a:endParaRPr lang="en-US" sz="3200" dirty="0"/>
          </a:p>
        </p:txBody>
      </p:sp>
      <p:sp>
        <p:nvSpPr>
          <p:cNvPr id="4" name="Text 2"/>
          <p:cNvSpPr/>
          <p:nvPr/>
        </p:nvSpPr>
        <p:spPr>
          <a:xfrm>
            <a:off x="548640" y="701040"/>
            <a:ext cx="8046720" cy="365760"/>
          </a:xfrm>
          <a:prstGeom prst="rect">
            <a:avLst/>
          </a:prstGeom>
          <a:noFill/>
          <a:ln/>
        </p:spPr>
        <p:txBody>
          <a:bodyPr wrap="square" rtlCol="0" anchor="ctr"/>
          <a:lstStyle/>
          <a:p>
            <a:pPr marL="0" indent="0">
              <a:buNone/>
            </a:pPr>
            <a:r>
              <a:rPr lang="en-US" sz="1800" b="1" dirty="0">
                <a:solidFill>
                  <a:srgbClr val="1F4788"/>
                </a:solidFill>
                <a:latin typeface="Calibri" pitchFamily="34" charset="0"/>
                <a:ea typeface="Calibri" pitchFamily="34" charset="-122"/>
                <a:cs typeface="Calibri" pitchFamily="34" charset="-120"/>
              </a:rPr>
              <a:t>Research Solutions:</a:t>
            </a:r>
            <a:endParaRPr lang="en-US" sz="1800" dirty="0"/>
          </a:p>
        </p:txBody>
      </p:sp>
      <p:sp>
        <p:nvSpPr>
          <p:cNvPr id="5" name="Text 3"/>
          <p:cNvSpPr/>
          <p:nvPr/>
        </p:nvSpPr>
        <p:spPr>
          <a:xfrm>
            <a:off x="822960" y="1076960"/>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Copy exact error message → Search online</a:t>
            </a:r>
            <a:endParaRPr lang="en-US" sz="1300" dirty="0"/>
          </a:p>
        </p:txBody>
      </p:sp>
      <p:sp>
        <p:nvSpPr>
          <p:cNvPr id="6" name="Text 4"/>
          <p:cNvSpPr/>
          <p:nvPr/>
        </p:nvSpPr>
        <p:spPr>
          <a:xfrm>
            <a:off x="822960" y="1425448"/>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Check official documentation and support forums</a:t>
            </a:r>
            <a:endParaRPr lang="en-US" sz="1300" dirty="0"/>
          </a:p>
        </p:txBody>
      </p:sp>
      <p:sp>
        <p:nvSpPr>
          <p:cNvPr id="7" name="Text 5"/>
          <p:cNvSpPr/>
          <p:nvPr/>
        </p:nvSpPr>
        <p:spPr>
          <a:xfrm>
            <a:off x="822960" y="1794256"/>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Look for issues from recent updates/changes</a:t>
            </a:r>
            <a:endParaRPr lang="en-US" sz="1300" dirty="0"/>
          </a:p>
        </p:txBody>
      </p:sp>
      <p:sp>
        <p:nvSpPr>
          <p:cNvPr id="8" name="Text 6"/>
          <p:cNvSpPr/>
          <p:nvPr/>
        </p:nvSpPr>
        <p:spPr>
          <a:xfrm>
            <a:off x="822960" y="2132584"/>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Error code "0x80070005" → Search "Windows 0x80070005" for solutions</a:t>
            </a:r>
            <a:endParaRPr lang="en-US" sz="1300" dirty="0"/>
          </a:p>
        </p:txBody>
      </p:sp>
      <p:sp>
        <p:nvSpPr>
          <p:cNvPr id="9" name="Text 7"/>
          <p:cNvSpPr/>
          <p:nvPr/>
        </p:nvSpPr>
        <p:spPr>
          <a:xfrm>
            <a:off x="548640" y="2521712"/>
            <a:ext cx="8046720" cy="365760"/>
          </a:xfrm>
          <a:prstGeom prst="rect">
            <a:avLst/>
          </a:prstGeom>
          <a:noFill/>
          <a:ln/>
        </p:spPr>
        <p:txBody>
          <a:bodyPr wrap="square" rtlCol="0" anchor="ctr"/>
          <a:lstStyle/>
          <a:p>
            <a:pPr marL="0" indent="0">
              <a:buNone/>
            </a:pPr>
            <a:r>
              <a:rPr lang="en-US" sz="1800" b="1" dirty="0">
                <a:solidFill>
                  <a:srgbClr val="1F4788"/>
                </a:solidFill>
                <a:latin typeface="Calibri" pitchFamily="34" charset="0"/>
                <a:ea typeface="Calibri" pitchFamily="34" charset="-122"/>
                <a:cs typeface="Calibri" pitchFamily="34" charset="-120"/>
              </a:rPr>
              <a:t>Rollback (Undo Changes):</a:t>
            </a:r>
            <a:endParaRPr lang="en-US" sz="1800" dirty="0"/>
          </a:p>
        </p:txBody>
      </p:sp>
      <p:sp>
        <p:nvSpPr>
          <p:cNvPr id="10" name="Text 8"/>
          <p:cNvSpPr/>
          <p:nvPr/>
        </p:nvSpPr>
        <p:spPr>
          <a:xfrm>
            <a:off x="822960" y="3019552"/>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If problem started after update: Uninstall update or restore backup</a:t>
            </a:r>
            <a:endParaRPr lang="en-US" sz="1300" dirty="0"/>
          </a:p>
        </p:txBody>
      </p:sp>
      <p:sp>
        <p:nvSpPr>
          <p:cNvPr id="11" name="Text 9"/>
          <p:cNvSpPr/>
          <p:nvPr/>
        </p:nvSpPr>
        <p:spPr>
          <a:xfrm>
            <a:off x="822960" y="3408680"/>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Windows: System Restore to pre-problem date</a:t>
            </a:r>
            <a:endParaRPr lang="en-US" sz="1300" dirty="0"/>
          </a:p>
        </p:txBody>
      </p:sp>
      <p:sp>
        <p:nvSpPr>
          <p:cNvPr id="12" name="Text 10"/>
          <p:cNvSpPr/>
          <p:nvPr/>
        </p:nvSpPr>
        <p:spPr>
          <a:xfrm>
            <a:off x="822960" y="3858768"/>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Linux: Check package manager history, rollback updates</a:t>
            </a:r>
            <a:endParaRPr lang="en-US" sz="1300" dirty="0"/>
          </a:p>
        </p:txBody>
      </p:sp>
      <p:sp>
        <p:nvSpPr>
          <p:cNvPr id="13" name="Text 11"/>
          <p:cNvSpPr/>
          <p:nvPr/>
        </p:nvSpPr>
        <p:spPr>
          <a:xfrm>
            <a:off x="822960" y="4288536"/>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Remove recently installed software if it caused issue</a:t>
            </a:r>
            <a:endParaRPr lang="en-US" sz="1300" dirty="0"/>
          </a:p>
        </p:txBody>
      </p:sp>
      <p:sp>
        <p:nvSpPr>
          <p:cNvPr id="14" name="Text 12"/>
          <p:cNvSpPr/>
          <p:nvPr/>
        </p:nvSpPr>
        <p:spPr>
          <a:xfrm>
            <a:off x="822960" y="4637024"/>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Always verify change is the cause (reproduce after rollback)</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F4788"/>
          </a:solidFill>
          <a:ln/>
        </p:spPr>
      </p:sp>
      <p:sp>
        <p:nvSpPr>
          <p:cNvPr id="3" name="Text 1"/>
          <p:cNvSpPr/>
          <p:nvPr/>
        </p:nvSpPr>
        <p:spPr>
          <a:xfrm>
            <a:off x="457200" y="137160"/>
            <a:ext cx="777240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Step 6: Test &amp; Step 7: Document</a:t>
            </a:r>
            <a:endParaRPr lang="en-US" sz="3200" dirty="0"/>
          </a:p>
        </p:txBody>
      </p:sp>
      <p:sp>
        <p:nvSpPr>
          <p:cNvPr id="4" name="Text 2"/>
          <p:cNvSpPr/>
          <p:nvPr/>
        </p:nvSpPr>
        <p:spPr>
          <a:xfrm>
            <a:off x="548640" y="772160"/>
            <a:ext cx="8046720" cy="365760"/>
          </a:xfrm>
          <a:prstGeom prst="rect">
            <a:avLst/>
          </a:prstGeom>
          <a:noFill/>
          <a:ln/>
        </p:spPr>
        <p:txBody>
          <a:bodyPr wrap="square" rtlCol="0" anchor="ctr"/>
          <a:lstStyle/>
          <a:p>
            <a:pPr marL="0" indent="0">
              <a:buNone/>
            </a:pPr>
            <a:r>
              <a:rPr lang="en-US" sz="1800" b="1" dirty="0">
                <a:solidFill>
                  <a:srgbClr val="1F4788"/>
                </a:solidFill>
                <a:latin typeface="Calibri" pitchFamily="34" charset="0"/>
                <a:ea typeface="Calibri" pitchFamily="34" charset="-122"/>
                <a:cs typeface="Calibri" pitchFamily="34" charset="-120"/>
              </a:rPr>
              <a:t>Testing the Fix:</a:t>
            </a:r>
            <a:endParaRPr lang="en-US" sz="1800" dirty="0"/>
          </a:p>
        </p:txBody>
      </p:sp>
      <p:sp>
        <p:nvSpPr>
          <p:cNvPr id="5" name="Text 3"/>
          <p:cNvSpPr/>
          <p:nvPr/>
        </p:nvSpPr>
        <p:spPr>
          <a:xfrm>
            <a:off x="822960" y="1087120"/>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Don't assume fix worked: Verify thoroughly</a:t>
            </a:r>
            <a:endParaRPr lang="en-US" sz="1300" dirty="0"/>
          </a:p>
        </p:txBody>
      </p:sp>
      <p:sp>
        <p:nvSpPr>
          <p:cNvPr id="6" name="Text 4"/>
          <p:cNvSpPr/>
          <p:nvPr/>
        </p:nvSpPr>
        <p:spPr>
          <a:xfrm>
            <a:off x="822960" y="1415288"/>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Reproduce original problem: "Can you get the error again?"</a:t>
            </a:r>
            <a:endParaRPr lang="en-US" sz="1300" dirty="0"/>
          </a:p>
        </p:txBody>
      </p:sp>
      <p:sp>
        <p:nvSpPr>
          <p:cNvPr id="7" name="Text 5"/>
          <p:cNvSpPr/>
          <p:nvPr/>
        </p:nvSpPr>
        <p:spPr>
          <a:xfrm>
            <a:off x="822960" y="1773936"/>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Test edge cases: What if user does X differently?</a:t>
            </a:r>
            <a:endParaRPr lang="en-US" sz="1300" dirty="0"/>
          </a:p>
        </p:txBody>
      </p:sp>
      <p:sp>
        <p:nvSpPr>
          <p:cNvPr id="8" name="Text 6"/>
          <p:cNvSpPr/>
          <p:nvPr/>
        </p:nvSpPr>
        <p:spPr>
          <a:xfrm>
            <a:off x="822960" y="2173224"/>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Performance check: Is system responsive?</a:t>
            </a:r>
            <a:endParaRPr lang="en-US" sz="1300" dirty="0"/>
          </a:p>
        </p:txBody>
      </p:sp>
      <p:sp>
        <p:nvSpPr>
          <p:cNvPr id="9" name="Text 7"/>
          <p:cNvSpPr/>
          <p:nvPr/>
        </p:nvSpPr>
        <p:spPr>
          <a:xfrm>
            <a:off x="822960" y="2582672"/>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Monitor logs: No new errors appearing after fix?</a:t>
            </a:r>
            <a:endParaRPr lang="en-US" sz="1300" dirty="0"/>
          </a:p>
        </p:txBody>
      </p:sp>
      <p:sp>
        <p:nvSpPr>
          <p:cNvPr id="10" name="Text 8"/>
          <p:cNvSpPr/>
          <p:nvPr/>
        </p:nvSpPr>
        <p:spPr>
          <a:xfrm>
            <a:off x="548640" y="3002280"/>
            <a:ext cx="8046720" cy="365760"/>
          </a:xfrm>
          <a:prstGeom prst="rect">
            <a:avLst/>
          </a:prstGeom>
          <a:noFill/>
          <a:ln/>
        </p:spPr>
        <p:txBody>
          <a:bodyPr wrap="square" rtlCol="0" anchor="ctr"/>
          <a:lstStyle/>
          <a:p>
            <a:pPr marL="0" indent="0">
              <a:buNone/>
            </a:pPr>
            <a:r>
              <a:rPr lang="en-US" sz="1800" b="1" dirty="0">
                <a:solidFill>
                  <a:srgbClr val="1F4788"/>
                </a:solidFill>
                <a:latin typeface="Calibri" pitchFamily="34" charset="0"/>
                <a:ea typeface="Calibri" pitchFamily="34" charset="-122"/>
                <a:cs typeface="Calibri" pitchFamily="34" charset="-120"/>
              </a:rPr>
              <a:t>Documentation:</a:t>
            </a:r>
            <a:endParaRPr lang="en-US" sz="1800" dirty="0"/>
          </a:p>
        </p:txBody>
      </p:sp>
      <p:sp>
        <p:nvSpPr>
          <p:cNvPr id="11" name="Text 9"/>
          <p:cNvSpPr/>
          <p:nvPr/>
        </p:nvSpPr>
        <p:spPr>
          <a:xfrm>
            <a:off x="822960" y="3418840"/>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What was the problem? (Specific description)</a:t>
            </a:r>
            <a:endParaRPr lang="en-US" sz="1300" dirty="0"/>
          </a:p>
        </p:txBody>
      </p:sp>
      <p:sp>
        <p:nvSpPr>
          <p:cNvPr id="12" name="Text 10"/>
          <p:cNvSpPr/>
          <p:nvPr/>
        </p:nvSpPr>
        <p:spPr>
          <a:xfrm>
            <a:off x="822960" y="3747008"/>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Root cause: Why it happened</a:t>
            </a:r>
            <a:endParaRPr lang="en-US" sz="1300" dirty="0"/>
          </a:p>
        </p:txBody>
      </p:sp>
      <p:sp>
        <p:nvSpPr>
          <p:cNvPr id="13" name="Text 11"/>
          <p:cNvSpPr/>
          <p:nvPr/>
        </p:nvSpPr>
        <p:spPr>
          <a:xfrm>
            <a:off x="822960" y="4095496"/>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Solution applied: Exact steps taken</a:t>
            </a:r>
            <a:endParaRPr lang="en-US" sz="1300" dirty="0"/>
          </a:p>
        </p:txBody>
      </p:sp>
      <p:sp>
        <p:nvSpPr>
          <p:cNvPr id="14" name="Text 12"/>
          <p:cNvSpPr/>
          <p:nvPr/>
        </p:nvSpPr>
        <p:spPr>
          <a:xfrm>
            <a:off x="822960" y="4474464"/>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Time to resolve: How long troubleshooting took</a:t>
            </a:r>
            <a:endParaRPr lang="en-US" sz="1300" dirty="0"/>
          </a:p>
        </p:txBody>
      </p:sp>
      <p:sp>
        <p:nvSpPr>
          <p:cNvPr id="15" name="Text 13"/>
          <p:cNvSpPr/>
          <p:nvPr/>
        </p:nvSpPr>
        <p:spPr>
          <a:xfrm>
            <a:off x="822960" y="4792472"/>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Prevention: How to avoid in future</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F4788"/>
          </a:solidFill>
          <a:ln/>
        </p:spPr>
      </p:sp>
      <p:sp>
        <p:nvSpPr>
          <p:cNvPr id="3" name="Text 1"/>
          <p:cNvSpPr/>
          <p:nvPr/>
        </p:nvSpPr>
        <p:spPr>
          <a:xfrm>
            <a:off x="457200" y="137160"/>
            <a:ext cx="777240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Common Troubleshooting Scenarios</a:t>
            </a:r>
            <a:endParaRPr lang="en-US" sz="3200" dirty="0"/>
          </a:p>
        </p:txBody>
      </p:sp>
      <p:sp>
        <p:nvSpPr>
          <p:cNvPr id="4" name="Text 2"/>
          <p:cNvSpPr/>
          <p:nvPr/>
        </p:nvSpPr>
        <p:spPr>
          <a:xfrm>
            <a:off x="548640" y="741680"/>
            <a:ext cx="8046720" cy="365760"/>
          </a:xfrm>
          <a:prstGeom prst="rect">
            <a:avLst/>
          </a:prstGeom>
          <a:noFill/>
          <a:ln/>
        </p:spPr>
        <p:txBody>
          <a:bodyPr wrap="square" rtlCol="0" anchor="ctr"/>
          <a:lstStyle/>
          <a:p>
            <a:pPr marL="0" indent="0">
              <a:buNone/>
            </a:pPr>
            <a:r>
              <a:rPr lang="en-US" sz="1800" b="1" dirty="0">
                <a:solidFill>
                  <a:srgbClr val="1F4788"/>
                </a:solidFill>
                <a:latin typeface="Calibri" pitchFamily="34" charset="0"/>
                <a:ea typeface="Calibri" pitchFamily="34" charset="-122"/>
                <a:cs typeface="Calibri" pitchFamily="34" charset="-120"/>
              </a:rPr>
              <a:t>Scenario 1: Application Crashes</a:t>
            </a:r>
            <a:endParaRPr lang="en-US" sz="1800" dirty="0"/>
          </a:p>
        </p:txBody>
      </p:sp>
      <p:sp>
        <p:nvSpPr>
          <p:cNvPr id="5" name="Text 3"/>
          <p:cNvSpPr/>
          <p:nvPr/>
        </p:nvSpPr>
        <p:spPr>
          <a:xfrm>
            <a:off x="822960" y="1198880"/>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Steps: Check application log → Search error code → Reinstall if corrupted</a:t>
            </a:r>
            <a:endParaRPr lang="en-US" sz="1300" dirty="0"/>
          </a:p>
        </p:txBody>
      </p:sp>
      <p:sp>
        <p:nvSpPr>
          <p:cNvPr id="6" name="Text 4"/>
          <p:cNvSpPr/>
          <p:nvPr/>
        </p:nvSpPr>
        <p:spPr>
          <a:xfrm>
            <a:off x="822960" y="1506728"/>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Example: Excel crashes on startup. Log shows: "corrupted add-in". Solution: Disable add-ins.</a:t>
            </a:r>
            <a:endParaRPr lang="en-US" sz="1300" dirty="0"/>
          </a:p>
        </p:txBody>
      </p:sp>
      <p:sp>
        <p:nvSpPr>
          <p:cNvPr id="7" name="Text 5"/>
          <p:cNvSpPr/>
          <p:nvPr/>
        </p:nvSpPr>
        <p:spPr>
          <a:xfrm>
            <a:off x="548640" y="1855216"/>
            <a:ext cx="8046720" cy="365760"/>
          </a:xfrm>
          <a:prstGeom prst="rect">
            <a:avLst/>
          </a:prstGeom>
          <a:noFill/>
          <a:ln/>
        </p:spPr>
        <p:txBody>
          <a:bodyPr wrap="square" rtlCol="0" anchor="ctr"/>
          <a:lstStyle/>
          <a:p>
            <a:pPr marL="0" indent="0">
              <a:buNone/>
            </a:pPr>
            <a:r>
              <a:rPr lang="en-US" sz="1800" b="1" dirty="0">
                <a:solidFill>
                  <a:srgbClr val="1F4788"/>
                </a:solidFill>
                <a:latin typeface="Calibri" pitchFamily="34" charset="0"/>
                <a:ea typeface="Calibri" pitchFamily="34" charset="-122"/>
                <a:cs typeface="Calibri" pitchFamily="34" charset="-120"/>
              </a:rPr>
              <a:t>Scenario 2: Network Connectivity Lost</a:t>
            </a:r>
            <a:endParaRPr lang="en-US" sz="1800" dirty="0"/>
          </a:p>
        </p:txBody>
      </p:sp>
      <p:sp>
        <p:nvSpPr>
          <p:cNvPr id="8" name="Text 6"/>
          <p:cNvSpPr/>
          <p:nvPr/>
        </p:nvSpPr>
        <p:spPr>
          <a:xfrm>
            <a:off x="822960" y="2251456"/>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Steps: ipconfig /all (check IP) → ping gateway (check connection) → check logs</a:t>
            </a:r>
            <a:endParaRPr lang="en-US" sz="1300" dirty="0"/>
          </a:p>
        </p:txBody>
      </p:sp>
      <p:sp>
        <p:nvSpPr>
          <p:cNvPr id="9" name="Text 7"/>
          <p:cNvSpPr/>
          <p:nvPr/>
        </p:nvSpPr>
        <p:spPr>
          <a:xfrm>
            <a:off x="822960" y="2640584"/>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Example: No internet. ipconfig shows 0.0.0.0. DHCP failed. Solution: Release/renew IP.</a:t>
            </a:r>
            <a:endParaRPr lang="en-US" sz="1300" dirty="0"/>
          </a:p>
        </p:txBody>
      </p:sp>
      <p:sp>
        <p:nvSpPr>
          <p:cNvPr id="10" name="Text 8"/>
          <p:cNvSpPr/>
          <p:nvPr/>
        </p:nvSpPr>
        <p:spPr>
          <a:xfrm>
            <a:off x="548640" y="2978912"/>
            <a:ext cx="8046720" cy="365760"/>
          </a:xfrm>
          <a:prstGeom prst="rect">
            <a:avLst/>
          </a:prstGeom>
          <a:noFill/>
          <a:ln/>
        </p:spPr>
        <p:txBody>
          <a:bodyPr wrap="square" rtlCol="0" anchor="ctr"/>
          <a:lstStyle/>
          <a:p>
            <a:pPr marL="0" indent="0">
              <a:buNone/>
            </a:pPr>
            <a:r>
              <a:rPr lang="en-US" sz="1800" b="1" dirty="0">
                <a:solidFill>
                  <a:srgbClr val="1F4788"/>
                </a:solidFill>
                <a:latin typeface="Calibri" pitchFamily="34" charset="0"/>
                <a:ea typeface="Calibri" pitchFamily="34" charset="-122"/>
                <a:cs typeface="Calibri" pitchFamily="34" charset="-120"/>
              </a:rPr>
              <a:t>Scenario 3: High Resource Usage</a:t>
            </a:r>
            <a:endParaRPr lang="en-US" sz="1800" dirty="0"/>
          </a:p>
        </p:txBody>
      </p:sp>
      <p:sp>
        <p:nvSpPr>
          <p:cNvPr id="11" name="Text 9"/>
          <p:cNvSpPr/>
          <p:nvPr/>
        </p:nvSpPr>
        <p:spPr>
          <a:xfrm>
            <a:off x="822960" y="3405632"/>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Steps: top or Task Manager → Sort by CPU/Memory → Kill problematic process</a:t>
            </a:r>
            <a:endParaRPr lang="en-US" sz="1300" dirty="0"/>
          </a:p>
        </p:txBody>
      </p:sp>
      <p:sp>
        <p:nvSpPr>
          <p:cNvPr id="12" name="Text 10"/>
          <p:cNvSpPr/>
          <p:nvPr/>
        </p:nvSpPr>
        <p:spPr>
          <a:xfrm>
            <a:off x="822960" y="3784600"/>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Example: 99% CPU usage. top shows "runaway.exe". Kill PID. CPU back to normal.</a:t>
            </a:r>
            <a:endParaRPr lang="en-US" sz="1300" dirty="0"/>
          </a:p>
        </p:txBody>
      </p:sp>
      <p:sp>
        <p:nvSpPr>
          <p:cNvPr id="13" name="Text 11"/>
          <p:cNvSpPr/>
          <p:nvPr/>
        </p:nvSpPr>
        <p:spPr>
          <a:xfrm>
            <a:off x="548640" y="4173728"/>
            <a:ext cx="8046720" cy="365760"/>
          </a:xfrm>
          <a:prstGeom prst="rect">
            <a:avLst/>
          </a:prstGeom>
          <a:noFill/>
          <a:ln/>
        </p:spPr>
        <p:txBody>
          <a:bodyPr wrap="square" rtlCol="0" anchor="ctr"/>
          <a:lstStyle/>
          <a:p>
            <a:pPr marL="0" indent="0">
              <a:buNone/>
            </a:pPr>
            <a:r>
              <a:rPr lang="en-US" sz="1800" b="1" dirty="0">
                <a:solidFill>
                  <a:srgbClr val="1F4788"/>
                </a:solidFill>
                <a:latin typeface="Calibri" pitchFamily="34" charset="0"/>
                <a:ea typeface="Calibri" pitchFamily="34" charset="-122"/>
                <a:cs typeface="Calibri" pitchFamily="34" charset="-120"/>
              </a:rPr>
              <a:t>Scenario 4: Service Won't Start</a:t>
            </a:r>
            <a:endParaRPr lang="en-US" sz="1800" dirty="0"/>
          </a:p>
        </p:txBody>
      </p:sp>
      <p:sp>
        <p:nvSpPr>
          <p:cNvPr id="14" name="Text 12"/>
          <p:cNvSpPr/>
          <p:nvPr/>
        </p:nvSpPr>
        <p:spPr>
          <a:xfrm>
            <a:off x="822960" y="4610608"/>
            <a:ext cx="777240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Steps: Check service logs → Verify permissions/configuration → Restart service</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F4788"/>
          </a:solidFill>
          <a:ln/>
        </p:spPr>
      </p:sp>
      <p:sp>
        <p:nvSpPr>
          <p:cNvPr id="3" name="Text 1"/>
          <p:cNvSpPr/>
          <p:nvPr/>
        </p:nvSpPr>
        <p:spPr>
          <a:xfrm>
            <a:off x="457200" y="137160"/>
            <a:ext cx="777240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Troubleshooting Best Practices</a:t>
            </a:r>
            <a:endParaRPr lang="en-US" sz="3200" dirty="0"/>
          </a:p>
        </p:txBody>
      </p:sp>
      <p:sp>
        <p:nvSpPr>
          <p:cNvPr id="4" name="Text 2"/>
          <p:cNvSpPr/>
          <p:nvPr/>
        </p:nvSpPr>
        <p:spPr>
          <a:xfrm>
            <a:off x="91440" y="822960"/>
            <a:ext cx="4828032" cy="365760"/>
          </a:xfrm>
          <a:prstGeom prst="rect">
            <a:avLst/>
          </a:prstGeom>
          <a:noFill/>
          <a:ln/>
        </p:spPr>
        <p:txBody>
          <a:bodyPr wrap="square" rtlCol="0" anchor="ctr"/>
          <a:lstStyle/>
          <a:p>
            <a:pPr marL="0" indent="0">
              <a:buNone/>
            </a:pPr>
            <a:r>
              <a:rPr lang="en-US" sz="1800" b="1" dirty="0">
                <a:solidFill>
                  <a:srgbClr val="1F4788"/>
                </a:solidFill>
                <a:latin typeface="Calibri" pitchFamily="34" charset="0"/>
                <a:ea typeface="Calibri" pitchFamily="34" charset="-122"/>
                <a:cs typeface="Calibri" pitchFamily="34" charset="-120"/>
              </a:rPr>
              <a:t>DO:</a:t>
            </a:r>
            <a:endParaRPr lang="en-US" sz="1800" dirty="0"/>
          </a:p>
        </p:txBody>
      </p:sp>
      <p:sp>
        <p:nvSpPr>
          <p:cNvPr id="5" name="Text 3"/>
          <p:cNvSpPr/>
          <p:nvPr/>
        </p:nvSpPr>
        <p:spPr>
          <a:xfrm>
            <a:off x="365760" y="1280160"/>
            <a:ext cx="466344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 Approach problems systematically, not randomly</a:t>
            </a:r>
            <a:endParaRPr lang="en-US" sz="1300" dirty="0"/>
          </a:p>
        </p:txBody>
      </p:sp>
      <p:sp>
        <p:nvSpPr>
          <p:cNvPr id="6" name="Text 4"/>
          <p:cNvSpPr/>
          <p:nvPr/>
        </p:nvSpPr>
        <p:spPr>
          <a:xfrm>
            <a:off x="365760" y="1709928"/>
            <a:ext cx="466344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 Read error messages carefully (they often say what's wrong!)</a:t>
            </a:r>
            <a:endParaRPr lang="en-US" sz="1300" dirty="0"/>
          </a:p>
        </p:txBody>
      </p:sp>
      <p:sp>
        <p:nvSpPr>
          <p:cNvPr id="7" name="Text 5"/>
          <p:cNvSpPr/>
          <p:nvPr/>
        </p:nvSpPr>
        <p:spPr>
          <a:xfrm>
            <a:off x="365760" y="2139696"/>
            <a:ext cx="466344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 Check logs first before guessing</a:t>
            </a:r>
            <a:endParaRPr lang="en-US" sz="1300" dirty="0"/>
          </a:p>
        </p:txBody>
      </p:sp>
      <p:sp>
        <p:nvSpPr>
          <p:cNvPr id="8" name="Text 6"/>
          <p:cNvSpPr/>
          <p:nvPr/>
        </p:nvSpPr>
        <p:spPr>
          <a:xfrm>
            <a:off x="365760" y="2569464"/>
            <a:ext cx="466344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 Make one change at a time (easier to identify cause)</a:t>
            </a:r>
            <a:endParaRPr lang="en-US" sz="1300" dirty="0"/>
          </a:p>
        </p:txBody>
      </p:sp>
      <p:sp>
        <p:nvSpPr>
          <p:cNvPr id="9" name="Text 7"/>
          <p:cNvSpPr/>
          <p:nvPr/>
        </p:nvSpPr>
        <p:spPr>
          <a:xfrm>
            <a:off x="365760" y="2999232"/>
            <a:ext cx="466344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 Document everything for future reference</a:t>
            </a:r>
            <a:endParaRPr lang="en-US" sz="1300" dirty="0"/>
          </a:p>
        </p:txBody>
      </p:sp>
      <p:sp>
        <p:nvSpPr>
          <p:cNvPr id="10" name="Text 8"/>
          <p:cNvSpPr/>
          <p:nvPr/>
        </p:nvSpPr>
        <p:spPr>
          <a:xfrm>
            <a:off x="365760" y="3429000"/>
            <a:ext cx="4663440" cy="3200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 Ask for help when stuck (others may know the issue)</a:t>
            </a:r>
            <a:endParaRPr lang="en-US" sz="1300" dirty="0"/>
          </a:p>
        </p:txBody>
      </p:sp>
      <p:sp>
        <p:nvSpPr>
          <p:cNvPr id="11" name="Text 9"/>
          <p:cNvSpPr/>
          <p:nvPr/>
        </p:nvSpPr>
        <p:spPr>
          <a:xfrm>
            <a:off x="4754880" y="797125"/>
            <a:ext cx="4165361" cy="491163"/>
          </a:xfrm>
          <a:prstGeom prst="rect">
            <a:avLst/>
          </a:prstGeom>
          <a:noFill/>
          <a:ln/>
        </p:spPr>
        <p:txBody>
          <a:bodyPr wrap="square" rtlCol="0" anchor="ctr"/>
          <a:lstStyle/>
          <a:p>
            <a:pPr marL="0" indent="0">
              <a:buNone/>
            </a:pPr>
            <a:r>
              <a:rPr lang="en-US" sz="1800" b="1" dirty="0">
                <a:solidFill>
                  <a:srgbClr val="1F4788"/>
                </a:solidFill>
                <a:latin typeface="Calibri" pitchFamily="34" charset="0"/>
                <a:ea typeface="Calibri" pitchFamily="34" charset="-122"/>
                <a:cs typeface="Calibri" pitchFamily="34" charset="-120"/>
              </a:rPr>
              <a:t>DON'T:</a:t>
            </a:r>
            <a:endParaRPr lang="en-US" sz="1800" dirty="0"/>
          </a:p>
        </p:txBody>
      </p:sp>
      <p:sp>
        <p:nvSpPr>
          <p:cNvPr id="12" name="Text 10"/>
          <p:cNvSpPr/>
          <p:nvPr/>
        </p:nvSpPr>
        <p:spPr>
          <a:xfrm>
            <a:off x="5029200" y="1270000"/>
            <a:ext cx="4023360" cy="429768"/>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 Randomly restart computer (last resort, not first!)</a:t>
            </a:r>
            <a:endParaRPr lang="en-US" sz="1300" dirty="0"/>
          </a:p>
        </p:txBody>
      </p:sp>
      <p:sp>
        <p:nvSpPr>
          <p:cNvPr id="13" name="Text 11"/>
          <p:cNvSpPr/>
          <p:nvPr/>
        </p:nvSpPr>
        <p:spPr>
          <a:xfrm>
            <a:off x="5029200" y="1699768"/>
            <a:ext cx="4023360" cy="429768"/>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 Make multiple changes simultaneously</a:t>
            </a:r>
            <a:endParaRPr lang="en-US" sz="1300" dirty="0"/>
          </a:p>
        </p:txBody>
      </p:sp>
      <p:sp>
        <p:nvSpPr>
          <p:cNvPr id="14" name="Text 12"/>
          <p:cNvSpPr/>
          <p:nvPr/>
        </p:nvSpPr>
        <p:spPr>
          <a:xfrm>
            <a:off x="5029200" y="2129536"/>
            <a:ext cx="4023360" cy="429768"/>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 Delete system files to "fix" problems</a:t>
            </a:r>
            <a:endParaRPr lang="en-US" sz="1300" dirty="0"/>
          </a:p>
        </p:txBody>
      </p:sp>
      <p:sp>
        <p:nvSpPr>
          <p:cNvPr id="15" name="Text 13"/>
          <p:cNvSpPr/>
          <p:nvPr/>
        </p:nvSpPr>
        <p:spPr>
          <a:xfrm>
            <a:off x="5029200" y="2559304"/>
            <a:ext cx="4023360" cy="429768"/>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 Ignore error messages or logs</a:t>
            </a:r>
            <a:endParaRPr lang="en-US" sz="1300" dirty="0"/>
          </a:p>
        </p:txBody>
      </p:sp>
      <p:sp>
        <p:nvSpPr>
          <p:cNvPr id="16" name="Text 14"/>
          <p:cNvSpPr/>
          <p:nvPr/>
        </p:nvSpPr>
        <p:spPr>
          <a:xfrm>
            <a:off x="5029200" y="2989072"/>
            <a:ext cx="4023360" cy="429768"/>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 ✗ Forget to backup before making changes</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F4788"/>
        </a:solidFill>
        <a:effectLst/>
      </p:bgPr>
    </p:bg>
    <p:spTree>
      <p:nvGrpSpPr>
        <p:cNvPr id="1" name=""/>
        <p:cNvGrpSpPr/>
        <p:nvPr/>
      </p:nvGrpSpPr>
      <p:grpSpPr>
        <a:xfrm>
          <a:off x="0" y="0"/>
          <a:ext cx="0" cy="0"/>
          <a:chOff x="0" y="0"/>
          <a:chExt cx="0" cy="0"/>
        </a:xfrm>
      </p:grpSpPr>
      <p:sp>
        <p:nvSpPr>
          <p:cNvPr id="2" name="Text 0"/>
          <p:cNvSpPr/>
          <p:nvPr/>
        </p:nvSpPr>
        <p:spPr>
          <a:xfrm>
            <a:off x="457200" y="457200"/>
            <a:ext cx="8229600" cy="548640"/>
          </a:xfrm>
          <a:prstGeom prst="rect">
            <a:avLst/>
          </a:prstGeom>
          <a:noFill/>
          <a:ln/>
        </p:spPr>
        <p:txBody>
          <a:bodyPr wrap="square" rtlCol="0" anchor="ctr"/>
          <a:lstStyle/>
          <a:p>
            <a:pPr marL="0" indent="0" algn="l">
              <a:buNone/>
            </a:pPr>
            <a:r>
              <a:rPr lang="en-US" sz="4000" b="1" dirty="0">
                <a:solidFill>
                  <a:srgbClr val="FFFFFF"/>
                </a:solidFill>
                <a:latin typeface="Calibri" pitchFamily="34" charset="0"/>
                <a:ea typeface="Calibri" pitchFamily="34" charset="-122"/>
                <a:cs typeface="Calibri" pitchFamily="34" charset="-120"/>
              </a:rPr>
              <a:t>Key Takeaways</a:t>
            </a:r>
            <a:endParaRPr lang="en-US" sz="4000" dirty="0"/>
          </a:p>
        </p:txBody>
      </p:sp>
      <p:sp>
        <p:nvSpPr>
          <p:cNvPr id="3" name="Text 1"/>
          <p:cNvSpPr/>
          <p:nvPr/>
        </p:nvSpPr>
        <p:spPr>
          <a:xfrm>
            <a:off x="640080" y="1280160"/>
            <a:ext cx="7863840" cy="438912"/>
          </a:xfrm>
          <a:prstGeom prst="rect">
            <a:avLst/>
          </a:prstGeom>
          <a:noFill/>
          <a:ln/>
        </p:spPr>
        <p:txBody>
          <a:bodyPr wrap="square" rtlCol="0" anchor="ctr"/>
          <a:lstStyle/>
          <a:p>
            <a:pPr marL="0" indent="0" algn="l">
              <a:buNone/>
            </a:pPr>
            <a:r>
              <a:rPr lang="en-US" sz="1400" dirty="0">
                <a:solidFill>
                  <a:srgbClr val="FFFFFF"/>
                </a:solidFill>
                <a:latin typeface="Calibri" pitchFamily="34" charset="0"/>
                <a:ea typeface="Calibri" pitchFamily="34" charset="-122"/>
                <a:cs typeface="Calibri" pitchFamily="34" charset="-120"/>
              </a:rPr>
              <a:t>1. CLI is powerful for power users and essential for server administration</a:t>
            </a:r>
            <a:endParaRPr lang="en-US" sz="1400" dirty="0"/>
          </a:p>
        </p:txBody>
      </p:sp>
      <p:sp>
        <p:nvSpPr>
          <p:cNvPr id="4" name="Text 2"/>
          <p:cNvSpPr/>
          <p:nvPr/>
        </p:nvSpPr>
        <p:spPr>
          <a:xfrm>
            <a:off x="640080" y="1810512"/>
            <a:ext cx="7863840" cy="438912"/>
          </a:xfrm>
          <a:prstGeom prst="rect">
            <a:avLst/>
          </a:prstGeom>
          <a:noFill/>
          <a:ln/>
        </p:spPr>
        <p:txBody>
          <a:bodyPr wrap="square" rtlCol="0" anchor="ctr"/>
          <a:lstStyle/>
          <a:p>
            <a:pPr marL="0" indent="0" algn="l">
              <a:buNone/>
            </a:pPr>
            <a:r>
              <a:rPr lang="en-US" sz="1400" dirty="0">
                <a:solidFill>
                  <a:srgbClr val="FFFFFF"/>
                </a:solidFill>
                <a:latin typeface="Calibri" pitchFamily="34" charset="0"/>
                <a:ea typeface="Calibri" pitchFamily="34" charset="-122"/>
                <a:cs typeface="Calibri" pitchFamily="34" charset="-120"/>
              </a:rPr>
              <a:t>2. Master basic commands (ls, cd, grep) for Linux and (dir, cd, ipconfig) for Windows</a:t>
            </a:r>
            <a:endParaRPr lang="en-US" sz="1400" dirty="0"/>
          </a:p>
        </p:txBody>
      </p:sp>
      <p:sp>
        <p:nvSpPr>
          <p:cNvPr id="5" name="Text 3"/>
          <p:cNvSpPr/>
          <p:nvPr/>
        </p:nvSpPr>
        <p:spPr>
          <a:xfrm>
            <a:off x="640080" y="2340864"/>
            <a:ext cx="7863840" cy="438912"/>
          </a:xfrm>
          <a:prstGeom prst="rect">
            <a:avLst/>
          </a:prstGeom>
          <a:noFill/>
          <a:ln/>
        </p:spPr>
        <p:txBody>
          <a:bodyPr wrap="square" rtlCol="0" anchor="ctr"/>
          <a:lstStyle/>
          <a:p>
            <a:pPr marL="0" indent="0" algn="l">
              <a:buNone/>
            </a:pPr>
            <a:r>
              <a:rPr lang="en-US" sz="1400" dirty="0">
                <a:solidFill>
                  <a:srgbClr val="FFFFFF"/>
                </a:solidFill>
                <a:latin typeface="Calibri" pitchFamily="34" charset="0"/>
                <a:ea typeface="Calibri" pitchFamily="34" charset="-122"/>
                <a:cs typeface="Calibri" pitchFamily="34" charset="-120"/>
              </a:rPr>
              <a:t>3. Monitor processes and resources regularly to identify problems early</a:t>
            </a:r>
            <a:endParaRPr lang="en-US" sz="1400" dirty="0"/>
          </a:p>
        </p:txBody>
      </p:sp>
      <p:sp>
        <p:nvSpPr>
          <p:cNvPr id="6" name="Text 4"/>
          <p:cNvSpPr/>
          <p:nvPr/>
        </p:nvSpPr>
        <p:spPr>
          <a:xfrm>
            <a:off x="640080" y="2871216"/>
            <a:ext cx="7863840" cy="438912"/>
          </a:xfrm>
          <a:prstGeom prst="rect">
            <a:avLst/>
          </a:prstGeom>
          <a:noFill/>
          <a:ln/>
        </p:spPr>
        <p:txBody>
          <a:bodyPr wrap="square" rtlCol="0" anchor="ctr"/>
          <a:lstStyle/>
          <a:p>
            <a:pPr marL="0" indent="0" algn="l">
              <a:buNone/>
            </a:pPr>
            <a:r>
              <a:rPr lang="en-US" sz="1400" dirty="0">
                <a:solidFill>
                  <a:srgbClr val="FFFFFF"/>
                </a:solidFill>
                <a:latin typeface="Calibri" pitchFamily="34" charset="0"/>
                <a:ea typeface="Calibri" pitchFamily="34" charset="-122"/>
                <a:cs typeface="Calibri" pitchFamily="34" charset="-120"/>
              </a:rPr>
              <a:t>4. Follow systematic troubleshooting: Isolate → Reproduce → Check Logs → Research → Test</a:t>
            </a:r>
            <a:endParaRPr lang="en-US" sz="1400" dirty="0"/>
          </a:p>
        </p:txBody>
      </p:sp>
      <p:sp>
        <p:nvSpPr>
          <p:cNvPr id="7" name="Text 5"/>
          <p:cNvSpPr/>
          <p:nvPr/>
        </p:nvSpPr>
        <p:spPr>
          <a:xfrm>
            <a:off x="640080" y="3401568"/>
            <a:ext cx="7863840" cy="438912"/>
          </a:xfrm>
          <a:prstGeom prst="rect">
            <a:avLst/>
          </a:prstGeom>
          <a:noFill/>
          <a:ln/>
        </p:spPr>
        <p:txBody>
          <a:bodyPr wrap="square" rtlCol="0" anchor="ctr"/>
          <a:lstStyle/>
          <a:p>
            <a:pPr marL="0" indent="0" algn="l">
              <a:buNone/>
            </a:pPr>
            <a:r>
              <a:rPr lang="en-US" sz="1400" dirty="0">
                <a:solidFill>
                  <a:srgbClr val="FFFFFF"/>
                </a:solidFill>
                <a:latin typeface="Calibri" pitchFamily="34" charset="0"/>
                <a:ea typeface="Calibri" pitchFamily="34" charset="-122"/>
                <a:cs typeface="Calibri" pitchFamily="34" charset="-120"/>
              </a:rPr>
              <a:t>5. Always document what you did, why it happened, and how you fixed it</a:t>
            </a:r>
            <a:endParaRPr lang="en-US" sz="1400" dirty="0"/>
          </a:p>
        </p:txBody>
      </p:sp>
      <p:sp>
        <p:nvSpPr>
          <p:cNvPr id="8" name="Text 6"/>
          <p:cNvSpPr/>
          <p:nvPr/>
        </p:nvSpPr>
        <p:spPr>
          <a:xfrm>
            <a:off x="640080" y="3931920"/>
            <a:ext cx="7863840" cy="438912"/>
          </a:xfrm>
          <a:prstGeom prst="rect">
            <a:avLst/>
          </a:prstGeom>
          <a:noFill/>
          <a:ln/>
        </p:spPr>
        <p:txBody>
          <a:bodyPr wrap="square" rtlCol="0" anchor="ctr"/>
          <a:lstStyle/>
          <a:p>
            <a:pPr marL="0" indent="0" algn="l">
              <a:buNone/>
            </a:pPr>
            <a:r>
              <a:rPr lang="en-US" sz="1400" dirty="0">
                <a:solidFill>
                  <a:srgbClr val="FFFFFF"/>
                </a:solidFill>
                <a:latin typeface="Calibri" pitchFamily="34" charset="0"/>
                <a:ea typeface="Calibri" pitchFamily="34" charset="-122"/>
                <a:cs typeface="Calibri" pitchFamily="34" charset="-120"/>
              </a:rPr>
              <a:t>6. Practice hands-on! The more you use CLI and troubleshoot, the faster you'll become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128</TotalTime>
  <Words>3955</Words>
  <Application>Microsoft Office PowerPoint</Application>
  <PresentationFormat>On-screen Show (16:9)</PresentationFormat>
  <Paragraphs>455</Paragraphs>
  <Slides>29</Slides>
  <Notes>29</Notes>
  <HiddenSlides>1</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Sierra Learning</cp:lastModifiedBy>
  <cp:revision>29</cp:revision>
  <dcterms:created xsi:type="dcterms:W3CDTF">2026-08-04T10:00:47Z</dcterms:created>
  <dcterms:modified xsi:type="dcterms:W3CDTF">2026-08-24T08:29:19Z</dcterms:modified>
</cp:coreProperties>
</file>