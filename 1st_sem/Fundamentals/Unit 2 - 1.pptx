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75" r:id="rId22"/>
    <p:sldId id="276" r:id="rId23"/>
    <p:sldId id="277" r:id="rId24"/>
    <p:sldId id="278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59869" autoAdjust="0"/>
  </p:normalViewPr>
  <p:slideViewPr>
    <p:cSldViewPr snapToGrid="0" snapToObjects="1">
      <p:cViewPr varScale="1">
        <p:scale>
          <a:sx n="65" d="100"/>
          <a:sy n="65" d="100"/>
        </p:scale>
        <p:origin x="1954" y="4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58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presentation covers fundamental Operating Systems concepts for beginners. Textbook Reference: William Stallings, Computer Organization and Architecture, Pearson Education, 10th Edition, 2016.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Switch on your laptop. You open Chrome, play music, save a file.</a:t>
            </a:r>
          </a:p>
          <a:p>
            <a:r>
              <a:rPr lang="en-US" sz="1200" dirty="0"/>
              <a:t>But who is actually talking to the hardware? Who is telling the CPU, RAM, Disk what to do?</a:t>
            </a:r>
          </a:p>
          <a:p>
            <a:r>
              <a:rPr lang="en-US" sz="1200" dirty="0"/>
              <a:t>That manager is called the Operating System. Without OS, your PC is just a dead box of hardware.“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/>
          </a:p>
          <a:p>
            <a:r>
              <a:rPr lang="en-US" sz="1600" dirty="0"/>
              <a:t>Break the definition:</a:t>
            </a:r>
          </a:p>
          <a:p>
            <a:r>
              <a:rPr lang="en-US" sz="1600" dirty="0"/>
              <a:t>1. System Software = Not an app like Word. It comes first when PC starts.</a:t>
            </a:r>
          </a:p>
          <a:p>
            <a:r>
              <a:rPr lang="en-US" sz="1600" dirty="0"/>
              <a:t>2. Intermediary = You don’t talk to CPU directly. You click Chrome icon, OS talks to CPU.</a:t>
            </a:r>
          </a:p>
          <a:p>
            <a:r>
              <a:rPr lang="en-US" sz="1600" dirty="0"/>
              <a:t>3. Manages hardware resources = Decides who gets RAM, CPU time</a:t>
            </a:r>
          </a:p>
          <a:p>
            <a:r>
              <a:rPr lang="en-US" sz="1600" dirty="0"/>
              <a:t>4. User-friendly interface = Desktop, Icons, Start Menu. Without it we’d only type commands.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Primary functions :</a:t>
            </a:r>
          </a:p>
          <a:p>
            <a:r>
              <a:rPr lang="en-US" sz="1600" dirty="0"/>
              <a:t>1.</a:t>
            </a:r>
          </a:p>
          <a:p>
            <a:r>
              <a:rPr lang="en-US" sz="1600" dirty="0"/>
              <a:t>2. Process </a:t>
            </a:r>
            <a:r>
              <a:rPr lang="en-US" sz="1600" dirty="0" err="1"/>
              <a:t>Mgmt</a:t>
            </a:r>
            <a:r>
              <a:rPr lang="en-US" sz="1600" dirty="0"/>
              <a:t> : Running multiple apps</a:t>
            </a:r>
          </a:p>
          <a:p>
            <a:r>
              <a:rPr lang="en-US" sz="1600" dirty="0"/>
              <a:t>3. Memory mgmt. / RAM mgmt. : Making and giving space when required (Tells to close some apps if phone hangs)</a:t>
            </a:r>
          </a:p>
          <a:p>
            <a:r>
              <a:rPr lang="en-US" sz="1600" dirty="0"/>
              <a:t>4. </a:t>
            </a:r>
          </a:p>
          <a:p>
            <a:r>
              <a:rPr lang="en-US" sz="1600" dirty="0"/>
              <a:t>5.Device mgmt. : Talking to other devices (earphones, printer , mouse )[translator]</a:t>
            </a:r>
          </a:p>
          <a:p>
            <a:r>
              <a:rPr lang="en-US" sz="1600" dirty="0"/>
              <a:t>6.</a:t>
            </a:r>
          </a:p>
          <a:p>
            <a:r>
              <a:rPr lang="en-US" sz="1600" dirty="0"/>
              <a:t>5.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= Independent program with its own memory</a:t>
            </a:r>
          </a:p>
          <a:p>
            <a:r>
              <a:rPr lang="en-US" dirty="0"/>
              <a:t>Thread = Task inside a program that shares memory</a:t>
            </a:r>
          </a:p>
          <a:p>
            <a:r>
              <a:rPr lang="en-US" dirty="0"/>
              <a:t>Process is heavy and safe. Thread is light and fast.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open Chrome. You have 10 tabs open. YouTube is playing, Google Docs is saving, and 1 tab is frozen.</a:t>
            </a:r>
          </a:p>
          <a:p>
            <a:r>
              <a:rPr lang="en-US" dirty="0"/>
              <a:t>Question: Is that 1 program or 10 programs running?</a:t>
            </a:r>
          </a:p>
          <a:p>
            <a:r>
              <a:rPr lang="en-US" dirty="0"/>
              <a:t>Answer: It’s 1 Process with 10 Threads.  Today we’ll understand this difference - Process vs Thread.“</a:t>
            </a:r>
          </a:p>
          <a:p>
            <a:r>
              <a:rPr lang="en-US" dirty="0"/>
              <a:t>Analogy: "Process = Company. Thread = Employee inside that company.</a:t>
            </a:r>
          </a:p>
          <a:p>
            <a:pPr marL="228600" indent="-228600">
              <a:buAutoNum type="arabicPeriod"/>
            </a:pPr>
            <a:r>
              <a:rPr lang="en-US" dirty="0"/>
              <a:t>Company can have many employees working on different tasks.“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"Process = A program that is running + its own private room in RAM."  </a:t>
            </a:r>
          </a:p>
          <a:p>
            <a:pPr marL="0" indent="0">
              <a:buNone/>
            </a:pPr>
            <a:r>
              <a:rPr lang="en-US" dirty="0"/>
              <a:t>Break it down:</a:t>
            </a:r>
          </a:p>
          <a:p>
            <a:pPr marL="0" indent="0">
              <a:buNone/>
            </a:pPr>
            <a:r>
              <a:rPr lang="en-US" dirty="0"/>
              <a:t>1. Program in execution = Notepad.exe when you double-click it</a:t>
            </a:r>
          </a:p>
          <a:p>
            <a:pPr marL="0" indent="0">
              <a:buNone/>
            </a:pPr>
            <a:r>
              <a:rPr lang="en-US" dirty="0"/>
              <a:t>2. Own memory space = It has its own RAM, it can’t see other program’s data</a:t>
            </a:r>
          </a:p>
          <a:p>
            <a:pPr marL="0" indent="0">
              <a:buNone/>
            </a:pPr>
            <a:r>
              <a:rPr lang="en-US" dirty="0"/>
              <a:t>3. Isolated = If Chrome crashes, Word will still run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Thread = A task inside a program. The smallest unit CPU can execute."  </a:t>
            </a:r>
          </a:p>
          <a:p>
            <a:pPr marL="0" indent="0">
              <a:buNone/>
            </a:pPr>
            <a:r>
              <a:rPr lang="en-US" dirty="0"/>
              <a:t>Break it down:</a:t>
            </a:r>
          </a:p>
          <a:p>
            <a:pPr marL="0" indent="0">
              <a:buNone/>
            </a:pPr>
            <a:r>
              <a:rPr lang="en-US" dirty="0"/>
              <a:t>1. Within a process = Threads cannot exist alone. They live inside a Process</a:t>
            </a:r>
          </a:p>
          <a:p>
            <a:pPr marL="0" indent="0">
              <a:buNone/>
            </a:pPr>
            <a:r>
              <a:rPr lang="en-US" dirty="0"/>
              <a:t>2. Share same memory = All threads of Chrome can access same tabs data</a:t>
            </a:r>
          </a:p>
          <a:p>
            <a:pPr marL="0" indent="0">
              <a:buNone/>
            </a:pPr>
            <a:r>
              <a:rPr lang="en-US" dirty="0"/>
              <a:t>3. Separate stack, program counter = Each thread does its own work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Explain "Context Switching": Switching from Word to Chrome = Slow, because OS has to change whole memory. = Process switch</a:t>
            </a:r>
          </a:p>
          <a:p>
            <a:pPr marL="0" indent="0">
              <a:buNone/>
            </a:pPr>
            <a:r>
              <a:rPr lang="en-US" dirty="0"/>
              <a:t>Switching from YouTube tab to Docs tab in Chrome = Fast, because same memory. = Thread switch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Important Line: "A process contains at least one thread. If you kill main thread, whole process dies.“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process like a student in college. Sometimes he’s in admission office, sometimes waiting in line, sometimes in class, sometimes waiting for washroom, sometimes he graduates. OS tracks every program the same way. </a:t>
            </a:r>
          </a:p>
          <a:p>
            <a:r>
              <a:rPr lang="en-US" dirty="0"/>
              <a:t>These stages are called Process States.“</a:t>
            </a:r>
          </a:p>
          <a:p>
            <a:endParaRPr lang="en-US" dirty="0"/>
          </a:p>
          <a:p>
            <a:r>
              <a:rPr lang="en-US" dirty="0"/>
              <a:t>Analogy: </a:t>
            </a:r>
          </a:p>
          <a:p>
            <a:r>
              <a:rPr lang="en-US" dirty="0"/>
              <a:t>Process Lifecycle = Student’s day in College</a:t>
            </a:r>
          </a:p>
          <a:p>
            <a:r>
              <a:rPr lang="en-US" b="1" dirty="0"/>
              <a:t>It helps OS decide who gets CPU right now.</a:t>
            </a:r>
          </a:p>
          <a:p>
            <a:endParaRPr lang="en-US" b="1" dirty="0"/>
          </a:p>
          <a:p>
            <a:endParaRPr lang="en-US" b="1" dirty="0"/>
          </a:p>
          <a:p>
            <a:pPr marL="228600" indent="-228600">
              <a:buAutoNum type="arabicPeriod"/>
            </a:pPr>
            <a:r>
              <a:rPr lang="en-US" b="1" dirty="0"/>
              <a:t>NEW :</a:t>
            </a:r>
          </a:p>
          <a:p>
            <a:pPr marL="0" indent="0">
              <a:buNone/>
            </a:pPr>
            <a:r>
              <a:rPr lang="en-US" b="1" dirty="0"/>
              <a:t>Definition: Process has been created but not yet admitted to the ready queue</a:t>
            </a:r>
          </a:p>
          <a:p>
            <a:pPr marL="0" indent="0">
              <a:buNone/>
            </a:pPr>
            <a:r>
              <a:rPr lang="en-US" b="0" dirty="0"/>
              <a:t>Simple: "Admission form filled, but not entered in class yet"</a:t>
            </a:r>
          </a:p>
          <a:p>
            <a:endParaRPr lang="en-US" dirty="0"/>
          </a:p>
          <a:p>
            <a:r>
              <a:rPr lang="en-US" b="1" dirty="0"/>
              <a:t>2. READY :</a:t>
            </a:r>
          </a:p>
          <a:p>
            <a:r>
              <a:rPr lang="en-US" b="1" dirty="0"/>
              <a:t>Definition: </a:t>
            </a:r>
            <a:r>
              <a:rPr lang="en-US" dirty="0"/>
              <a:t>Process is waiting in queue, ready to run but not currently executing</a:t>
            </a:r>
          </a:p>
          <a:p>
            <a:r>
              <a:rPr lang="en-US" dirty="0"/>
              <a:t>Simple: "Student is sitting outside classroom, notebook ready. Just waiting for teacher to call him.“</a:t>
            </a:r>
          </a:p>
          <a:p>
            <a:endParaRPr lang="en-US" dirty="0"/>
          </a:p>
          <a:p>
            <a:r>
              <a:rPr lang="en-US" b="1" dirty="0"/>
              <a:t>3. RUNNING :</a:t>
            </a:r>
          </a:p>
          <a:p>
            <a:r>
              <a:rPr lang="en-US" b="1" dirty="0"/>
              <a:t>Definition: </a:t>
            </a:r>
            <a:r>
              <a:rPr lang="en-US" dirty="0"/>
              <a:t>Process is currently executing on the CPU</a:t>
            </a:r>
          </a:p>
          <a:p>
            <a:r>
              <a:rPr lang="en-US" dirty="0"/>
              <a:t>Simple: "Student is at the board solving sum. CPU = Teacher’s attention.“</a:t>
            </a:r>
          </a:p>
          <a:p>
            <a:endParaRPr lang="en-US" dirty="0"/>
          </a:p>
          <a:p>
            <a:r>
              <a:rPr lang="en-US" b="1" dirty="0"/>
              <a:t>4. WAITING / BLOCKED :</a:t>
            </a:r>
          </a:p>
          <a:p>
            <a:r>
              <a:rPr lang="en-US" b="1" dirty="0"/>
              <a:t>Definition: </a:t>
            </a:r>
            <a:r>
              <a:rPr lang="en-US" dirty="0"/>
              <a:t>Process is suspended, waiting for an event like I/O, user input</a:t>
            </a:r>
          </a:p>
          <a:p>
            <a:r>
              <a:rPr lang="en-US" dirty="0"/>
              <a:t>Simple: "Student raised hand and said 'Sir I need to go to washroom'. He stops work and waits.“</a:t>
            </a:r>
          </a:p>
          <a:p>
            <a:endParaRPr lang="en-US" dirty="0"/>
          </a:p>
          <a:p>
            <a:r>
              <a:rPr lang="en-US" b="1" dirty="0"/>
              <a:t>5. TERMINATED:</a:t>
            </a:r>
          </a:p>
          <a:p>
            <a:r>
              <a:rPr lang="en-US" b="1" dirty="0"/>
              <a:t>Definition</a:t>
            </a:r>
            <a:r>
              <a:rPr lang="en-US" dirty="0"/>
              <a:t>: Process has completed execution or been killed</a:t>
            </a:r>
          </a:p>
          <a:p>
            <a:r>
              <a:rPr lang="en-US" dirty="0"/>
              <a:t>Simple: "Student graduated or got rusticated."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Process Scheduling </a:t>
            </a:r>
            <a:r>
              <a:rPr lang="en-US" dirty="0"/>
              <a:t>= Deciding WHO gets CPU and WHEN</a:t>
            </a:r>
          </a:p>
          <a:p>
            <a:endParaRPr lang="en-US" dirty="0"/>
          </a:p>
          <a:p>
            <a:r>
              <a:rPr lang="en-US" dirty="0"/>
              <a:t>You have 20 apps open: Chrome, VS Code, Spotify, Game, Zoom. But you only have 1 CPU. </a:t>
            </a:r>
          </a:p>
          <a:p>
            <a:r>
              <a:rPr lang="en-US" dirty="0"/>
              <a:t>How does OS decide who gets CPU first, for how long, and in what order?</a:t>
            </a:r>
          </a:p>
          <a:p>
            <a:r>
              <a:rPr lang="en-US" dirty="0"/>
              <a:t>That decision maker is called the </a:t>
            </a:r>
            <a:r>
              <a:rPr lang="en-US" b="1" dirty="0"/>
              <a:t>Scheduler</a:t>
            </a:r>
            <a:r>
              <a:rPr lang="en-US" dirty="0"/>
              <a:t>. This is called </a:t>
            </a:r>
            <a:r>
              <a:rPr lang="en-US" b="1" dirty="0"/>
              <a:t>Process Scheduling</a:t>
            </a:r>
            <a:r>
              <a:rPr lang="en-US" dirty="0"/>
              <a:t>.“</a:t>
            </a:r>
          </a:p>
          <a:p>
            <a:endParaRPr lang="en-US" dirty="0"/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LONG-TERM SCHEDULER / Job Scheduler</a:t>
            </a:r>
          </a:p>
          <a:p>
            <a:pPr marL="457200" lvl="1" indent="0">
              <a:buNone/>
            </a:pPr>
            <a:r>
              <a:rPr lang="en-US" dirty="0"/>
              <a:t>What it does: Selects which processes to load into memory from disk</a:t>
            </a:r>
          </a:p>
          <a:p>
            <a:pPr marL="457200" lvl="1" indent="0">
              <a:buNone/>
            </a:pPr>
            <a:r>
              <a:rPr lang="en-US" dirty="0"/>
              <a:t>Simple: "Admission Officer. Decides who enters the hostel = RAM.“</a:t>
            </a:r>
          </a:p>
          <a:p>
            <a:pPr marL="228600" indent="-228600">
              <a:buAutoNum type="arabicPeriod"/>
            </a:pPr>
            <a:r>
              <a:rPr lang="en-US" dirty="0"/>
              <a:t>SHORT-TERM SCHEDULER / CPU Scheduler</a:t>
            </a:r>
          </a:p>
          <a:p>
            <a:pPr marL="0" indent="0">
              <a:buNone/>
            </a:pPr>
            <a:r>
              <a:rPr lang="en-US" dirty="0"/>
              <a:t>	What it does: Selects which ready process executes next on CPU</a:t>
            </a:r>
          </a:p>
          <a:p>
            <a:pPr marL="0" indent="0">
              <a:buNone/>
            </a:pPr>
            <a:r>
              <a:rPr lang="en-US" dirty="0"/>
              <a:t>	Simple: "Class Monitor. Every few milliseconds decides who talks now.“</a:t>
            </a:r>
          </a:p>
          <a:p>
            <a:pPr marL="0" indent="0">
              <a:buNone/>
            </a:pPr>
            <a:r>
              <a:rPr lang="en-US" dirty="0"/>
              <a:t>3. MEDIUM-TERM SCHEDULER / Swapper</a:t>
            </a:r>
          </a:p>
          <a:p>
            <a:pPr marL="0" indent="0">
              <a:buNone/>
            </a:pPr>
            <a:r>
              <a:rPr lang="en-US" dirty="0"/>
              <a:t>	What it does: Moves processes between memory and disk</a:t>
            </a:r>
          </a:p>
          <a:p>
            <a:pPr marL="0" indent="0">
              <a:buNone/>
            </a:pPr>
            <a:r>
              <a:rPr lang="en-US" dirty="0"/>
              <a:t>	Simple: "Hostel Warden. If room is full, sends some student home temporarily.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3 Schedulers</a:t>
            </a:r>
            <a:r>
              <a:rPr lang="en-US" dirty="0"/>
              <a:t>:   Long-term = RAM entry, </a:t>
            </a:r>
          </a:p>
          <a:p>
            <a:r>
              <a:rPr lang="en-US" dirty="0"/>
              <a:t>	Short-term = CPU entry, </a:t>
            </a:r>
          </a:p>
          <a:p>
            <a:r>
              <a:rPr lang="en-US" dirty="0"/>
              <a:t>	Medium-term = RAM/Disk swap</a:t>
            </a:r>
          </a:p>
          <a:p>
            <a:r>
              <a:rPr lang="en-US" b="1" dirty="0"/>
              <a:t>Main Goals: </a:t>
            </a:r>
            <a:r>
              <a:rPr lang="en-US" dirty="0"/>
              <a:t>Keep CPU busy, Make users wait less, Finish jobs faster.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robin : Everyone takes 2 min turn, then next. Like a group discussion</a:t>
            </a:r>
          </a:p>
          <a:p>
            <a:r>
              <a:rPr lang="en-US" dirty="0"/>
              <a:t>Multilevel : VIP line + normal line in movie theater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example: When you open 5 browser tabs, the OS allocates separate memory for each tab, preventing them from interfering with each other.</a:t>
            </a:r>
          </a:p>
          <a:p>
            <a:endParaRPr lang="en-US" dirty="0"/>
          </a:p>
          <a:p>
            <a:r>
              <a:rPr lang="en-US" b="1" dirty="0"/>
              <a:t>Summary: </a:t>
            </a:r>
            <a:r>
              <a:rPr lang="en-US" dirty="0"/>
              <a:t>OS divides memory into Stack, Heap, Data, Code and handles allocation, fragmentation, and security.</a:t>
            </a:r>
          </a:p>
          <a:p>
            <a:endParaRPr lang="en-US" dirty="0"/>
          </a:p>
          <a:p>
            <a:r>
              <a:rPr lang="en-US" b="1" u="sng" dirty="0"/>
              <a:t>Memory Management</a:t>
            </a:r>
          </a:p>
          <a:p>
            <a:pPr marL="0" indent="0">
              <a:buNone/>
            </a:pPr>
            <a:r>
              <a:rPr lang="en-US" b="1" dirty="0"/>
              <a:t>	Memory Management: </a:t>
            </a:r>
            <a:r>
              <a:rPr lang="en-US" dirty="0"/>
              <a:t>Giving RAM to programs, organizing it, and protecting it from misuse.</a:t>
            </a:r>
          </a:p>
          <a:p>
            <a:pPr marL="0" indent="0">
              <a:buNone/>
            </a:pPr>
            <a:r>
              <a:rPr lang="en-US" b="1" dirty="0"/>
              <a:t>Memory Organization:</a:t>
            </a:r>
          </a:p>
          <a:p>
            <a:pPr marL="228600" indent="-228600">
              <a:buAutoNum type="arabicPeriod"/>
            </a:pPr>
            <a:r>
              <a:rPr lang="en-US" b="1" dirty="0"/>
              <a:t>Stack: </a:t>
            </a:r>
            <a:r>
              <a:rPr lang="en-US" dirty="0"/>
              <a:t>Stores function calls, local variables → Works like a plate stack, LIFO.</a:t>
            </a:r>
          </a:p>
          <a:p>
            <a:pPr marL="228600" indent="-228600">
              <a:buAutoNum type="arabicPeriod"/>
            </a:pPr>
            <a:r>
              <a:rPr lang="en-US" b="1" dirty="0"/>
              <a:t>Heap: </a:t>
            </a:r>
            <a:r>
              <a:rPr lang="en-US" dirty="0"/>
              <a:t>Memory for objects that grow/shrink during program → Like flexible storage.</a:t>
            </a:r>
          </a:p>
          <a:p>
            <a:pPr marL="228600" indent="-228600">
              <a:buAutoNum type="arabicPeriod"/>
            </a:pPr>
            <a:r>
              <a:rPr lang="en-US" b="1" dirty="0"/>
              <a:t>Data Segment: </a:t>
            </a:r>
            <a:r>
              <a:rPr lang="en-US" dirty="0"/>
              <a:t>Stores global and static variables that don’t change during program.</a:t>
            </a:r>
          </a:p>
          <a:p>
            <a:pPr marL="228600" indent="-228600">
              <a:buAutoNum type="arabicPeriod"/>
            </a:pPr>
            <a:r>
              <a:rPr lang="en-US" b="1" dirty="0"/>
              <a:t>Code Segment: </a:t>
            </a:r>
            <a:r>
              <a:rPr lang="en-US" dirty="0"/>
              <a:t>Stores the program’s instructions → Read-only, cannot be changed.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Key Challenges:</a:t>
            </a:r>
          </a:p>
          <a:p>
            <a:pPr marL="228600" indent="-228600">
              <a:buAutoNum type="arabicPeriod"/>
            </a:pPr>
            <a:r>
              <a:rPr lang="en-US" b="1" dirty="0"/>
              <a:t>Fragmentation: </a:t>
            </a:r>
            <a:r>
              <a:rPr lang="en-US" dirty="0"/>
              <a:t>Free memory scattered in small pieces → space gets wasted.</a:t>
            </a:r>
          </a:p>
          <a:p>
            <a:pPr marL="228600" indent="-228600">
              <a:buAutoNum type="arabicPeriod"/>
            </a:pPr>
            <a:r>
              <a:rPr lang="en-US" b="1" dirty="0"/>
              <a:t>Allocation: </a:t>
            </a:r>
            <a:r>
              <a:rPr lang="en-US" dirty="0"/>
              <a:t>Finding free RAM blocks quickly for new programs.</a:t>
            </a:r>
          </a:p>
          <a:p>
            <a:pPr marL="228600" indent="-228600">
              <a:buAutoNum type="arabicPeriod"/>
            </a:pPr>
            <a:r>
              <a:rPr lang="en-US" b="1" dirty="0"/>
              <a:t>Protection: </a:t>
            </a:r>
            <a:r>
              <a:rPr lang="en-US" dirty="0"/>
              <a:t>Stopping one program from reading another program’s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If your computer has 8GB RAM and a program uses 12GB virtual memory, the OS swaps unused pages to disk, making it appear as if 12GB is available.</a:t>
            </a:r>
          </a:p>
          <a:p>
            <a:endParaRPr lang="en-US" dirty="0"/>
          </a:p>
          <a:p>
            <a:r>
              <a:rPr lang="en-US" b="1" dirty="0"/>
              <a:t>Virtual Memory</a:t>
            </a:r>
          </a:p>
          <a:p>
            <a:r>
              <a:rPr lang="en-US" dirty="0"/>
              <a:t>	Lets programs use more memory than actual RAM by using disk as extra space.</a:t>
            </a:r>
          </a:p>
          <a:p>
            <a:endParaRPr lang="en-US" dirty="0"/>
          </a:p>
          <a:p>
            <a:r>
              <a:rPr lang="en-US" b="1" dirty="0"/>
              <a:t>How Virtual Memory Works:</a:t>
            </a:r>
          </a:p>
          <a:p>
            <a:pPr marL="228600" indent="-228600">
              <a:buAutoNum type="arabicPeriod"/>
            </a:pPr>
            <a:r>
              <a:rPr lang="en-US" b="1" dirty="0"/>
              <a:t>Logical Address Space: </a:t>
            </a:r>
            <a:r>
              <a:rPr lang="en-US" dirty="0"/>
              <a:t>Fake addresses that programs see and use.</a:t>
            </a:r>
          </a:p>
          <a:p>
            <a:pPr marL="228600" indent="-228600">
              <a:buAutoNum type="arabicPeriod"/>
            </a:pPr>
            <a:r>
              <a:rPr lang="en-US" b="1" dirty="0"/>
              <a:t>Physical Address Space: </a:t>
            </a:r>
            <a:r>
              <a:rPr lang="en-US" dirty="0"/>
              <a:t>Real RAM locations where data is actually stored.</a:t>
            </a:r>
          </a:p>
          <a:p>
            <a:pPr marL="228600" indent="-228600">
              <a:buAutoNum type="arabicPeriod"/>
            </a:pPr>
            <a:r>
              <a:rPr lang="en-US" b="1" dirty="0"/>
              <a:t>MMU (Memory Management Unit): </a:t>
            </a:r>
            <a:r>
              <a:rPr lang="en-US" dirty="0"/>
              <a:t>Hardware that converts virtual addresses to real RAM addresses.</a:t>
            </a:r>
          </a:p>
          <a:p>
            <a:pPr marL="228600" indent="-228600">
              <a:buAutoNum type="arabicPeriod"/>
            </a:pPr>
            <a:r>
              <a:rPr lang="en-US" b="1" dirty="0"/>
              <a:t>Paging: </a:t>
            </a:r>
            <a:r>
              <a:rPr lang="en-US" dirty="0"/>
              <a:t>Breaking memory into small fixed-size blocks called pages for easy management.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Benefits:</a:t>
            </a:r>
          </a:p>
          <a:p>
            <a:pPr marL="228600" indent="-228600">
              <a:buAutoNum type="arabicPeriod"/>
            </a:pPr>
            <a:r>
              <a:rPr lang="en-US" b="1" dirty="0"/>
              <a:t>Large Programs: </a:t>
            </a:r>
            <a:r>
              <a:rPr lang="en-US" dirty="0"/>
              <a:t>Run programs bigger than RAM.</a:t>
            </a:r>
          </a:p>
          <a:p>
            <a:pPr marL="228600" indent="-228600">
              <a:buAutoNum type="arabicPeriod"/>
            </a:pPr>
            <a:r>
              <a:rPr lang="en-US" b="1" dirty="0"/>
              <a:t>Easy Management: </a:t>
            </a:r>
            <a:r>
              <a:rPr lang="en-US" dirty="0"/>
              <a:t>OS can easily allocate and free memory.</a:t>
            </a:r>
          </a:p>
          <a:p>
            <a:pPr marL="228600" indent="-228600">
              <a:buAutoNum type="arabicPeriod"/>
            </a:pPr>
            <a:r>
              <a:rPr lang="en-US" b="1" dirty="0"/>
              <a:t>Protection: </a:t>
            </a:r>
            <a:r>
              <a:rPr lang="en-US" dirty="0"/>
              <a:t>Each program gets its own memory space so they can't interfere.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Summary: </a:t>
            </a:r>
            <a:r>
              <a:rPr lang="en-US" dirty="0"/>
              <a:t>Virtual Memory = RAM + Disk. It fakes more RAM so big programs can run safely and easily.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example: In a school network, all students are in the "Students" group with limited permissions (can read files, cannot delete). Teachers are in "Teachers" group with more permissions.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A data entry clerk should have read/write access to their database only, not access to server admin tools, financial systems, or other departments' files.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Give people only the minimum power they need to do their job. Nothing extra.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1. Regular users should NOT have administrator privileges</a:t>
            </a:r>
          </a:p>
          <a:p>
            <a:r>
              <a:rPr lang="en-US" dirty="0"/>
              <a:t>	Ex: Your friend uses your laptop. Don’t give Admin password. Give Guest account only.</a:t>
            </a:r>
          </a:p>
          <a:p>
            <a:r>
              <a:rPr lang="en-US" dirty="0"/>
              <a:t>2. Temporary elevation: "</a:t>
            </a:r>
            <a:r>
              <a:rPr lang="en-US" dirty="0" err="1"/>
              <a:t>sudo</a:t>
            </a:r>
            <a:r>
              <a:rPr lang="en-US" dirty="0"/>
              <a:t>" or "Run as Administrator“</a:t>
            </a:r>
          </a:p>
          <a:p>
            <a:r>
              <a:rPr lang="en-US" dirty="0"/>
              <a:t>	Ex: In Linux you type </a:t>
            </a:r>
            <a:r>
              <a:rPr lang="en-US" dirty="0" err="1"/>
              <a:t>sudo</a:t>
            </a:r>
            <a:r>
              <a:rPr lang="en-US" dirty="0"/>
              <a:t> only when installing software. In Windows you click "Yes" in UAC popup only when needed. After that you go back to normal user.</a:t>
            </a:r>
          </a:p>
          <a:p>
            <a:r>
              <a:rPr lang="en-US" dirty="0"/>
              <a:t>3. File permissions: Read-only if no modification needed</a:t>
            </a:r>
          </a:p>
          <a:p>
            <a:r>
              <a:rPr lang="en-US" dirty="0"/>
              <a:t>	Ex: You share notes PDF with class. Give "View only" not "Edit" access. So no one can delete it.</a:t>
            </a:r>
          </a:p>
          <a:p>
            <a:r>
              <a:rPr lang="en-US" dirty="0"/>
              <a:t>4. Application permissions: Grant only needed system resources</a:t>
            </a:r>
          </a:p>
          <a:p>
            <a:r>
              <a:rPr lang="en-US" dirty="0"/>
              <a:t>	Ex: Why should a Flashlight app ask for Camera + Contacts + Location? Don’t allow it. Give only "Camera flash" 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of weak password: "Password123" (dictionary word, predictable pattern). Example of strong password: "Tr0pical$Sunset#2024!" (mixed characters, not personal info).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A sensitive salary file should have permissions -rw-r----- (600), allowing only owner to read/write, preventing others from viewing.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Access Control = "Gatekeeper of files". Decides who can Read, Write, or Run a file.</a:t>
            </a: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2. FILE PERMISSIONS IN LINUX/UNIX </a:t>
            </a:r>
          </a:p>
          <a:p>
            <a:r>
              <a:rPr lang="en-US" dirty="0"/>
              <a:t>Linux uses 3 types of permissions + 3 types of users.</a:t>
            </a:r>
          </a:p>
          <a:p>
            <a:r>
              <a:rPr lang="en-US" dirty="0"/>
              <a:t>-&gt; </a:t>
            </a:r>
            <a:r>
              <a:rPr lang="en-US" dirty="0" err="1"/>
              <a:t>Chmod</a:t>
            </a:r>
            <a:r>
              <a:rPr lang="en-US" dirty="0"/>
              <a:t> (change mode)</a:t>
            </a:r>
          </a:p>
          <a:p>
            <a:pPr marL="0" indent="0">
              <a:buNone/>
            </a:pPr>
            <a:r>
              <a:rPr lang="en-US" b="1" dirty="0"/>
              <a:t>3 Permissions:</a:t>
            </a:r>
          </a:p>
          <a:p>
            <a:pPr marL="0" indent="0">
              <a:buNone/>
            </a:pPr>
            <a:r>
              <a:rPr lang="en-US" dirty="0"/>
              <a:t>-&gt; Read r → View file.</a:t>
            </a:r>
          </a:p>
          <a:p>
            <a:pPr marL="0" indent="0">
              <a:buNone/>
            </a:pPr>
            <a:r>
              <a:rPr lang="en-US" dirty="0"/>
              <a:t> 	Ex: Open notes PDF and read</a:t>
            </a:r>
          </a:p>
          <a:p>
            <a:pPr marL="0" indent="0">
              <a:buNone/>
            </a:pPr>
            <a:r>
              <a:rPr lang="en-US" dirty="0"/>
              <a:t>-&gt; Write w → Modify file. </a:t>
            </a:r>
          </a:p>
          <a:p>
            <a:pPr marL="0" indent="0">
              <a:buNone/>
            </a:pPr>
            <a:r>
              <a:rPr lang="en-US" dirty="0"/>
              <a:t>	Ex: Edit notes and save</a:t>
            </a:r>
          </a:p>
          <a:p>
            <a:pPr marL="0" indent="0">
              <a:buNone/>
            </a:pPr>
            <a:r>
              <a:rPr lang="en-US" dirty="0"/>
              <a:t>-&gt; Execute x → Run file as program. </a:t>
            </a:r>
          </a:p>
          <a:p>
            <a:pPr marL="0" indent="0">
              <a:buNone/>
            </a:pPr>
            <a:r>
              <a:rPr lang="en-US" dirty="0"/>
              <a:t>	Ex: Double click .exe or .</a:t>
            </a:r>
            <a:r>
              <a:rPr lang="en-US" dirty="0" err="1"/>
              <a:t>sh</a:t>
            </a:r>
            <a:r>
              <a:rPr lang="en-US" dirty="0"/>
              <a:t> file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 </a:t>
            </a:r>
            <a:r>
              <a:rPr lang="en-US" b="1" dirty="0"/>
              <a:t>3 Users: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Owner → The person who created the file.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Group → Your classmates/friends group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Others → Everyone else in college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Example: </a:t>
            </a:r>
            <a:r>
              <a:rPr lang="en-US" dirty="0" err="1"/>
              <a:t>chmod</a:t>
            </a:r>
            <a:r>
              <a:rPr lang="en-US" dirty="0"/>
              <a:t> 755 file.txt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Break it: 7 5 5 = </a:t>
            </a:r>
            <a:r>
              <a:rPr lang="en-US" dirty="0" err="1"/>
              <a:t>rwx</a:t>
            </a:r>
            <a:r>
              <a:rPr lang="en-US" dirty="0"/>
              <a:t> r-x </a:t>
            </a:r>
            <a:r>
              <a:rPr lang="en-US" dirty="0" err="1"/>
              <a:t>r-x</a:t>
            </a: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Owner: </a:t>
            </a:r>
            <a:r>
              <a:rPr lang="en-US" dirty="0" err="1"/>
              <a:t>rwx</a:t>
            </a:r>
            <a:r>
              <a:rPr lang="en-US" dirty="0"/>
              <a:t> → You can Read, Write, Execute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Group: r-x → Friends can Read and Execute, but cannot Edit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Others: r-x → Others can Read and Execute, but cannot Edit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Memory Trick: 4=r, 2=w, 1=x. So 7 = 4+2+1 = rwx3.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b="1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b="1" dirty="0"/>
              <a:t> WINDOWS PERMISSIONS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b="1" dirty="0" err="1"/>
              <a:t>Icacls</a:t>
            </a:r>
            <a:r>
              <a:rPr lang="en-US" b="1" dirty="0"/>
              <a:t> -&gt; </a:t>
            </a:r>
            <a:r>
              <a:rPr lang="en-IN" dirty="0"/>
              <a:t>Integrity Control Access Control Lists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b="1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Windows is more detailed but same idea.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Common permissions: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Full Control F → Read + Write + Delete + Change permissions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Modify → Read + Write + Delete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Read &amp; Execute → Read + Run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Read → View only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Write → Create new files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Example: </a:t>
            </a:r>
            <a:r>
              <a:rPr lang="en-US" dirty="0" err="1"/>
              <a:t>icacls</a:t>
            </a:r>
            <a:r>
              <a:rPr lang="en-US" dirty="0"/>
              <a:t> file.txt /grant </a:t>
            </a:r>
            <a:r>
              <a:rPr lang="en-US" dirty="0" err="1"/>
              <a:t>User:F</a:t>
            </a: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Means: Give "User" Full Control on file.txt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r>
              <a:rPr lang="en-IN" dirty="0"/>
              <a:t>Windows  -  Permission     -  Meaning</a:t>
            </a:r>
          </a:p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 -&gt; </a:t>
            </a:r>
            <a:r>
              <a:rPr lang="en-IN" dirty="0"/>
              <a:t>Full Control -&gt; Everything</a:t>
            </a:r>
          </a:p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 -&gt; </a:t>
            </a:r>
            <a:r>
              <a:rPr lang="en-IN" dirty="0"/>
              <a:t>Modify -&gt; Read, write, modify, delete</a:t>
            </a:r>
          </a:p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RX -&gt; </a:t>
            </a:r>
            <a:r>
              <a:rPr lang="en-IN" dirty="0"/>
              <a:t>Read &amp; Execute -&gt; Read + run/execute</a:t>
            </a:r>
          </a:p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 –&gt; </a:t>
            </a:r>
            <a:r>
              <a:rPr lang="en-IN" dirty="0"/>
              <a:t>Read -&gt; Only read</a:t>
            </a:r>
          </a:p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 -&gt; </a:t>
            </a:r>
            <a:r>
              <a:rPr lang="en-IN" dirty="0"/>
              <a:t>Write -&gt; Write/modify</a:t>
            </a:r>
          </a:p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-&gt; </a:t>
            </a:r>
            <a:r>
              <a:rPr lang="en-IN" dirty="0"/>
              <a:t>Delete -&gt; Delete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b="1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IN" b="1" dirty="0"/>
              <a:t>DAC = Owner decides permissions.</a:t>
            </a:r>
            <a:endParaRPr lang="en-US" b="1" dirty="0"/>
          </a:p>
          <a:p>
            <a:r>
              <a:rPr lang="en-IN" b="1" dirty="0"/>
              <a:t>MAC — Mandatory Access Control</a:t>
            </a:r>
          </a:p>
          <a:p>
            <a:r>
              <a:rPr lang="en-IN" dirty="0"/>
              <a:t>Here, </a:t>
            </a:r>
            <a:r>
              <a:rPr lang="en-IN" b="1" dirty="0"/>
              <a:t>the owner does NOT get to freely decide permissions</a:t>
            </a:r>
            <a:r>
              <a:rPr lang="en-IN" dirty="0"/>
              <a:t>.</a:t>
            </a:r>
          </a:p>
          <a:p>
            <a:r>
              <a:rPr lang="en-IN" dirty="0"/>
              <a:t>Instead, the </a:t>
            </a:r>
            <a:r>
              <a:rPr lang="en-IN" b="1" dirty="0"/>
              <a:t>system/security policy</a:t>
            </a:r>
            <a:r>
              <a:rPr lang="en-IN" dirty="0"/>
              <a:t> decides who can access something based on </a:t>
            </a:r>
            <a:r>
              <a:rPr lang="en-IN" b="1" dirty="0"/>
              <a:t>security labels/classifications</a:t>
            </a:r>
            <a:r>
              <a:rPr lang="en-IN" dirty="0"/>
              <a:t>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Real-time example: Your computer's C: drive in Windows or / in Linux is the root of the file system. All files and folders are organized within this hierarchical structure.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File System = The Librarian of your storage device. It decides where to put files, how to find them, and how to name them.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Inodes</a:t>
            </a:r>
            <a:r>
              <a:rPr lang="en-US" dirty="0"/>
              <a:t> (index nodes) → The "Index Card" for each file</a:t>
            </a:r>
          </a:p>
          <a:p>
            <a:r>
              <a:rPr lang="en-US" dirty="0"/>
              <a:t>What’s inside: File name, size, owner, permissions, and where on disk the file is actually stored.</a:t>
            </a:r>
          </a:p>
          <a:p>
            <a:r>
              <a:rPr lang="en-US" dirty="0"/>
              <a:t>Analogy: In library, you don’t search all books. You check index card first. Index card tells: "Book is on Rack 3, Shelf 2".</a:t>
            </a:r>
          </a:p>
          <a:p>
            <a:endParaRPr lang="en-US" dirty="0"/>
          </a:p>
          <a:p>
            <a:r>
              <a:rPr lang="en-US" dirty="0"/>
              <a:t>2. Superblock → The "Library Rule Book“</a:t>
            </a:r>
          </a:p>
          <a:p>
            <a:r>
              <a:rPr lang="en-US" dirty="0"/>
              <a:t>What’s inside: Total disk size, free space, block size, how many </a:t>
            </a:r>
            <a:r>
              <a:rPr lang="en-US" dirty="0" err="1"/>
              <a:t>inodes</a:t>
            </a:r>
            <a:r>
              <a:rPr lang="en-US" dirty="0"/>
              <a:t> are free.</a:t>
            </a:r>
          </a:p>
          <a:p>
            <a:r>
              <a:rPr lang="en-US" dirty="0"/>
              <a:t>Analogy: Notice board at library entrance that says "Total books: 5000, Free racks: 20"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A 1TB hard drive might be partitioned as: </a:t>
            </a:r>
          </a:p>
          <a:p>
            <a:r>
              <a:rPr lang="en-US" dirty="0"/>
              <a:t>	C: drive (500GB) for Windows, </a:t>
            </a:r>
          </a:p>
          <a:p>
            <a:r>
              <a:rPr lang="en-US" dirty="0"/>
              <a:t>	D: drive (300GB) for applications,</a:t>
            </a:r>
          </a:p>
          <a:p>
            <a:r>
              <a:rPr lang="en-US" dirty="0"/>
              <a:t>	E: drive (200GB) for backups.</a:t>
            </a:r>
          </a:p>
          <a:p>
            <a:endParaRPr lang="en-US" dirty="0"/>
          </a:p>
          <a:p>
            <a:r>
              <a:rPr lang="en-IN" dirty="0"/>
              <a:t>A </a:t>
            </a:r>
            <a:r>
              <a:rPr lang="en-IN" b="1" dirty="0"/>
              <a:t>disk partition </a:t>
            </a:r>
            <a:r>
              <a:rPr lang="en-IN" dirty="0"/>
              <a:t>is a section created on a physical disk so that the disk can be used as separate areas.</a:t>
            </a:r>
          </a:p>
          <a:p>
            <a:endParaRPr lang="en-IN" dirty="0"/>
          </a:p>
          <a:p>
            <a:r>
              <a:rPr lang="en-IN" b="1" dirty="0"/>
              <a:t>Partition = </a:t>
            </a:r>
            <a:r>
              <a:rPr lang="en-IN" b="0" dirty="0"/>
              <a:t>a section of a physical disk.</a:t>
            </a:r>
            <a:br>
              <a:rPr lang="en-IN" dirty="0"/>
            </a:br>
            <a:r>
              <a:rPr lang="en-IN" b="1" dirty="0"/>
              <a:t>Primary = </a:t>
            </a:r>
            <a:r>
              <a:rPr lang="en-IN" b="0" dirty="0"/>
              <a:t>main partition.</a:t>
            </a:r>
            <a:br>
              <a:rPr lang="en-IN" dirty="0"/>
            </a:br>
            <a:r>
              <a:rPr lang="en-IN" b="1" dirty="0"/>
              <a:t>Extended = </a:t>
            </a:r>
            <a:r>
              <a:rPr lang="en-IN" b="0" dirty="0"/>
              <a:t>container for logical partitions (in MBR).</a:t>
            </a:r>
            <a:br>
              <a:rPr lang="en-IN" dirty="0"/>
            </a:br>
            <a:r>
              <a:rPr lang="en-IN" b="1" dirty="0"/>
              <a:t>Logical = </a:t>
            </a:r>
            <a:r>
              <a:rPr lang="en-IN" b="0" dirty="0"/>
              <a:t>partition inside extended partition.</a:t>
            </a:r>
            <a:br>
              <a:rPr lang="en-IN" dirty="0"/>
            </a:br>
            <a:r>
              <a:rPr lang="en-IN" b="1" dirty="0"/>
              <a:t>MBR = </a:t>
            </a:r>
            <a:r>
              <a:rPr lang="en-IN" b="0" dirty="0"/>
              <a:t>older partitioning scheme, ~2 TB limit and 4 primary entries.</a:t>
            </a:r>
            <a:br>
              <a:rPr lang="en-IN" dirty="0"/>
            </a:br>
            <a:r>
              <a:rPr lang="en-IN" b="1" dirty="0"/>
              <a:t>GPT = </a:t>
            </a:r>
            <a:r>
              <a:rPr lang="en-IN" b="0" dirty="0"/>
              <a:t>modern partitioning scheme, supports much larger disks and many more partitions.</a:t>
            </a:r>
          </a:p>
          <a:p>
            <a:endParaRPr lang="en-US" dirty="0"/>
          </a:p>
          <a:p>
            <a:r>
              <a:rPr lang="en-US" dirty="0"/>
              <a:t>1. Primary Partition</a:t>
            </a:r>
          </a:p>
          <a:p>
            <a:r>
              <a:rPr lang="en-US" dirty="0"/>
              <a:t>Rule: Can install OS and boot from it. Max 4 in old MBR system.</a:t>
            </a:r>
          </a:p>
          <a:p>
            <a:r>
              <a:rPr lang="en-US" dirty="0"/>
              <a:t>Example: C: Drive where Windows is installed. This is Primary.</a:t>
            </a:r>
          </a:p>
          <a:p>
            <a:r>
              <a:rPr lang="en-US" dirty="0"/>
              <a:t>2. Extended Partition</a:t>
            </a:r>
          </a:p>
          <a:p>
            <a:r>
              <a:rPr lang="en-US" dirty="0"/>
              <a:t>Rule: Cannot install OS directly. It’s just a "container" or "big room". Used to make more partitions.</a:t>
            </a:r>
          </a:p>
          <a:p>
            <a:r>
              <a:rPr lang="en-US" dirty="0"/>
              <a:t>Example: You made 1 big D: partition but want D, E, F inside it.</a:t>
            </a:r>
          </a:p>
          <a:p>
            <a:r>
              <a:rPr lang="en-US" dirty="0"/>
              <a:t>3. Logical Partition</a:t>
            </a:r>
          </a:p>
          <a:p>
            <a:r>
              <a:rPr lang="en-US" dirty="0"/>
              <a:t>Rule: The actual drives we use inside Extended partition. For data storage.</a:t>
            </a:r>
          </a:p>
          <a:p>
            <a:r>
              <a:rPr lang="en-US" dirty="0"/>
              <a:t>Example: D:, E:, F: drives inside that big container. On new GPT system, we can have unlimited.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you copy a movie from your Windows laptop to a Pen drive, and your friend’s Mac can’t read it. </a:t>
            </a:r>
          </a:p>
          <a:p>
            <a:r>
              <a:rPr lang="en-US" dirty="0"/>
              <a:t>Why? Because every OS speaks a different 'language' to store data on disk. That language is called a </a:t>
            </a:r>
            <a:r>
              <a:rPr lang="en-US" b="1" dirty="0"/>
              <a:t>File System</a:t>
            </a:r>
            <a:r>
              <a:rPr lang="en-US" dirty="0"/>
              <a:t>.“</a:t>
            </a:r>
          </a:p>
          <a:p>
            <a:endParaRPr lang="en-US" dirty="0"/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b="1" dirty="0"/>
              <a:t>FAT32: </a:t>
            </a:r>
            <a:r>
              <a:rPr lang="en-US" dirty="0"/>
              <a:t>Oldest file system, works everywhere but max file size is only 4GB. </a:t>
            </a:r>
          </a:p>
          <a:p>
            <a:pPr marL="0" indent="0">
              <a:buNone/>
            </a:pPr>
            <a:r>
              <a:rPr lang="en-US" dirty="0"/>
              <a:t>-&gt; Used in USB/Pen drives.</a:t>
            </a:r>
          </a:p>
          <a:p>
            <a:r>
              <a:rPr lang="en-US" b="1" dirty="0"/>
              <a:t>2. NTFS: </a:t>
            </a:r>
            <a:r>
              <a:rPr lang="en-US" dirty="0"/>
              <a:t>Windows default file system, supports big files, encryption, and recovery.</a:t>
            </a:r>
          </a:p>
          <a:p>
            <a:r>
              <a:rPr lang="en-US" dirty="0"/>
              <a:t>-&gt; Used in C: D: drives.</a:t>
            </a:r>
          </a:p>
          <a:p>
            <a:r>
              <a:rPr lang="en-US" b="1" dirty="0"/>
              <a:t>3. ext4: </a:t>
            </a:r>
            <a:r>
              <a:rPr lang="en-US" dirty="0"/>
              <a:t>Linux default file system, reliable, supports big files and user quotas. </a:t>
            </a:r>
          </a:p>
          <a:p>
            <a:r>
              <a:rPr lang="en-US" dirty="0"/>
              <a:t>-&gt; Used in Android + Linux servers.</a:t>
            </a:r>
          </a:p>
          <a:p>
            <a:r>
              <a:rPr lang="en-US" b="1" dirty="0"/>
              <a:t>4. HFS+: </a:t>
            </a:r>
            <a:r>
              <a:rPr lang="en-US" dirty="0"/>
              <a:t>Old Mac file system, supports big files and encryption. Now replaced.</a:t>
            </a:r>
          </a:p>
          <a:p>
            <a:r>
              <a:rPr lang="en-US" b="1" dirty="0"/>
              <a:t>5. APFS: </a:t>
            </a:r>
            <a:r>
              <a:rPr lang="en-US" dirty="0"/>
              <a:t>New Apple file system, made for SSD speed and strong security. </a:t>
            </a:r>
          </a:p>
          <a:p>
            <a:r>
              <a:rPr lang="en-US" dirty="0"/>
              <a:t>-&gt; Used in new Mac + iPhone.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98277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disk doesn't necessarily store it as one huge piece. The disk is divided into small units called </a:t>
            </a:r>
            <a:r>
              <a:rPr lang="en-IN" b="1" dirty="0"/>
              <a:t>blocks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If a file needs 3 blocks, the OS has to decide:</a:t>
            </a:r>
          </a:p>
          <a:p>
            <a:r>
              <a:rPr lang="en-IN" b="1" dirty="0"/>
              <a:t>"Which blocks should I give to this file?"</a:t>
            </a:r>
            <a:endParaRPr lang="en-IN" dirty="0"/>
          </a:p>
          <a:p>
            <a:r>
              <a:rPr lang="en-IN" dirty="0"/>
              <a:t>This is called </a:t>
            </a:r>
            <a:r>
              <a:rPr lang="en-IN" b="1" dirty="0"/>
              <a:t>disk space allocation</a:t>
            </a:r>
            <a:r>
              <a:rPr lang="en-IN" dirty="0"/>
              <a:t>.</a:t>
            </a:r>
          </a:p>
          <a:p>
            <a:endParaRPr lang="en-US" dirty="0"/>
          </a:p>
          <a:p>
            <a:r>
              <a:rPr lang="en-US" dirty="0"/>
              <a:t>1. </a:t>
            </a:r>
            <a:r>
              <a:rPr lang="en-IN" b="1" dirty="0"/>
              <a:t>Contiguous Allocation :</a:t>
            </a:r>
          </a:p>
          <a:p>
            <a:r>
              <a:rPr lang="en-IN" dirty="0"/>
              <a:t>Keep all the blocks of a file next to each other.</a:t>
            </a:r>
          </a:p>
          <a:p>
            <a:r>
              <a:rPr lang="en-IN" dirty="0"/>
              <a:t>All four blocks are </a:t>
            </a:r>
            <a:r>
              <a:rPr lang="en-IN" b="1" dirty="0"/>
              <a:t>together</a:t>
            </a:r>
            <a:r>
              <a:rPr lang="en-IN" dirty="0"/>
              <a:t>.</a:t>
            </a:r>
          </a:p>
          <a:p>
            <a:r>
              <a:rPr lang="en-IN" b="1" dirty="0"/>
              <a:t>🏨 Hotel example</a:t>
            </a:r>
          </a:p>
          <a:p>
            <a:r>
              <a:rPr lang="en-IN" dirty="0"/>
              <a:t>Imagine you need 4 rooms.</a:t>
            </a:r>
          </a:p>
          <a:p>
            <a:r>
              <a:rPr lang="en-IN" dirty="0"/>
              <a:t>Contiguous allocation says:</a:t>
            </a:r>
          </a:p>
          <a:p>
            <a:r>
              <a:rPr lang="en-IN" dirty="0"/>
              <a:t>"Give me rooms 101, 102, 103 and 104."</a:t>
            </a:r>
          </a:p>
          <a:p>
            <a:r>
              <a:rPr lang="en-IN" dirty="0"/>
              <a:t>They are next to each other.</a:t>
            </a:r>
          </a:p>
          <a:p>
            <a:endParaRPr lang="en-US" dirty="0"/>
          </a:p>
          <a:p>
            <a:r>
              <a:rPr lang="en-US" dirty="0"/>
              <a:t>2. </a:t>
            </a:r>
            <a:r>
              <a:rPr lang="en-IN" dirty="0"/>
              <a:t>File A needs 4 blocks.</a:t>
            </a:r>
          </a:p>
          <a:p>
            <a:r>
              <a:rPr lang="en-IN" dirty="0"/>
              <a:t>The OS might give: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┌────┬────┬────┬────┬────┬────┬────┐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│ A  │    │ A  │    │    │ A  │ A  │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└────┴────┴────┴────┴────┴────┴────┘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↓         ↓              ↓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B3        B6             B7</a:t>
            </a:r>
          </a:p>
          <a:p>
            <a:r>
              <a:rPr lang="en-IN" dirty="0"/>
              <a:t>Each block contains a </a:t>
            </a:r>
            <a:r>
              <a:rPr lang="en-IN" b="1" dirty="0"/>
              <a:t>pointer to the next block</a:t>
            </a:r>
            <a:r>
              <a:rPr lang="en-IN" dirty="0"/>
              <a:t>.</a:t>
            </a:r>
          </a:p>
          <a:p>
            <a:r>
              <a:rPr lang="en-IN" dirty="0"/>
              <a:t>For example: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B1 → B3 → B6 → B7 → NULL</a:t>
            </a:r>
          </a:p>
          <a:p>
            <a:r>
              <a:rPr lang="en-IN" dirty="0"/>
              <a:t>So the blocks don't need to be next to each other.</a:t>
            </a:r>
          </a:p>
          <a:p>
            <a:r>
              <a:rPr lang="en-IN" b="1" dirty="0"/>
              <a:t>🏨 Hotel example</a:t>
            </a:r>
          </a:p>
          <a:p>
            <a:r>
              <a:rPr lang="en-IN" dirty="0"/>
              <a:t>You need 4 rooms, but the hotel doesn't have 4 rooms together.</a:t>
            </a:r>
          </a:p>
          <a:p>
            <a:r>
              <a:rPr lang="en-IN" dirty="0"/>
              <a:t>So they give you: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Room 101 → Room 205 → Room 310 → Room 450</a:t>
            </a:r>
          </a:p>
          <a:p>
            <a:r>
              <a:rPr lang="en-IN" dirty="0"/>
              <a:t>And each room tells you where the </a:t>
            </a:r>
            <a:r>
              <a:rPr lang="en-IN" b="1" dirty="0"/>
              <a:t>next room</a:t>
            </a:r>
            <a:r>
              <a:rPr lang="en-IN" dirty="0"/>
              <a:t> is.</a:t>
            </a:r>
          </a:p>
          <a:p>
            <a:r>
              <a:rPr lang="en-IN" dirty="0"/>
              <a:t>To find the last block, you may need to follow: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B1 → B3 → B6 → B7</a:t>
            </a:r>
          </a:p>
          <a:p>
            <a:r>
              <a:rPr lang="en-IN" dirty="0"/>
              <a:t>So access can be slower.</a:t>
            </a:r>
          </a:p>
          <a:p>
            <a:r>
              <a:rPr lang="en-IN" dirty="0"/>
              <a:t>Also, storing pointers requires some extra space.</a:t>
            </a:r>
          </a:p>
          <a:p>
            <a:r>
              <a:rPr lang="en-IN" b="1" dirty="0"/>
              <a:t>Easy memory trick:</a:t>
            </a:r>
          </a:p>
          <a:p>
            <a:r>
              <a:rPr lang="en-IN" b="1" dirty="0"/>
              <a:t>Linked = blocks are connected by links/pointers.</a:t>
            </a:r>
            <a:endParaRPr lang="en-IN" dirty="0"/>
          </a:p>
          <a:p>
            <a:endParaRPr lang="en-US" dirty="0"/>
          </a:p>
          <a:p>
            <a:r>
              <a:rPr lang="en-IN" b="1" dirty="0"/>
              <a:t>4. Indexed Allocation</a:t>
            </a:r>
          </a:p>
          <a:p>
            <a:r>
              <a:rPr lang="en-IN" dirty="0"/>
              <a:t>This one is easier if you think of a </a:t>
            </a:r>
            <a:r>
              <a:rPr lang="en-IN" b="1" dirty="0"/>
              <a:t>directory/contact list</a:t>
            </a:r>
            <a:r>
              <a:rPr lang="en-IN" dirty="0"/>
              <a:t>.</a:t>
            </a:r>
          </a:p>
          <a:p>
            <a:r>
              <a:rPr lang="en-IN" dirty="0"/>
              <a:t>Instead of every block pointing to the next block, we create a special block called an </a:t>
            </a:r>
            <a:r>
              <a:rPr lang="en-IN" b="1" dirty="0"/>
              <a:t>index block</a:t>
            </a:r>
            <a:r>
              <a:rPr lang="en-IN" dirty="0"/>
              <a:t>.</a:t>
            </a:r>
          </a:p>
          <a:p>
            <a:r>
              <a:rPr lang="en-IN" dirty="0"/>
              <a:t>The index block stores the addresses of all the file's blocks.</a:t>
            </a:r>
          </a:p>
          <a:p>
            <a:r>
              <a:rPr lang="en-IN" dirty="0"/>
              <a:t>Example: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INDEX BLOCK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┌───────────────┐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│ B3            │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│ B6            │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│ B9            │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│ B12           │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└───────────────┘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↓  ↓  ↓  ↓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B3 B6 B9 B12</a:t>
            </a:r>
          </a:p>
          <a:p>
            <a:r>
              <a:rPr lang="en-IN" dirty="0"/>
              <a:t>The index block basically says:</a:t>
            </a:r>
          </a:p>
          <a:p>
            <a:r>
              <a:rPr lang="en-IN" dirty="0"/>
              <a:t>"File A is stored in blocks B3, B6, B9 and B12."</a:t>
            </a:r>
          </a:p>
          <a:p>
            <a:r>
              <a:rPr lang="en-IN" b="1" dirty="0"/>
              <a:t>🏨 Hotel example</a:t>
            </a:r>
          </a:p>
          <a:p>
            <a:r>
              <a:rPr lang="en-IN" dirty="0"/>
              <a:t>Instead of asking:</a:t>
            </a:r>
          </a:p>
          <a:p>
            <a:r>
              <a:rPr lang="en-IN" dirty="0"/>
              <a:t>"Where is my next room?"</a:t>
            </a:r>
          </a:p>
          <a:p>
            <a:r>
              <a:rPr lang="en-IN" dirty="0"/>
              <a:t>You have a </a:t>
            </a:r>
            <a:r>
              <a:rPr lang="en-IN" b="1" dirty="0"/>
              <a:t>receptionist's list</a:t>
            </a:r>
            <a:r>
              <a:rPr lang="en-IN" dirty="0"/>
              <a:t>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A: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Room → 101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Room → 205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Room → 310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Room → 450</a:t>
            </a:r>
          </a:p>
          <a:p>
            <a:r>
              <a:rPr lang="en-IN" dirty="0"/>
              <a:t>You can look at the list to find the rooms.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example: Ransomware attack encrypts files. If backups exist, IT restores from backup. Without backups, data is permanently lost. This is why daily backups are critical for organizations.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Backup</a:t>
            </a:r>
          </a:p>
          <a:p>
            <a:r>
              <a:rPr lang="en-US" b="1" dirty="0"/>
              <a:t>Backup: </a:t>
            </a:r>
            <a:r>
              <a:rPr lang="en-US" dirty="0"/>
              <a:t>Making extra copies of your data so if laptop crashes or gets deleted, you can recover it.</a:t>
            </a:r>
          </a:p>
          <a:p>
            <a:endParaRPr lang="en-US" dirty="0"/>
          </a:p>
          <a:p>
            <a:r>
              <a:rPr lang="en-US" b="1" dirty="0"/>
              <a:t>Backup Types:</a:t>
            </a:r>
          </a:p>
          <a:p>
            <a:pPr marL="228600" indent="-228600">
              <a:buAutoNum type="arabicPeriod"/>
            </a:pPr>
            <a:r>
              <a:rPr lang="en-US" b="1" dirty="0"/>
              <a:t>Full Backup: </a:t>
            </a:r>
            <a:r>
              <a:rPr lang="en-US" dirty="0"/>
              <a:t>Copies all data → Takes more space but fastest to restore.</a:t>
            </a:r>
          </a:p>
          <a:p>
            <a:pPr marL="228600" indent="-228600">
              <a:buAutoNum type="arabicPeriod"/>
            </a:pPr>
            <a:r>
              <a:rPr lang="en-US" b="1" dirty="0"/>
              <a:t>Incremental: </a:t>
            </a:r>
            <a:r>
              <a:rPr lang="en-US" dirty="0"/>
              <a:t>Copies only new/changed data since last backup → Fast backup but slow restore.</a:t>
            </a:r>
          </a:p>
          <a:p>
            <a:pPr marL="228600" indent="-228600">
              <a:buAutoNum type="arabicPeriod"/>
            </a:pPr>
            <a:r>
              <a:rPr lang="en-US" b="1" dirty="0"/>
              <a:t>Differential: </a:t>
            </a:r>
            <a:r>
              <a:rPr lang="en-US" dirty="0"/>
              <a:t>Copies all changes since last full backup → Medium speed for both backup and restore.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Backup Locations:</a:t>
            </a:r>
          </a:p>
          <a:p>
            <a:pPr marL="0" indent="0">
              <a:buNone/>
            </a:pPr>
            <a:r>
              <a:rPr lang="en-US" b="1" dirty="0"/>
              <a:t>1. 3-2-1 Rule: </a:t>
            </a:r>
            <a:r>
              <a:rPr lang="en-US" dirty="0"/>
              <a:t>Keep 3 copies, on 2 different devices, and 1 copy outside home/college like cloud.</a:t>
            </a:r>
          </a:p>
          <a:p>
            <a:pPr marL="0" indent="0">
              <a:buNone/>
            </a:pPr>
            <a:r>
              <a:rPr lang="en-US" b="1" dirty="0"/>
              <a:t>2. Other Locations: </a:t>
            </a:r>
            <a:r>
              <a:rPr lang="en-US" dirty="0"/>
              <a:t>Use External HDD, USB, Cloud, or Network servers.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Restore Process:</a:t>
            </a:r>
          </a:p>
          <a:p>
            <a:pPr marL="228600" indent="-228600">
              <a:buAutoNum type="arabicPeriod"/>
            </a:pPr>
            <a:r>
              <a:rPr lang="en-US" b="1" dirty="0"/>
              <a:t>Restore: </a:t>
            </a:r>
            <a:r>
              <a:rPr lang="en-US" dirty="0"/>
              <a:t>Copy data back from backup to laptop/PC.</a:t>
            </a:r>
          </a:p>
          <a:p>
            <a:pPr marL="228600" indent="-228600">
              <a:buAutoNum type="arabicPeriod"/>
            </a:pPr>
            <a:r>
              <a:rPr lang="en-US" b="1" dirty="0"/>
              <a:t>Verification: </a:t>
            </a:r>
            <a:r>
              <a:rPr lang="en-US" dirty="0"/>
              <a:t>Check if restored data is complete and not corrupted.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Summary: </a:t>
            </a:r>
          </a:p>
          <a:p>
            <a:pPr marL="0" indent="0">
              <a:buNone/>
            </a:pPr>
            <a:r>
              <a:rPr lang="en-US" dirty="0"/>
              <a:t>Backup = Insurance for data. </a:t>
            </a:r>
          </a:p>
          <a:p>
            <a:pPr marL="0" indent="0">
              <a:buNone/>
            </a:pPr>
            <a:r>
              <a:rPr lang="en-US" dirty="0"/>
              <a:t>Full=Fast restore, </a:t>
            </a:r>
          </a:p>
          <a:p>
            <a:pPr marL="0" indent="0">
              <a:buNone/>
            </a:pPr>
            <a:r>
              <a:rPr lang="en-US" dirty="0"/>
              <a:t>Incremental=Fast backup, </a:t>
            </a:r>
          </a:p>
          <a:p>
            <a:pPr marL="0" indent="0">
              <a:buNone/>
            </a:pPr>
            <a:r>
              <a:rPr lang="en-US" dirty="0"/>
              <a:t>3-2-1=Safe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A hospital must have RTO of 1 hour (quick recovery) and RPO of 15 minutes (minimal data loss). Critical systems may need continuous replication to meet these goals.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Effective Backup Strategy:</a:t>
            </a:r>
          </a:p>
          <a:p>
            <a:pPr marL="228600" indent="-228600">
              <a:buAutoNum type="arabicPeriod"/>
            </a:pPr>
            <a:r>
              <a:rPr lang="en-US" b="1" dirty="0"/>
              <a:t>Frequency: </a:t>
            </a:r>
            <a:r>
              <a:rPr lang="en-US" dirty="0"/>
              <a:t>Take backups often → Daily for important data, Weekly for personal data.</a:t>
            </a:r>
          </a:p>
          <a:p>
            <a:pPr marL="228600" indent="-228600">
              <a:buAutoNum type="arabicPeriod"/>
            </a:pPr>
            <a:r>
              <a:rPr lang="en-US" b="1" dirty="0"/>
              <a:t>Retention: </a:t>
            </a:r>
            <a:r>
              <a:rPr lang="en-US" dirty="0"/>
              <a:t>Keep old backups for some time → Ex: daily backups for 7 days, weekly for 4 weeks.</a:t>
            </a:r>
          </a:p>
          <a:p>
            <a:pPr marL="228600" indent="-228600">
              <a:buAutoNum type="arabicPeriod"/>
            </a:pPr>
            <a:r>
              <a:rPr lang="en-US" b="1" dirty="0"/>
              <a:t>Verification: </a:t>
            </a:r>
            <a:r>
              <a:rPr lang="en-US" dirty="0"/>
              <a:t>Test restoring backups sometimes → to make sure backup actually works.</a:t>
            </a:r>
          </a:p>
          <a:p>
            <a:pPr marL="228600" indent="-228600">
              <a:buAutoNum type="arabicPeriod"/>
            </a:pPr>
            <a:r>
              <a:rPr lang="en-US" b="1" dirty="0"/>
              <a:t>Encryption: </a:t>
            </a:r>
            <a:r>
              <a:rPr lang="en-US" dirty="0"/>
              <a:t>Lock backups with password → so no one else can read your data.</a:t>
            </a:r>
          </a:p>
          <a:p>
            <a:pPr marL="0" indent="0">
              <a:buNone/>
            </a:pPr>
            <a:r>
              <a:rPr lang="en-US" b="1" dirty="0"/>
              <a:t>Disaster Recovery Planning:</a:t>
            </a:r>
          </a:p>
          <a:p>
            <a:pPr marL="228600" indent="-228600">
              <a:buAutoNum type="arabicPeriod"/>
            </a:pPr>
            <a:r>
              <a:rPr lang="en-US" b="1" dirty="0"/>
              <a:t>RTO (Recovery Time Objective): </a:t>
            </a:r>
            <a:r>
              <a:rPr lang="en-US" dirty="0"/>
              <a:t>How fast you must get systems running again after crash.</a:t>
            </a:r>
          </a:p>
          <a:p>
            <a:pPr marL="228600" indent="-228600">
              <a:buAutoNum type="arabicPeriod"/>
            </a:pPr>
            <a:r>
              <a:rPr lang="en-US" b="1" dirty="0"/>
              <a:t>RPO (Recovery Point Objective): </a:t>
            </a:r>
            <a:r>
              <a:rPr lang="en-US" dirty="0"/>
              <a:t>How much data loss is okay → Ex: "losing last 1 hour data is fine".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Common Tools:</a:t>
            </a:r>
          </a:p>
          <a:p>
            <a:pPr marL="228600" indent="-228600">
              <a:buAutoNum type="arabicPeriod"/>
            </a:pPr>
            <a:r>
              <a:rPr lang="en-US" b="1" dirty="0"/>
              <a:t>Windows: </a:t>
            </a:r>
            <a:r>
              <a:rPr lang="en-US" dirty="0"/>
              <a:t>File History, System Image Backup</a:t>
            </a:r>
          </a:p>
          <a:p>
            <a:pPr marL="228600" indent="-228600">
              <a:buAutoNum type="arabicPeriod"/>
            </a:pPr>
            <a:r>
              <a:rPr lang="en-US" b="1" dirty="0"/>
              <a:t>Linux: </a:t>
            </a:r>
            <a:r>
              <a:rPr lang="en-US" dirty="0"/>
              <a:t>tar, </a:t>
            </a:r>
            <a:r>
              <a:rPr lang="en-US" dirty="0" err="1"/>
              <a:t>rsync</a:t>
            </a:r>
            <a:r>
              <a:rPr lang="en-US" dirty="0"/>
              <a:t>, dd, and scripts for auto backup</a:t>
            </a:r>
          </a:p>
          <a:p>
            <a:pPr marL="228600" indent="-228600">
              <a:buAutoNum type="arabicPeriod"/>
            </a:pPr>
            <a:r>
              <a:rPr lang="en-US" b="1" dirty="0"/>
              <a:t>Cloud: </a:t>
            </a:r>
            <a:r>
              <a:rPr lang="en-US" dirty="0"/>
              <a:t>AWS S3, Google Cloud Storage, Azure Backup1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Summary: </a:t>
            </a:r>
            <a:r>
              <a:rPr lang="en-US" dirty="0"/>
              <a:t>Backup Smart = Backup Often + Keep Versions + Test + Secure + Plan for Recovery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concludes the Operating Systems fundamentals course. Students should now have a solid understanding of core OS concepts, access control mechanisms, and file system management. Further study and practical experience with actual operating systems (Windows, Linux) is recommended.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Fundamentals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Processes, Memory Management, Access Control &amp; File Systems | For 1st Semester BCA Students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Course Foundation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OS Core Concepts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013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Processes &amp; Threads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939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Process Scheduling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865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Memory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Virtual Memory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User &amp; Access Control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644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User &amp; Groups Concepts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570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Least Privilege Principle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8496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Password Security &amp; Hygiene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42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File Systems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Disk Partitions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727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File System Types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020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Backup &amp; Restore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5F7FA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Textbook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16459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Stallings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Organization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Architecture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2651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Education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Edition, 2016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33832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provides a formal introduction to operating systems concepts essential for computer science students.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0" cy="731520"/>
          </a:xfrm>
          <a:prstGeom prst="ellipse">
            <a:avLst/>
          </a:prstGeom>
          <a:solidFill>
            <a:srgbClr val="E64A1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4630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Core Concepts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Processes, Threads, Scheduling &amp; Memory Management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Operating System?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74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(OS)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14746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software that acts as an intermediary between the user and computer hardware. It manages hardware resources and provides a user-friendly interface for executing programs.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7898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Functions: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3618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CPU, memory, disk, and I/O devices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93077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Creates, schedules, and terminates processes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67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and deallocates memory space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124311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Management: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and manages data storage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398627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Management: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peripheral devices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6642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command-line or graphical interaction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and Threads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968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11686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in execution with its own memory space, program counter, stack, and heap.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is isolated from others.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0266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2270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unit of execution within a process. Multiple threads can share the same memory space but have separate stacks and program counters.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80850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6570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Heavier, isolated memory, slower context switching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62710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Lighter, shared memory, faster context switching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979797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process contains at least one thread (main thread)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3586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Multiple threads can run concurrently within the same process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States &amp; Lifecycle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States: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has been created but not yet admitted to the ready queue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859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is waiting in queue, ready to run (not currently executing)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is currently executing on the CPU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717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(Blocked):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is suspended, waiting for an event (I/O, user input)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5019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has completed execution or been killed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8321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25501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→ Ready: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scheduler allows process to enter ready queue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64363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→ Running: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scheduler selects process from ready queue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1383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→ Ready: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 (preemption by scheduler)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33387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→ Waiting: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requests I/O or other blocking operation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6863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→ Ready: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occurs, process returns to ready queue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Concepts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458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1658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Determining which process gets CPU time and for how long. The scheduler decides the order of execution among ready processes.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145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Schedulers: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717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Scheduler: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which processes to load into memory (job scheduler)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Scheduler: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which ready process executes next (CPU scheduler)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9946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Scheduler: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processes between memory and disk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Goals: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Maximize CPU utilization (keep CPU busy)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Minimize average waiting 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5034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Minimize turnaround time (total time from submission to completion)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Scheduling Algorithms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8011" y="960120"/>
            <a:ext cx="872598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(First-Come-First-Served):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Simplest; processes execute in arrival order. Can cause long waits (convoy effect).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8011" y="1508760"/>
            <a:ext cx="872598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(Shortest Job First):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shortest jobs first. Optimal average waiting time but may starve long jobs.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8011" y="2057400"/>
            <a:ext cx="87259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gets fixed time slice (quantum). Fair and prevents starvation.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8011" y="2514600"/>
            <a:ext cx="87259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execute based on priority. Higher priority tasks run first.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8011" y="2971800"/>
            <a:ext cx="87259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Queue: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queues with different scheduling for each queue level.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Saving state of current process and loading state of next process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CPU time (typically milliseconds)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Fundamentals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Allocating and deallocating memory to processes, managing memory hierarchy (cache, RAM, disk), and protecting memory from unauthorized access.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145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Organization: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function parameters, local variables, return addresses. LIFO structure.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003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allocated memory for objects and data structures.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Segment: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global and static local variables.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Segment: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program instructions.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5839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972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memory due to non-contiguous allocation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3408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 finding free memory blocks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709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one process from accessing another's memory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 Concept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management technique allowing programs to use more memory than physically available. Unused portions are temporarily stored on disk.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81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Virtual Memory Works: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4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Address Space: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addresses used by programs (virtual)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04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Address Space: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RAM memory locations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70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Unit (MMU):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that translates virtual to physical addresses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266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memory into fixed-size pages for efficient management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753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05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Programs can be larger than physical RAM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373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Simplifies memory allocation and deallocation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759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has isolated virtual address space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0" cy="731520"/>
          </a:xfrm>
          <a:prstGeom prst="ellipse">
            <a:avLst/>
          </a:prstGeom>
          <a:solidFill>
            <a:srgbClr val="E64A1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4630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Access Basics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Groups, Least Privilege &amp; Password Security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Group Concepts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16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36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identity on a computer system with associated permissions and privileges. Each user has a username and optional password.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of users with common access permissions. Simplifies privilege management by assigning permissions to groups rather than individual users.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Administrator/Root: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 and control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941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User: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permissions, cannot install software or modify system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215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limited access, minimal privileges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520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accounts for running applications/services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916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Examples: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221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control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permissions group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Principle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3900" y="1024710"/>
            <a:ext cx="822388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principle: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should have minimum permissions necessary to perform their duties. Reduces risk of unauthorized access or accidental damage.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46501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93938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 users should NOT have administrator privileges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0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elevation: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"sudo" (Linux) or "Run as Administrator" (Windows) only when needed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8107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permissions: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if modification not required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05516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permissions: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only needed system resources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550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926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damage from compromised accounts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270827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Prevents accidental system changes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61481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Improves security auditing and accountability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Hygiene &amp; Security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39627" y="907151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Hygiene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5120" y="1115431"/>
            <a:ext cx="879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creating and maintaining secure passwords to prevent unauthorized access to accounts and systems.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16751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Password Characteristics: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923151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Minimum 12 characters (longer is better)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3085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Mix of uppercase, lowercase, numbers, and special characters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54871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based on personal information (name, birthdate, etc.)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87528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dictionary words or common phrases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127835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45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share passwords with colleagues or family members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685187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 passwords immediately if suspected compromise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915963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different passwords for different accounts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1496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password managers to securely store passwords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4239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multi-factor authentication (MFA) when available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Mechanisms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Permissions (Linux/Unix):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076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(r):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file contents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02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(w):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file contents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6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(x):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file as program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50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Group, Others: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permission levels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55520"/>
            <a:ext cx="804672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012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755 file.txt  (Owner: rwx, Group: r-x, Others: r-x)</a:t>
            </a:r>
            <a:endParaRPr lang="en-US" sz="1100" b="1" dirty="0"/>
          </a:p>
        </p:txBody>
      </p:sp>
      <p:sp>
        <p:nvSpPr>
          <p:cNvPr id="11" name="Text 9"/>
          <p:cNvSpPr/>
          <p:nvPr/>
        </p:nvSpPr>
        <p:spPr>
          <a:xfrm>
            <a:off x="548640" y="2600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Permissions: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Control, Modify, Read &amp; Execute, List Folder Contents, Read, Write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81680"/>
            <a:ext cx="804672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274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icacls file.txt /grant User:F  (Grant Full Control)</a:t>
            </a:r>
            <a:endParaRPr lang="en-US" sz="1100" b="1" dirty="0"/>
          </a:p>
        </p:txBody>
      </p:sp>
      <p:sp>
        <p:nvSpPr>
          <p:cNvPr id="15" name="Text 13"/>
          <p:cNvSpPr/>
          <p:nvPr/>
        </p:nvSpPr>
        <p:spPr>
          <a:xfrm>
            <a:off x="548640" y="3627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Models: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084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(Discretionary):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decides permissions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358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(Mandatory):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enforces permissions based on labels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0" cy="731520"/>
          </a:xfrm>
          <a:prstGeom prst="ellipse">
            <a:avLst/>
          </a:prstGeom>
          <a:solidFill>
            <a:srgbClr val="E64A1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4630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Partitions, File System Types &amp; Backup/Restore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Fundamentals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3962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05966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component that organizes, stores, retrieves, and manages files and directories on storage devices. Provides hierarchical directory structure.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55517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912717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collections of data with specific formats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73143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Directories: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for organizing files (hierarchical structure)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4335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Inodes (index nodes):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containing file metadata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75188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Superblock: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file system configuration and parameters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012315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Services: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46951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identification of files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753089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of disk space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05981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and accessing files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3665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and security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Partitions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51195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Partition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71235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division of a physical disk drive into separate sections. Each partition can have its own file system and is treated as a separate drive.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24965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Types: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98216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contain bootable OS; up to 4 per disk (MBR)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657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for logical partitions; holds additional partitions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537747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within extended partition; unlimited on GPT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809753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Schemes: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13963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 (Master Boot Record):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Legacy, supports max 2TB drives, up to 4 primary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42320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(GUID Partition Table):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supports large drives, unlimited partitions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74151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0829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Organize data logically (OS, applications, user data)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38969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Isolate file systems and improve security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68485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multiple OS installations on one disk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File System Types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779421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FAT32: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system, max file size 4GB, limits file compatibility. Used in USB drives and older systems.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249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native, supports large files, compression, encryption, journaling. Modern Windows standard.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98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ext4: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native, supports large files, journaling, quota management. Reliable and widely used.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55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HFS+: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file system, supports large files, encryption. Optimized for Apple systems.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12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APFS: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File System, modern replacement for HFS+, SSD optimized.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69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to Compare: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627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 file size support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01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Journaling (recovery after crashes)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409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Encryption support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795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Cross-platform compatibility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1A26FB-3BF7-0E50-A642-8F2AD1DD7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4767072" cy="51435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0AFB3B-7520-8911-77C3-91DC9CCA9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887" y="512064"/>
            <a:ext cx="4069425" cy="313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002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Organization &amp; Allocation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41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Space Allocation Methods: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198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Allocation: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occupies consecutive disk blocks. Fast access but causes external fragmentation.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4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Allocation: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are linked via pointers. Flexible but slower access and pointer overhead.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50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Allocation: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block contains pointers to file blocks. Balance between speed and flexibility.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5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1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Fragmentation: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space scattered, causing allocation difficulties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76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Fragmentation: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space larger than needed, wasting space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9649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Defragmentation: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3307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 of rearranging file blocks to reduce fragmentation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673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Improves disk access speed and efficiency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 Fundamentals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3962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05966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copies of files/data stored on alternative storage media to prevent data loss from hardware failure, corruption, or disaster.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56093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Types: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913293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Backup: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copy of all data. Large storage but fastest recovery.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85299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up only changes since last backup. Fast but complex recovery.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457301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up all changes since last full backup. Moderate storage/speed.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706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Locations: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16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3-2-1 Rule: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copies, on 2 different media, 1 offsite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5048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hard drives, USB drives, cloud storage, network servers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799969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Process: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257169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Recovery of data from backup to original or alternate location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633347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Verification of data integrity after restoration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Strategies &amp; Best Practices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28047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Backup Strategy: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185247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 continuous for critical systems, weekly for personal use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3410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backups for defined periods (e.g., daily for 7 days, weekly for 4 weeks)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2925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test restores to ensure backup integrity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128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backups with encryption to ensure confidentiality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079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Planning: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6610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(Recovery Time Objective):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acceptable downtime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94459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(Recovery Point Objective):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acceptable data loss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239757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546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History, System Image Backup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8879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tar, rsync, dd, automated scripts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240963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S3, Google Cloud Storage, Azure Backup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OS manages processes, memory, and resources through scheduling and allocation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Access control through users, groups, and least privilege principle ensures security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File systems organize data; partitions divide storage; multiple FS types serve different needs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Backup and recovery are critical for data protection and business continuity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Understanding these concepts is fundamental to working effectively with computers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5670</Words>
  <Application>Microsoft Office PowerPoint</Application>
  <PresentationFormat>On-screen Show (16:9)</PresentationFormat>
  <Paragraphs>626</Paragraphs>
  <Slides>24</Slides>
  <Notes>24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Sierra Learning</cp:lastModifiedBy>
  <cp:revision>128</cp:revision>
  <dcterms:created xsi:type="dcterms:W3CDTF">2026-08-04T09:53:58Z</dcterms:created>
  <dcterms:modified xsi:type="dcterms:W3CDTF">2026-08-14T04:45:49Z</dcterms:modified>
</cp:coreProperties>
</file>